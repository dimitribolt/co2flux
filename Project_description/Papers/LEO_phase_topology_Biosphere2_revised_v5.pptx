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c780f4807fd42e4" /><Relationship Type="http://schemas.openxmlformats.org/officeDocument/2006/relationships/extended-properties" Target="/docProps/app.xml" Id="R773ea85ec0924846" /><Relationship Type="http://schemas.openxmlformats.org/officeDocument/2006/relationships/officeDocument" Target="/ppt/presentation.xml" Id="Rb707693640ef4a1d" /></Relationships>
</file>

<file path=ppt/presentation.xml><?xml version="1.0" encoding="utf-8"?>
<p:presentation xmlns:p="http://schemas.openxmlformats.org/presentationml/2006/main">
  <p:sldMasterIdLst>
    <p:sldMasterId xmlns:r="http://schemas.openxmlformats.org/officeDocument/2006/relationships" id="2147483648" r:id="R2a09b00213304f86"/>
  </p:sldMasterIdLst>
  <p:notesMasterIdLst>
    <p:notesMasterId xmlns:r="http://schemas.openxmlformats.org/officeDocument/2006/relationships" r:id="Ra742cb5717ba48bf"/>
  </p:notesMasterIdLst>
  <p:sldIdLst>
    <p:sldId xmlns:r="http://schemas.openxmlformats.org/officeDocument/2006/relationships" id="256" r:id="R8969b33b587340ee"/>
    <p:sldId xmlns:r="http://schemas.openxmlformats.org/officeDocument/2006/relationships" id="257" r:id="R1a348fcc5a364569"/>
    <p:sldId xmlns:r="http://schemas.openxmlformats.org/officeDocument/2006/relationships" id="258" r:id="R2d416dc15ad74720"/>
    <p:sldId xmlns:r="http://schemas.openxmlformats.org/officeDocument/2006/relationships" id="259" r:id="R5fe25a1574844fda"/>
    <p:sldId xmlns:r="http://schemas.openxmlformats.org/officeDocument/2006/relationships" id="260" r:id="R3707cd369b8c4ba8"/>
    <p:sldId xmlns:r="http://schemas.openxmlformats.org/officeDocument/2006/relationships" id="261" r:id="R88f2d45d26864699"/>
    <p:sldId xmlns:r="http://schemas.openxmlformats.org/officeDocument/2006/relationships" id="262" r:id="R4b9d2e0486614455"/>
    <p:sldId xmlns:r="http://schemas.openxmlformats.org/officeDocument/2006/relationships" id="263" r:id="R70ef9d64d2a64cf1"/>
    <p:sldId xmlns:r="http://schemas.openxmlformats.org/officeDocument/2006/relationships" id="264" r:id="Re49f0a2c93084325"/>
    <p:sldId xmlns:r="http://schemas.openxmlformats.org/officeDocument/2006/relationships" id="265" r:id="R2534374169834e2c"/>
    <p:sldId xmlns:r="http://schemas.openxmlformats.org/officeDocument/2006/relationships" id="266" r:id="Rb50e4db5bbfc48bb"/>
    <p:sldId xmlns:r="http://schemas.openxmlformats.org/officeDocument/2006/relationships" id="267" r:id="Rc2fd200b0279413e"/>
    <p:sldId xmlns:r="http://schemas.openxmlformats.org/officeDocument/2006/relationships" id="268" r:id="R7d68d13f94204146"/>
    <p:sldId xmlns:r="http://schemas.openxmlformats.org/officeDocument/2006/relationships" id="269" r:id="R3a1e621c544c46ea"/>
    <p:sldId xmlns:r="http://schemas.openxmlformats.org/officeDocument/2006/relationships" id="270" r:id="R6f9b85aec2fa46f8"/>
    <p:sldId xmlns:r="http://schemas.openxmlformats.org/officeDocument/2006/relationships" id="271" r:id="Rd522412de96e4be9"/>
    <p:sldId xmlns:r="http://schemas.openxmlformats.org/officeDocument/2006/relationships" id="272" r:id="Rc7120a879a0c416f"/>
    <p:sldId xmlns:r="http://schemas.openxmlformats.org/officeDocument/2006/relationships" id="273" r:id="Rb64e510cdea44498"/>
    <p:sldId xmlns:r="http://schemas.openxmlformats.org/officeDocument/2006/relationships" id="274" r:id="R6faf3dc731154734"/>
    <p:sldId xmlns:r="http://schemas.openxmlformats.org/officeDocument/2006/relationships" id="275" r:id="R04bb7c8fdd4140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22c9032d9a42b8" /><Relationship Type="http://schemas.openxmlformats.org/officeDocument/2006/relationships/slideMaster" Target="/ppt/slideMasters/slideMaster1.xml" Id="R2a09b00213304f86" /><Relationship Type="http://schemas.openxmlformats.org/officeDocument/2006/relationships/notesMaster" Target="/ppt/notesMasters/notesMaster1.xml" Id="Ra742cb5717ba48bf" /><Relationship Type="http://schemas.openxmlformats.org/officeDocument/2006/relationships/presProps" Target="/ppt/presProps.xml" Id="R9d6c45ba4fc54123" /><Relationship Type="http://schemas.openxmlformats.org/officeDocument/2006/relationships/tableStyles" Target="/ppt/tableStyles.xml" Id="R8430ab142a5c4ca8" /><Relationship Type="http://schemas.openxmlformats.org/officeDocument/2006/relationships/slide" Target="/ppt/slides/slide1.xml" Id="R8969b33b587340ee" /><Relationship Type="http://schemas.openxmlformats.org/officeDocument/2006/relationships/slide" Target="/ppt/slides/slide2.xml" Id="R1a348fcc5a364569" /><Relationship Type="http://schemas.openxmlformats.org/officeDocument/2006/relationships/slide" Target="/ppt/slides/slide3.xml" Id="R2d416dc15ad74720" /><Relationship Type="http://schemas.openxmlformats.org/officeDocument/2006/relationships/slide" Target="/ppt/slides/slide4.xml" Id="R5fe25a1574844fda" /><Relationship Type="http://schemas.openxmlformats.org/officeDocument/2006/relationships/slide" Target="/ppt/slides/slide5.xml" Id="R3707cd369b8c4ba8" /><Relationship Type="http://schemas.openxmlformats.org/officeDocument/2006/relationships/slide" Target="/ppt/slides/slide6.xml" Id="R88f2d45d26864699" /><Relationship Type="http://schemas.openxmlformats.org/officeDocument/2006/relationships/slide" Target="/ppt/slides/slide7.xml" Id="R4b9d2e0486614455" /><Relationship Type="http://schemas.openxmlformats.org/officeDocument/2006/relationships/slide" Target="/ppt/slides/slide8.xml" Id="R70ef9d64d2a64cf1" /><Relationship Type="http://schemas.openxmlformats.org/officeDocument/2006/relationships/slide" Target="/ppt/slides/slide9.xml" Id="Re49f0a2c93084325" /><Relationship Type="http://schemas.openxmlformats.org/officeDocument/2006/relationships/slide" Target="/ppt/slides/slide10.xml" Id="R2534374169834e2c" /><Relationship Type="http://schemas.openxmlformats.org/officeDocument/2006/relationships/slide" Target="/ppt/slides/slide11.xml" Id="Rb50e4db5bbfc48bb" /><Relationship Type="http://schemas.openxmlformats.org/officeDocument/2006/relationships/slide" Target="/ppt/slides/slide12.xml" Id="Rc2fd200b0279413e" /><Relationship Type="http://schemas.openxmlformats.org/officeDocument/2006/relationships/slide" Target="/ppt/slides/slide13.xml" Id="R7d68d13f94204146" /><Relationship Type="http://schemas.openxmlformats.org/officeDocument/2006/relationships/slide" Target="/ppt/slides/slide14.xml" Id="R3a1e621c544c46ea" /><Relationship Type="http://schemas.openxmlformats.org/officeDocument/2006/relationships/slide" Target="/ppt/slides/slide15.xml" Id="R6f9b85aec2fa46f8" /><Relationship Type="http://schemas.openxmlformats.org/officeDocument/2006/relationships/slide" Target="/ppt/slides/slide16.xml" Id="Rd522412de96e4be9" /><Relationship Type="http://schemas.openxmlformats.org/officeDocument/2006/relationships/slide" Target="/ppt/slides/slide17.xml" Id="Rc7120a879a0c416f" /><Relationship Type="http://schemas.openxmlformats.org/officeDocument/2006/relationships/slide" Target="/ppt/slides/slide18.xml" Id="Rb64e510cdea44498" /><Relationship Type="http://schemas.openxmlformats.org/officeDocument/2006/relationships/slide" Target="/ppt/slides/slide19.xml" Id="R6faf3dc731154734" /><Relationship Type="http://schemas.openxmlformats.org/officeDocument/2006/relationships/slide" Target="/ppt/slides/slide20.xml" Id="R04bb7c8fdd4140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305ff23c294f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8a2a04003d4390" /><Relationship Type="http://schemas.openxmlformats.org/officeDocument/2006/relationships/notesMaster" Target="/ppt/notesMasters/notesMaster1.xml" Id="Rf97b62e5b57043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5b1a5558974767" /><Relationship Type="http://schemas.openxmlformats.org/officeDocument/2006/relationships/notesMaster" Target="/ppt/notesMasters/notesMaster1.xml" Id="R1a7d74c2a72347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e55e01a7894474" /><Relationship Type="http://schemas.openxmlformats.org/officeDocument/2006/relationships/notesMaster" Target="/ppt/notesMasters/notesMaster1.xml" Id="R29aa3b64b2a543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ac109b91844411" /><Relationship Type="http://schemas.openxmlformats.org/officeDocument/2006/relationships/notesMaster" Target="/ppt/notesMasters/notesMaster1.xml" Id="R80d56928b0cb42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ecec970ed04300" /><Relationship Type="http://schemas.openxmlformats.org/officeDocument/2006/relationships/notesMaster" Target="/ppt/notesMasters/notesMaster1.xml" Id="R131f075f4b2748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3e56b001f94913" /><Relationship Type="http://schemas.openxmlformats.org/officeDocument/2006/relationships/notesMaster" Target="/ppt/notesMasters/notesMaster1.xml" Id="R144fa9183acc43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29d6c28544417c" /><Relationship Type="http://schemas.openxmlformats.org/officeDocument/2006/relationships/notesMaster" Target="/ppt/notesMasters/notesMaster1.xml" Id="R543332b8a18949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75354d4b8747d4" /><Relationship Type="http://schemas.openxmlformats.org/officeDocument/2006/relationships/notesMaster" Target="/ppt/notesMasters/notesMaster1.xml" Id="Rfffb9e6caf7141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10d56aa5264942" /><Relationship Type="http://schemas.openxmlformats.org/officeDocument/2006/relationships/notesMaster" Target="/ppt/notesMasters/notesMaster1.xml" Id="R548a9e9969a44b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93a117ff7e4789" /><Relationship Type="http://schemas.openxmlformats.org/officeDocument/2006/relationships/notesMaster" Target="/ppt/notesMasters/notesMaster1.xml" Id="Rd9af88f7e5c44d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5871da39cd4545" /><Relationship Type="http://schemas.openxmlformats.org/officeDocument/2006/relationships/notesMaster" Target="/ppt/notesMasters/notesMaster1.xml" Id="Rd4d96c6212734a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2e21e49d3841f3" /><Relationship Type="http://schemas.openxmlformats.org/officeDocument/2006/relationships/notesMaster" Target="/ppt/notesMasters/notesMaster1.xml" Id="Rddf730f9cf9544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4dce4360f2420e" /><Relationship Type="http://schemas.openxmlformats.org/officeDocument/2006/relationships/notesMaster" Target="/ppt/notesMasters/notesMaster1.xml" Id="R4081e339735e46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7d413633ac453a" /><Relationship Type="http://schemas.openxmlformats.org/officeDocument/2006/relationships/notesMaster" Target="/ppt/notesMasters/notesMaster1.xml" Id="R00d21a3d88e54a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2b1bf29d4e423f" /><Relationship Type="http://schemas.openxmlformats.org/officeDocument/2006/relationships/notesMaster" Target="/ppt/notesMasters/notesMaster1.xml" Id="R11f04d9e228b45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1ba87b9e82b4dc0" /><Relationship Type="http://schemas.openxmlformats.org/officeDocument/2006/relationships/notesMaster" Target="/ppt/notesMasters/notesMaster1.xml" Id="R071f1d9c62fa44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0fb23ecd3640f3" /><Relationship Type="http://schemas.openxmlformats.org/officeDocument/2006/relationships/notesMaster" Target="/ppt/notesMasters/notesMaster1.xml" Id="R7b8939f2757e4c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beccac98264c72" /><Relationship Type="http://schemas.openxmlformats.org/officeDocument/2006/relationships/notesMaster" Target="/ppt/notesMasters/notesMaster1.xml" Id="R020ccd4158554fe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5d4471aba84c4e" /><Relationship Type="http://schemas.openxmlformats.org/officeDocument/2006/relationships/notesMaster" Target="/ppt/notesMasters/notesMaster1.xml" Id="Re8e6edc1e82245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11237eda634ac8" /><Relationship Type="http://schemas.openxmlformats.org/officeDocument/2006/relationships/notesMaster" Target="/ppt/notesMasters/notesMaster1.xml" Id="Rbbb56dd28a044d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
            </a:r>
          </a:p>
          <a:p xmlns:a="http://schemas.openxmlformats.org/drawingml/2006/main">
            <a:r>
              <a:t>The project tests whether depth-resolved CO₂ dynamics can reveal persistent reorganization of the crushed-basalt hillslope. Delay is treated as structured physical information. The analysis begins with transport physics and only then adds phase, geometry and topology. The central safeguard is independent validation: CO₂ patterns alone do not prove soil 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For administrators, the value is a decision framework rather than a single opaque index. It separates three interpretations that can look similar in raw CO₂ records: reversible moisture effects, a change in transport pathways, and persistent hydro-biogeochemical development. For scientists, the framework states which model, uncertainty estimate and independent evidence must accompany each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LEO contains three replicate landscapes. Each is 30 metres long and 11 metres wide, has an average 10-degree slope and contains a one-metre-deep profile of crushed basaltic tephra. The proposed project adds a deliberately simple CO₂ profile at selected horizontal locations: near-surface air and pore-space CO₂ near 5, 25 and 50 centimetres. These are proposed project depths, not a claim about the full published LEO sensor architecture.</a:t>
            </a:r>
          </a:p>
          <a:p xmlns:a="http://schemas.openxmlformats.org/drawingml/2006/main">
            <a:r>
              <a:t/>
            </a:r>
          </a:p>
          <a:p xmlns:a="http://schemas.openxmlformats.org/drawingml/2006/main">
            <a:r>
              <a:t>Physical meaning of the photograph: this is the real controlled hillslope. Its scale allows repeated rainfall experiments while preserving lateral and vertical heterogeneity that a laboratory column would miss.</a:t>
            </a:r>
          </a:p>
          <a:p xmlns:a="http://schemas.openxmlformats.org/drawingml/2006/main">
            <a:r>
              <a:t/>
            </a:r>
          </a:p>
          <a:p xmlns:a="http://schemas.openxmlformats.org/drawingml/2006/main">
            <a:r>
              <a:t>Sources: Biosphere 2 LEO; Pangle et al. (2015), doi:10.1016/j.geomorph.2015.01.020; Scott et al. (2020), doi:10.1038/s41597-020-00645-5. Image: Daniel Oberhaus, CC BY-SA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
            </a:r>
          </a:p>
          <a:p xmlns:a="http://schemas.openxmlformats.org/drawingml/2006/main">
            <a:r>
              <a:t>The slide separates transport, local source–sink processes and evolution. The lime text states the prediction or diagnostic pattern. A lag that grows with depth supports simple diffusion only when coherence is adequate. A violation of depth ordering can arise from a local source, changing pathway, pressure-driven displacement or poor data quality. A non-closing event path can indicate memory, incomplete recovery or drift. Each alternative appears later in the validation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a:t>
            </a:r>
          </a:p>
          <a:p xmlns:a="http://schemas.openxmlformats.org/drawingml/2006/main">
            <a:r>
              <a:t/>
            </a:r>
          </a:p>
          <a:p xmlns:a="http://schemas.openxmlformats.org/drawingml/2006/main">
            <a:r>
              <a:t>The first four rows describe the initial basalt packing and are not fitted from the CO₂ records. Rho-b is dry bulk density. Phi is total porosity. K-sat describes saturated water flow, not gas diffusion. OC-zero is initial organic carbon. The last row introduces dynamic model quantities. D-eff is the effective gas-transport coefficient. K-r is an effective first-order net removal rate. S of z and t is unresolved local production. These must be estimated by moisture state or event.</a:t>
            </a:r>
          </a:p>
          <a:p xmlns:a="http://schemas.openxmlformats.org/drawingml/2006/main">
            <a:r>
              <a:t/>
            </a:r>
          </a:p>
          <a:p xmlns:a="http://schemas.openxmlformats.org/drawingml/2006/main">
            <a:r>
              <a:t>The sensor map shows that LEO already has dense spatial infrastructure. The proposed CO₂ profile should be aligned with existing moisture, temperature, pressure and chemistry measurements wherever possible.</a:t>
            </a:r>
          </a:p>
          <a:p xmlns:a="http://schemas.openxmlformats.org/drawingml/2006/main">
            <a:r>
              <a:t/>
            </a:r>
          </a:p>
          <a:p xmlns:a="http://schemas.openxmlformats.org/drawingml/2006/main">
            <a:r>
              <a:t>Sources: Pohlmann et al. (2016), doi:10.1002/2016GC006270; Sengupta et al. (2018), IntechOpen chapter 58345.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
            </a:r>
          </a:p>
          <a:p xmlns:a="http://schemas.openxmlformats.org/drawingml/2006/main">
            <a:r>
              <a:t>The workflow is deliberately sequential. Clock offsets, gaps and calibration errors are addressed first. Events are defined before comparing them. The physical null predicts the simplest transport response. Phase enters only where coherence and uncertainty are acceptable. Geometry and topology summarize multichannel structure. Independent measurements and surrogate data decide whether the interpretation survives. The stop rule is important for governance: the project can still report a useful method or null result even if it cannot support a soil-development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The curves use the harmonic diffusion scenario in the source document. The deeper signals are smaller and later. Their delay becomes a phase difference at the 24-hour time scale. Phase is useful because the same idea extends to changing event time scales through wavelets. It is not accepted when coherence is low. The shown values are model outputs, not LEO measurements.</a:t>
            </a:r>
          </a:p>
          <a:p xmlns:a="http://schemas.openxmlformats.org/drawingml/2006/main">
            <a:r>
              <a:t/>
            </a:r>
          </a:p>
          <a:p xmlns:a="http://schemas.openxmlformats.org/drawingml/2006/main">
            <a:r>
              <a:t>Illustrative parameters: 24-hour period and D-eff equal to 2 times 10 to the minus 6 square metres per second. The corresponding delays at 5, 25 and 50 centimetres are approximately 0.81, 4.07 and 8.14 hours. The source document reports Mathematica checks of these calculations.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
            </a:r>
          </a:p>
          <a:p xmlns:a="http://schemas.openxmlformats.org/drawingml/2006/main">
            <a:r>
              <a:t>This simplified equation is the presentation-level null model. The full source document gives the dimensional balance in air-filled pores and includes advection, biological production, weathering and dissolution explicitly. Here D-eff compresses molecular diffusion, air-filled porosity, tortuosity and unresolved boundary resistance into one fitted coefficient. K-r summarizes net first-order removal without identifying a unique mechanism. S represents local production not explained by the simple boundary response. Omega is angular frequency. Delta-phi is the unwrapped phase difference and tau is its equivalent delay. A residual is the observation minus the fitted model prediction.</a:t>
            </a:r>
          </a:p>
          <a:p xmlns:a="http://schemas.openxmlformats.org/drawingml/2006/main">
            <a:r>
              <a:t/>
            </a:r>
          </a:p>
          <a:p xmlns:a="http://schemas.openxmlformats.org/drawingml/2006/main">
            <a:r>
              <a:t>Important limitation: concentrations reported in ppm must be converted consistently before a dimensional mass balance. D-eff should be estimated separately for different moisture states.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The cross-spectrum compares two Fourier components and uses an averaged complex product. Averaging over segments, events or a local time-frequency neighbourhood prevents the trivial coherence of single unaveraged periodograms. Coherence is normalized between zero and one and acts as the gatekeeper. Wavelets follow nonstationary phase during rainfall. The analytic signal uses the Hilbert transform after narrow-band filtering. Phase must remain undefined where amplitude or coherence is inadequate. Converting phase to delay also requires a continuous, correctly unwrapped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The event state vector combines CO₂ concentrations, accepted phase differences, volumetric water content, temperature and selected covariates. Variables require a fixed scaling rule so units do not define the geometry. The left sketch shows an approximately closed trajectory and supports a reversible interpretation. The centre sketch ends away from the start and indicates residual memory, incomplete recovery or drift. The right sketch shows distinct paths under similar forcing and suggests multiple regimes. The drawings are conceptual. Temporal order and matched environmental conditions are required for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A node represents a sensor channel at a location and depth. An arrow points from the leading channel to the lagging channel at a selected time scale. An edge is retained only if the sensors are physically plausible neighbours, coherence passes a prespecified threshold and the lag sign is stable under bootstrap resampling. A possible edge weight combines coherence with a penalty for long delay. The dashed lateral edge illustrates a relationship that requires particular scrutiny because common atmospheric forcing can synchronize distant sensors without direct transport.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a:t>
            </a:r>
          </a:p>
          <a:p xmlns:a="http://schemas.openxmlformats.org/drawingml/2006/main">
            <a:r>
              <a:t/>
            </a:r>
          </a:p>
          <a:p xmlns:a="http://schemas.openxmlformats.org/drawingml/2006/main">
            <a:r>
              <a:t>The unfolding starts with a regularly sampled scalar sequence. A window of length n forms overlapping vectors X-k in R to the n. Consecutive vectors share n minus one observations, so the curve preserves temporal order and local history. Eigenvalues of the scatter matrix describe spread along orthogonal directions. Effective rank summarizes dimensionality. The q-width is normalized residual spread outside the best q-dimensional subspace. The L-approximation reconstructs a time series so preservation of physical lags and phases can be tested directly.</a:t>
            </a:r>
          </a:p>
          <a:p xmlns:a="http://schemas.openxmlformats.org/drawingml/2006/main">
            <a:r>
              <a:t/>
            </a:r>
          </a:p>
          <a:p xmlns:a="http://schemas.openxmlformats.org/drawingml/2006/main">
            <a:r>
              <a:t>Sources: Buchstaber (1997) and Buchstaber (2025), doi:10.4213/sm10240e.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
            </a:r>
          </a:p>
          <a:p xmlns:a="http://schemas.openxmlformats.org/drawingml/2006/main">
            <a:r>
              <a:t>H-zero counts connected components. In a spatial superlevel filtration, components may correspond to separated CO₂-rich domains. H-one detects loop-like geometry. In a temporal point cloud, an H-one feature can be consistent with a cyclic response or hysteresis, but the point cloud itself discards time order. Persistence records the range of thresholds over which each feature survives. Short-lived features may reflect noise. Long-lived features still require sensitivity tests because dimension reduction, interpolation and sampling density can create or remove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a:t>
            </a:r>
          </a:p>
          <a:p xmlns:a="http://schemas.openxmlformats.org/drawingml/2006/main">
            <a:r>
              <a:t/>
            </a:r>
          </a:p>
          <a:p xmlns:a="http://schemas.openxmlformats.org/drawingml/2006/main">
            <a:r>
              <a:t>The fingerprint is a structured record, not an unexplained composite index. Tau denotes equivalent delay. Gamma-squared denotes coherence. D-eff is the fitted effective transport coefficient. The phase graph stores accepted directed relationships. Unfolding contributes effective rank, q-width and optional subspace distance between events. Event geometry contributes closure error and a loop or geometric-phase measure. Persistent topology contributes H-zero and H-one intervals. Every estimate travels with uncertainty, quality flags and a null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
            </a:r>
          </a:p>
          <a:p xmlns:a="http://schemas.openxmlformats.org/drawingml/2006/main">
            <a:r>
              <a:t>Each row moves from claim to baseline, null test, independent check and pass rule. Transport requires physically plausible and reproducible D-eff. The phase network must exceed simple depth ordering and phase-randomized surrogates. Topology must add information beyond variance, gradients and spatial correlation and remain stable to interpolation. A soil-development interpretation requires matched dry states, drift controls, at least two independent evidence classes and replication across positions or landscapes. ERT means electrical resistivity tomography. Independent evidence can include hydrology, solution chemistry, mineralogy, pore structure or biological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a:t>
            </a:r>
          </a:p>
          <a:p xmlns:a="http://schemas.openxmlformats.org/drawingml/2006/main">
            <a:r>
              <a:t/>
            </a:r>
          </a:p>
          <a:p xmlns:a="http://schemas.openxmlformats.org/drawingml/2006/main">
            <a:r>
              <a:t>This is a planning sequence, not a fixed operational commitment. The first review identifies which measurements already exist and where new CO₂ channels add information. A limited event pilot then tests synchronization, calibration, coherence and model identifiability. The decision review determines whether broader spatial coverage is justified. Duration, sensor count and budget are intentionally left for joint design with the LEO team because the supplied materials do not establish those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0:55</a:t>
            </a:r>
          </a:p>
          <a:p xmlns:a="http://schemas.openxmlformats.org/drawingml/2006/main">
            <a:r>
              <a:t/>
            </a:r>
          </a:p>
          <a:p xmlns:a="http://schemas.openxmlformats.org/drawingml/2006/main">
            <a:r>
              <a:t>The framework produces useful infrastructure even if topology adds no predictive value or if independent evidence does not support soil development. A quality-controlled event catalog and fitted transport baseline improve interpretation of future experiments. The evidence boundary also protects Biosphere 2 from overclaiming: the strongest wording is reserved for convergence across independent measurements and replicates.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
            </a:r>
          </a:p>
          <a:p xmlns:a="http://schemas.openxmlformats.org/drawingml/2006/main">
            <a:r>
              <a:t>The proposed outcome is a testable indicator, not a score declared in advance. The physical model explains expected delay and attenuation. Phase methods identify reliable propagation. Event geometry measures reversibility and memory. Unfolding and persistent topology summarize organization. Independent measurements determine whether persistent changes can reasonably be interpreted as landscape development. The immediate decision is to review data availability and jointly define a limited feasibility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Use it during questions to keep mathematical notation accessible to mixed audiences. The definitions follow the supplied phase_topology_CO2_LEO text. The glossary is intentionally compact; the source document contains full dimensional conventions and mathematical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The deck relies on the sources and calculations supplied with the project materials. URLs and full citations also appear in relevant speaker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b03c01e69c45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001a7f36f54909" /><Relationship Type="http://schemas.openxmlformats.org/officeDocument/2006/relationships/slideLayout" Target="/ppt/slideLayouts/slideLayout1.xml" Id="Rc55d97fb6e3f44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5d97fb6e3f44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6a4a6d02f7475d" /><Relationship Type="http://schemas.openxmlformats.org/officeDocument/2006/relationships/notesSlide" Target="/ppt/notesSlides/notesSlide1.xml" Id="Rb6105da9e9f842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60bd79b0154783" /><Relationship Type="http://schemas.openxmlformats.org/officeDocument/2006/relationships/notesSlide" Target="/ppt/notesSlides/notesSlide2.xml" Id="R9aec2e2953fd43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9d7f11045540bc" /><Relationship Type="http://schemas.openxmlformats.org/officeDocument/2006/relationships/image" Target="/ppt/media/image.jpeg" Id="Ra8b3aabdb51d45d3" /><Relationship Type="http://schemas.openxmlformats.org/officeDocument/2006/relationships/notesSlide" Target="/ppt/notesSlides/notesSlide3.xml" Id="R202bb27adbf849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053329246f4dea" /><Relationship Type="http://schemas.openxmlformats.org/officeDocument/2006/relationships/notesSlide" Target="/ppt/notesSlides/notesSlide4.xml" Id="Ra8d33cbc56324b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ac77c5f3184245" /><Relationship Type="http://schemas.openxmlformats.org/officeDocument/2006/relationships/image" Target="/ppt/media/image.png" Id="Re9cdbefd29154e14" /><Relationship Type="http://schemas.openxmlformats.org/officeDocument/2006/relationships/notesSlide" Target="/ppt/notesSlides/notesSlide5.xml" Id="R19c0872679b440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0863b839654ed9" /><Relationship Type="http://schemas.openxmlformats.org/officeDocument/2006/relationships/notesSlide" Target="/ppt/notesSlides/notesSlide6.xml" Id="Rab49e16b2f4b4e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431341dab7458a" /><Relationship Type="http://schemas.openxmlformats.org/officeDocument/2006/relationships/chart" Target="/ppt/slides/charts/chart1.xml" Id="R3c7ea9e463db448e" /><Relationship Type="http://schemas.openxmlformats.org/officeDocument/2006/relationships/notesSlide" Target="/ppt/notesSlides/notesSlide7.xml" Id="R707240a2b76d43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50cf8e8bd44872" /><Relationship Type="http://schemas.openxmlformats.org/officeDocument/2006/relationships/notesSlide" Target="/ppt/notesSlides/notesSlide8.xml" Id="Rf3f282be714645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4f4514c78a4328" /><Relationship Type="http://schemas.openxmlformats.org/officeDocument/2006/relationships/notesSlide" Target="/ppt/notesSlides/notesSlide9.xml" Id="Raa4cf7c3c2924d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4ef39b628d42dd" /><Relationship Type="http://schemas.openxmlformats.org/officeDocument/2006/relationships/notesSlide" Target="/ppt/notesSlides/notesSlide10.xml" Id="Ra8843c6b60e641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82f08254164f77" /><Relationship Type="http://schemas.openxmlformats.org/officeDocument/2006/relationships/notesSlide" Target="/ppt/notesSlides/notesSlide11.xml" Id="R8d8d4338930c41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e31be8c09ce4e00" /><Relationship Type="http://schemas.openxmlformats.org/officeDocument/2006/relationships/notesSlide" Target="/ppt/notesSlides/notesSlide12.xml" Id="R2e82b7c54dfb4a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076f5eb10014a80" /><Relationship Type="http://schemas.openxmlformats.org/officeDocument/2006/relationships/notesSlide" Target="/ppt/notesSlides/notesSlide13.xml" Id="R2bfacaacb0364d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c36e013404e4860" /><Relationship Type="http://schemas.openxmlformats.org/officeDocument/2006/relationships/notesSlide" Target="/ppt/notesSlides/notesSlide14.xml" Id="R669946f45f7d46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73f63ef76c4349" /><Relationship Type="http://schemas.openxmlformats.org/officeDocument/2006/relationships/notesSlide" Target="/ppt/notesSlides/notesSlide15.xml" Id="R9a651785aa0a49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78f3985b81f49ee" /><Relationship Type="http://schemas.openxmlformats.org/officeDocument/2006/relationships/notesSlide" Target="/ppt/notesSlides/notesSlide16.xml" Id="Rde1683d2a87e4a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981a0be27a2442b" /><Relationship Type="http://schemas.openxmlformats.org/officeDocument/2006/relationships/notesSlide" Target="/ppt/notesSlides/notesSlide17.xml" Id="R0ee18d9c9b7a4d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076d621699c4704" /><Relationship Type="http://schemas.openxmlformats.org/officeDocument/2006/relationships/notesSlide" Target="/ppt/notesSlides/notesSlide18.xml" Id="R3ad2261cbbf244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c47802eedf94835" /><Relationship Type="http://schemas.openxmlformats.org/officeDocument/2006/relationships/notesSlide" Target="/ppt/notesSlides/notesSlide19.xml" Id="Rc408cfb9f12f4d2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332be97ef1c4205" /><Relationship Type="http://schemas.openxmlformats.org/officeDocument/2006/relationships/notesSlide" Target="/ppt/notesSlides/notesSlide20.xml" Id="R440709a8f0e14ab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Air</c:v>
          </c:tx>
          <c:spPr>
            <a:ln xmlns:a="http://schemas.openxmlformats.org/drawingml/2006/main" w="38100">
              <a:solidFill>
                <a:srgbClr val="F7FBF8"/>
              </a:solidFill>
              <a:prstDash val="solid"/>
            </a:ln>
          </c:spPr>
          <c:marker>
            <c:symbol val="none"/>
          </c:marker>
          <c:cat>
            <c:numRef>
              <c:f>'Chart Data'!$A$2:$A$14</c:f>
              <c:numCache>
                <c:formatCode>General</c:formatCode>
                <c:ptCount val="13"/>
                <c:pt idx="0">
                  <c:v>0</c:v>
                </c:pt>
                <c:pt idx="1">
                  <c:v>2</c:v>
                </c:pt>
                <c:pt idx="2">
                  <c:v>4</c:v>
                </c:pt>
                <c:pt idx="3">
                  <c:v>6</c:v>
                </c:pt>
                <c:pt idx="4">
                  <c:v>8</c:v>
                </c:pt>
                <c:pt idx="5">
                  <c:v>10</c:v>
                </c:pt>
                <c:pt idx="6">
                  <c:v>12</c:v>
                </c:pt>
                <c:pt idx="7">
                  <c:v>14</c:v>
                </c:pt>
                <c:pt idx="8">
                  <c:v>16</c:v>
                </c:pt>
                <c:pt idx="9">
                  <c:v>18</c:v>
                </c:pt>
                <c:pt idx="10">
                  <c:v>20</c:v>
                </c:pt>
                <c:pt idx="11">
                  <c:v>22</c:v>
                </c:pt>
                <c:pt idx="12">
                  <c:v>24</c:v>
                </c:pt>
              </c:numCache>
            </c:numRef>
          </c:cat>
          <c:val>
            <c:numRef>
              <c:f>'Chart Data'!$B$2:$B$14</c:f>
              <c:numCache>
                <c:formatCode>General</c:formatCode>
                <c:ptCount val="13"/>
                <c:pt idx="0">
                  <c:v>500</c:v>
                </c:pt>
                <c:pt idx="1">
                  <c:v>535</c:v>
                </c:pt>
                <c:pt idx="2">
                  <c:v>560.622</c:v>
                </c:pt>
                <c:pt idx="3">
                  <c:v>570</c:v>
                </c:pt>
                <c:pt idx="4">
                  <c:v>560.622</c:v>
                </c:pt>
                <c:pt idx="5">
                  <c:v>535</c:v>
                </c:pt>
                <c:pt idx="6">
                  <c:v>500</c:v>
                </c:pt>
                <c:pt idx="7">
                  <c:v>465</c:v>
                </c:pt>
                <c:pt idx="8">
                  <c:v>439.378</c:v>
                </c:pt>
                <c:pt idx="9">
                  <c:v>430</c:v>
                </c:pt>
                <c:pt idx="10">
                  <c:v>439.378</c:v>
                </c:pt>
                <c:pt idx="11">
                  <c:v>465</c:v>
                </c:pt>
                <c:pt idx="12">
                  <c:v>500</c:v>
                </c:pt>
              </c:numCache>
            </c:numRef>
          </c:val>
        </c:ser>
        <c:ser>
          <c:idx val="1"/>
          <c:order val="1"/>
          <c:tx>
            <c:v>5 cm</c:v>
          </c:tx>
          <c:spPr>
            <a:ln xmlns:a="http://schemas.openxmlformats.org/drawingml/2006/main" w="28575">
              <a:solidFill>
                <a:srgbClr val="B7F23A"/>
              </a:solidFill>
              <a:prstDash val="solid"/>
            </a:ln>
          </c:spPr>
          <c:marker>
            <c:symbol val="none"/>
          </c:marker>
          <c:cat>
            <c:numRef>
              <c:f>'Chart Data'!$C$2:$C$14</c:f>
              <c:numCache>
                <c:formatCode>General</c:formatCode>
                <c:ptCount val="13"/>
                <c:pt idx="0">
                  <c:v>0</c:v>
                </c:pt>
                <c:pt idx="1">
                  <c:v>2</c:v>
                </c:pt>
                <c:pt idx="2">
                  <c:v>4</c:v>
                </c:pt>
                <c:pt idx="3">
                  <c:v>6</c:v>
                </c:pt>
                <c:pt idx="4">
                  <c:v>8</c:v>
                </c:pt>
                <c:pt idx="5">
                  <c:v>10</c:v>
                </c:pt>
                <c:pt idx="6">
                  <c:v>12</c:v>
                </c:pt>
                <c:pt idx="7">
                  <c:v>14</c:v>
                </c:pt>
                <c:pt idx="8">
                  <c:v>16</c:v>
                </c:pt>
                <c:pt idx="9">
                  <c:v>18</c:v>
                </c:pt>
                <c:pt idx="10">
                  <c:v>20</c:v>
                </c:pt>
                <c:pt idx="11">
                  <c:v>22</c:v>
                </c:pt>
                <c:pt idx="12">
                  <c:v>24</c:v>
                </c:pt>
              </c:numCache>
            </c:numRef>
          </c:cat>
          <c:val>
            <c:numRef>
              <c:f>'Chart Data'!$D$2:$D$14</c:f>
              <c:numCache>
                <c:formatCode>General</c:formatCode>
                <c:ptCount val="13"/>
                <c:pt idx="0">
                  <c:v>486.951</c:v>
                </c:pt>
                <c:pt idx="1">
                  <c:v>519.005</c:v>
                </c:pt>
                <c:pt idx="2">
                  <c:v>545.966</c:v>
                </c:pt>
                <c:pt idx="3">
                  <c:v>560.611</c:v>
                </c:pt>
                <c:pt idx="4">
                  <c:v>559.015</c:v>
                </c:pt>
                <c:pt idx="5">
                  <c:v>541.607</c:v>
                </c:pt>
                <c:pt idx="6">
                  <c:v>513.049</c:v>
                </c:pt>
                <c:pt idx="7">
                  <c:v>480.995</c:v>
                </c:pt>
                <c:pt idx="8">
                  <c:v>454.034</c:v>
                </c:pt>
                <c:pt idx="9">
                  <c:v>439.389</c:v>
                </c:pt>
                <c:pt idx="10">
                  <c:v>440.985</c:v>
                </c:pt>
                <c:pt idx="11">
                  <c:v>458.393</c:v>
                </c:pt>
                <c:pt idx="12">
                  <c:v>486.951</c:v>
                </c:pt>
              </c:numCache>
            </c:numRef>
          </c:val>
        </c:ser>
        <c:ser>
          <c:idx val="2"/>
          <c:order val="2"/>
          <c:tx>
            <c:v>25 cm</c:v>
          </c:tx>
          <c:spPr>
            <a:ln xmlns:a="http://schemas.openxmlformats.org/drawingml/2006/main" w="28575">
              <a:solidFill>
                <a:srgbClr val="68D7B3"/>
              </a:solidFill>
              <a:prstDash val="solid"/>
            </a:ln>
          </c:spPr>
          <c:marker>
            <c:symbol val="none"/>
          </c:marker>
          <c:cat>
            <c:numRef>
              <c:f>'Chart Data'!$E$2:$E$14</c:f>
              <c:numCache>
                <c:formatCode>General</c:formatCode>
                <c:ptCount val="13"/>
                <c:pt idx="0">
                  <c:v>0</c:v>
                </c:pt>
                <c:pt idx="1">
                  <c:v>2</c:v>
                </c:pt>
                <c:pt idx="2">
                  <c:v>4</c:v>
                </c:pt>
                <c:pt idx="3">
                  <c:v>6</c:v>
                </c:pt>
                <c:pt idx="4">
                  <c:v>8</c:v>
                </c:pt>
                <c:pt idx="5">
                  <c:v>10</c:v>
                </c:pt>
                <c:pt idx="6">
                  <c:v>12</c:v>
                </c:pt>
                <c:pt idx="7">
                  <c:v>14</c:v>
                </c:pt>
                <c:pt idx="8">
                  <c:v>16</c:v>
                </c:pt>
                <c:pt idx="9">
                  <c:v>18</c:v>
                </c:pt>
                <c:pt idx="10">
                  <c:v>20</c:v>
                </c:pt>
                <c:pt idx="11">
                  <c:v>22</c:v>
                </c:pt>
                <c:pt idx="12">
                  <c:v>24</c:v>
                </c:pt>
              </c:numCache>
            </c:numRef>
          </c:cat>
          <c:val>
            <c:numRef>
              <c:f>'Chart Data'!$F$2:$F$14</c:f>
              <c:numCache>
                <c:formatCode>General</c:formatCode>
                <c:ptCount val="13"/>
                <c:pt idx="0">
                  <c:v>464.998</c:v>
                </c:pt>
                <c:pt idx="1">
                  <c:v>479.369</c:v>
                </c:pt>
                <c:pt idx="2">
                  <c:v>499.267</c:v>
                </c:pt>
                <c:pt idx="3">
                  <c:v>519.362</c:v>
                </c:pt>
                <c:pt idx="4">
                  <c:v>534.269</c:v>
                </c:pt>
                <c:pt idx="5">
                  <c:v>539.993</c:v>
                </c:pt>
                <c:pt idx="6">
                  <c:v>535.002</c:v>
                </c:pt>
                <c:pt idx="7">
                  <c:v>520.631</c:v>
                </c:pt>
                <c:pt idx="8">
                  <c:v>500.733</c:v>
                </c:pt>
                <c:pt idx="9">
                  <c:v>480.638</c:v>
                </c:pt>
                <c:pt idx="10">
                  <c:v>465.731</c:v>
                </c:pt>
                <c:pt idx="11">
                  <c:v>460.007</c:v>
                </c:pt>
                <c:pt idx="12">
                  <c:v>464.998</c:v>
                </c:pt>
              </c:numCache>
            </c:numRef>
          </c:val>
        </c:ser>
        <c:ser>
          <c:idx val="3"/>
          <c:order val="3"/>
          <c:tx>
            <c:v>50 cm</c:v>
          </c:tx>
          <c:spPr>
            <a:ln xmlns:a="http://schemas.openxmlformats.org/drawingml/2006/main" w="28575">
              <a:solidFill>
                <a:srgbClr val="F6AE3E"/>
              </a:solidFill>
              <a:prstDash val="solid"/>
            </a:ln>
          </c:spPr>
          <c:marker>
            <c:symbol val="none"/>
          </c:marker>
          <c:cat>
            <c:numRef>
              <c:f>'Chart Data'!$G$2:$G$14</c:f>
              <c:numCache>
                <c:formatCode>General</c:formatCode>
                <c:ptCount val="13"/>
                <c:pt idx="0">
                  <c:v>0</c:v>
                </c:pt>
                <c:pt idx="1">
                  <c:v>2</c:v>
                </c:pt>
                <c:pt idx="2">
                  <c:v>4</c:v>
                </c:pt>
                <c:pt idx="3">
                  <c:v>6</c:v>
                </c:pt>
                <c:pt idx="4">
                  <c:v>8</c:v>
                </c:pt>
                <c:pt idx="5">
                  <c:v>10</c:v>
                </c:pt>
                <c:pt idx="6">
                  <c:v>12</c:v>
                </c:pt>
                <c:pt idx="7">
                  <c:v>14</c:v>
                </c:pt>
                <c:pt idx="8">
                  <c:v>16</c:v>
                </c:pt>
                <c:pt idx="9">
                  <c:v>18</c:v>
                </c:pt>
                <c:pt idx="10">
                  <c:v>20</c:v>
                </c:pt>
                <c:pt idx="11">
                  <c:v>22</c:v>
                </c:pt>
                <c:pt idx="12">
                  <c:v>24</c:v>
                </c:pt>
              </c:numCache>
            </c:numRef>
          </c:cat>
          <c:val>
            <c:numRef>
              <c:f>'Chart Data'!$H$2:$H$14</c:f>
              <c:numCache>
                <c:formatCode>General</c:formatCode>
                <c:ptCount val="13"/>
                <c:pt idx="0">
                  <c:v>481.363</c:v>
                </c:pt>
                <c:pt idx="1">
                  <c:v>478.015</c:v>
                </c:pt>
                <c:pt idx="2">
                  <c:v>480.557</c:v>
                </c:pt>
                <c:pt idx="3">
                  <c:v>488.309</c:v>
                </c:pt>
                <c:pt idx="4">
                  <c:v>499.194</c:v>
                </c:pt>
                <c:pt idx="5">
                  <c:v>510.294</c:v>
                </c:pt>
                <c:pt idx="6">
                  <c:v>518.637</c:v>
                </c:pt>
                <c:pt idx="7">
                  <c:v>521.985</c:v>
                </c:pt>
                <c:pt idx="8">
                  <c:v>519.443</c:v>
                </c:pt>
                <c:pt idx="9">
                  <c:v>511.691</c:v>
                </c:pt>
                <c:pt idx="10">
                  <c:v>500.806</c:v>
                </c:pt>
                <c:pt idx="11">
                  <c:v>489.706</c:v>
                </c:pt>
                <c:pt idx="12">
                  <c:v>481.363</c:v>
                </c:pt>
              </c:numCache>
            </c:numRef>
          </c:val>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125">
                    <a:solidFill>
                      <a:srgbClr val="F7FBF8"/>
                    </a:solidFill>
                    <a:latin typeface="Inter"/>
                    <a:ea typeface="Inter"/>
                    <a:cs typeface="Inter"/>
                  </a:rPr>
                  <a:t>Time (h)</a:t>
                </a:r>
              </a:p>
            </c:rich>
          </c:tx>
          <c:overlay val="0"/>
          <c:txPr>
            <a:bodyPr xmlns:a="http://schemas.openxmlformats.org/drawingml/2006/main" anchorCtr="1"/>
            <a:lstStyle xmlns:a="http://schemas.openxmlformats.org/drawingml/2006/main"/>
            <a:p xmlns:a="http://schemas.openxmlformats.org/drawingml/2006/main">
              <a:pPr>
                <a:defRPr sz="1125">
                  <a:solidFill>
                    <a:srgbClr val="F7FBF8"/>
                  </a:solidFill>
                  <a:latin typeface="Inter"/>
                  <a:ea typeface="Inter"/>
                  <a:cs typeface="Inter"/>
                </a:defRPr>
              </a:pPr>
            </a:p>
          </c:txPr>
        </c:title>
        <c:numFmt formatCode="General"/>
        <c:majorTickMark val="none"/>
        <c:minorTickMark val="none"/>
        <c:spPr>
          <a:ln xmlns:a="http://schemas.openxmlformats.org/drawingml/2006/main" w="9525">
            <a:solidFill>
              <a:srgbClr val="BBD0C8"/>
            </a:solidFill>
            <a:prstDash val="solid"/>
          </a:ln>
        </c:spPr>
        <c:txPr>
          <a:bodyPr xmlns:a="http://schemas.openxmlformats.org/drawingml/2006/main" anchorCtr="1"/>
          <a:lstStyle xmlns:a="http://schemas.openxmlformats.org/drawingml/2006/main"/>
          <a:p xmlns:a="http://schemas.openxmlformats.org/drawingml/2006/main">
            <a:pPr>
              <a:defRPr sz="975">
                <a:solidFill>
                  <a:srgbClr val="F7FBF8"/>
                </a:solidFill>
                <a:latin typeface="Inter"/>
                <a:ea typeface="Inter"/>
                <a:cs typeface="Inter"/>
              </a:defRPr>
            </a:pPr>
          </a:p>
        </c:txPr>
        <c:crossAx val="48672768"/>
      </c:catAx>
      <c:valAx>
        <c:axId val="48672768"/>
        <c:scaling>
          <c:orientation val="minMax"/>
          <c:max val="600"/>
          <c:min val="400"/>
        </c:scaling>
        <c:delete val="0"/>
        <c:axPos val="l"/>
        <c:majorGridlines>
          <c:spPr>
            <a:ln xmlns:a="http://schemas.openxmlformats.org/drawingml/2006/main" w="9525">
              <a:solidFill>
                <a:srgbClr val="397061"/>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F7FBF8"/>
                    </a:solidFill>
                    <a:latin typeface="Inter"/>
                    <a:ea typeface="Inter"/>
                    <a:cs typeface="Inter"/>
                  </a:rPr>
                  <a:t>CO₂ (illustrative units)</a:t>
                </a:r>
              </a:p>
            </c:rich>
          </c:tx>
          <c:overlay val="0"/>
          <c:txPr>
            <a:bodyPr xmlns:a="http://schemas.openxmlformats.org/drawingml/2006/main" anchorCtr="1"/>
            <a:lstStyle xmlns:a="http://schemas.openxmlformats.org/drawingml/2006/main"/>
            <a:p xmlns:a="http://schemas.openxmlformats.org/drawingml/2006/main">
              <a:pPr>
                <a:defRPr sz="1125">
                  <a:solidFill>
                    <a:srgbClr val="F7FBF8"/>
                  </a:solidFill>
                  <a:latin typeface="Inter"/>
                  <a:ea typeface="Inter"/>
                  <a:cs typeface="Inter"/>
                </a:defRPr>
              </a:pPr>
            </a:p>
          </c:txPr>
        </c:title>
        <c:numFmt formatCode="General"/>
        <c:majorTickMark val="none"/>
        <c:minorTickMark val="none"/>
        <c:spPr>
          <a:ln xmlns:a="http://schemas.openxmlformats.org/drawingml/2006/main" w="9525">
            <a:solidFill>
              <a:srgbClr val="BBD0C8"/>
            </a:solidFill>
            <a:prstDash val="solid"/>
          </a:ln>
        </c:spPr>
        <c:txPr>
          <a:bodyPr xmlns:a="http://schemas.openxmlformats.org/drawingml/2006/main" anchorCtr="1"/>
          <a:lstStyle xmlns:a="http://schemas.openxmlformats.org/drawingml/2006/main"/>
          <a:p xmlns:a="http://schemas.openxmlformats.org/drawingml/2006/main">
            <a:pPr>
              <a:defRPr sz="975">
                <a:solidFill>
                  <a:srgbClr val="F7FBF8"/>
                </a:solidFill>
                <a:latin typeface="Inter"/>
                <a:ea typeface="Inter"/>
                <a:cs typeface="Inter"/>
              </a:defRPr>
            </a:pPr>
          </a:p>
        </c:txPr>
        <c:crossAx val="48650112"/>
        <c:crossBetween val="between"/>
        <c:majorUnit val="50"/>
      </c:valAx>
      <c:spPr>
        <a:solidFill xmlns:a="http://schemas.openxmlformats.org/drawingml/2006/main">
          <a:srgbClr val="002F25"/>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F7FBF8"/>
              </a:solidFill>
              <a:latin typeface="Inter"/>
              <a:ea typeface="Inter"/>
              <a:cs typeface="Inter"/>
            </a:defRPr>
          </a:pPr>
        </a:p>
      </c:txPr>
    </c:legend>
    <c:plotVisOnly val="1"/>
  </c:chart>
  <c:spPr>
    <a:solidFill xmlns:a="http://schemas.openxmlformats.org/drawingml/2006/main">
      <a:srgbClr val="002F2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226657-1E3D-414E-B8DD-0F8A4A73398B}"/>
              </a:ext>
            </a:extLst>
          </p:cNvPr>
          <p:cNvSpPr>
            <a:spLocks xmlns:a="http://schemas.openxmlformats.org/drawingml/2006/main" noGrp="1"/>
          </p:cNvSpPr>
          <p:nvPr/>
        </p:nvSpPr>
        <p:spPr>
          <a:xfrm xmlns:a="http://schemas.openxmlformats.org/drawingml/2006/main">
            <a:off x="4791075" y="90487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F7FBF8"/>
                </a:solidFill>
                <a:latin typeface="Inter"/>
                <a:ea typeface="Inter"/>
                <a:cs typeface="Inter"/>
              </a:defRPr>
            </a:pPr>
            <a:r>
              <a:rPr sz="1125" b="1">
                <a:solidFill>
                  <a:srgbClr val="F7FBF8"/>
                </a:solidFill>
                <a:latin typeface="Inter"/>
                <a:ea typeface="Inter"/>
                <a:cs typeface="Inter"/>
              </a:rPr>
              <a:t>PROJECT FRAMEWORK</a:t>
            </a:r>
          </a:p>
        </p:txBody>
      </p:sp>
      <p:sp>
        <p:nvSpPr>
          <p:cNvPr id="2" name="">
            <a:extLst xmlns:a="http://schemas.openxmlformats.org/drawingml/2006/main">
              <a:ext uri="{FF2B5EF4-FFF2-40B4-BE49-F238E27FC236}">
                <a16:creationId xmlns:a16="http://schemas.microsoft.com/office/drawing/2014/main" id="{132C761E-4C53-453F-BB3A-3B020DD3B6C0}"/>
              </a:ext>
            </a:extLst>
          </p:cNvPr>
          <p:cNvSpPr>
            <a:spLocks xmlns:a="http://schemas.openxmlformats.org/drawingml/2006/main" noGrp="1"/>
          </p:cNvSpPr>
          <p:nvPr/>
        </p:nvSpPr>
        <p:spPr>
          <a:xfrm xmlns:a="http://schemas.openxmlformats.org/drawingml/2006/main">
            <a:off x="1619250" y="1857375"/>
            <a:ext cx="8953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4200" b="0">
                <a:solidFill>
                  <a:srgbClr val="B7F23A"/>
                </a:solidFill>
                <a:latin typeface="Inter"/>
                <a:ea typeface="Inter"/>
                <a:cs typeface="Inter"/>
              </a:defRPr>
            </a:pPr>
            <a:r>
              <a:rPr sz="4200" b="0">
                <a:solidFill>
                  <a:srgbClr val="B7F23A"/>
                </a:solidFill>
                <a:latin typeface="Inter"/>
                <a:ea typeface="Inter"/>
                <a:cs typeface="Inter"/>
              </a:rPr>
              <a:t>Phase topology of</a:t>
            </a:r>
          </a:p>
          <a:p xmlns:a="http://schemas.openxmlformats.org/drawingml/2006/main">
            <a:pPr algn="ctr">
              <a:defRPr sz="4200" b="0">
                <a:solidFill>
                  <a:srgbClr val="B7F23A"/>
                </a:solidFill>
                <a:latin typeface="Inter"/>
                <a:ea typeface="Inter"/>
                <a:cs typeface="Inter"/>
              </a:defRPr>
            </a:pPr>
            <a:r>
              <a:rPr sz="4200" b="0">
                <a:solidFill>
                  <a:srgbClr val="B7F23A"/>
                </a:solidFill>
                <a:latin typeface="Inter"/>
                <a:ea typeface="Inter"/>
                <a:cs typeface="Inter"/>
              </a:rPr>
              <a:t>depth-resolved CO₂ transport</a:t>
            </a:r>
          </a:p>
        </p:txBody>
      </p:sp>
      <p:sp>
        <p:nvSpPr>
          <p:cNvPr id="3" name="">
            <a:extLst xmlns:a="http://schemas.openxmlformats.org/drawingml/2006/main">
              <a:ext uri="{FF2B5EF4-FFF2-40B4-BE49-F238E27FC236}">
                <a16:creationId xmlns:a16="http://schemas.microsoft.com/office/drawing/2014/main" id="{92A9A4C4-4770-4C9E-9703-01D82E5A8CF6}"/>
              </a:ext>
            </a:extLst>
          </p:cNvPr>
          <p:cNvSpPr>
            <a:spLocks xmlns:a="http://schemas.openxmlformats.org/drawingml/2006/main" noGrp="1"/>
          </p:cNvSpPr>
          <p:nvPr/>
        </p:nvSpPr>
        <p:spPr>
          <a:xfrm xmlns:a="http://schemas.openxmlformats.org/drawingml/2006/main">
            <a:off x="2476500" y="3857625"/>
            <a:ext cx="723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0">
                <a:solidFill>
                  <a:srgbClr val="F7FBF8"/>
                </a:solidFill>
                <a:latin typeface="Inter"/>
                <a:ea typeface="Inter"/>
                <a:cs typeface="Inter"/>
              </a:defRPr>
            </a:pPr>
            <a:r>
              <a:rPr sz="1800" b="0">
                <a:solidFill>
                  <a:srgbClr val="F7FBF8"/>
                </a:solidFill>
                <a:latin typeface="Inter"/>
                <a:ea typeface="Inter"/>
                <a:cs typeface="Inter"/>
              </a:rPr>
              <a:t>A physically constrained indicator of landscape evolution at the</a:t>
            </a:r>
          </a:p>
          <a:p xmlns:a="http://schemas.openxmlformats.org/drawingml/2006/main">
            <a:pPr algn="ctr">
              <a:defRPr sz="1800" b="0">
                <a:solidFill>
                  <a:srgbClr val="F7FBF8"/>
                </a:solidFill>
                <a:latin typeface="Inter"/>
                <a:ea typeface="Inter"/>
                <a:cs typeface="Inter"/>
              </a:defRPr>
            </a:pPr>
            <a:r>
              <a:rPr sz="1800" b="0">
                <a:solidFill>
                  <a:srgbClr val="F7FBF8"/>
                </a:solidFill>
                <a:latin typeface="Inter"/>
                <a:ea typeface="Inter"/>
                <a:cs typeface="Inter"/>
              </a:rPr>
              <a:t>Landscape Evolution Observatory</a:t>
            </a:r>
          </a:p>
        </p:txBody>
      </p:sp>
      <p:sp>
        <p:nvSpPr>
          <p:cNvPr id="4" name="">
            <a:extLst xmlns:a="http://schemas.openxmlformats.org/drawingml/2006/main">
              <a:ext uri="{FF2B5EF4-FFF2-40B4-BE49-F238E27FC236}">
                <a16:creationId xmlns:a16="http://schemas.microsoft.com/office/drawing/2014/main" id="{28A09173-7E2F-43DD-8394-863C304F5F0C}"/>
              </a:ext>
            </a:extLst>
          </p:cNvPr>
          <p:cNvSpPr>
            <a:spLocks xmlns:a="http://schemas.openxmlformats.org/drawingml/2006/main" noGrp="1"/>
          </p:cNvSpPr>
          <p:nvPr/>
        </p:nvSpPr>
        <p:spPr>
          <a:xfrm xmlns:a="http://schemas.openxmlformats.org/drawingml/2006/main">
            <a:off x="3714750" y="53340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BBD0C8"/>
                </a:solidFill>
                <a:latin typeface="Inter"/>
                <a:ea typeface="Inter"/>
                <a:cs typeface="Inter"/>
              </a:defRPr>
            </a:pPr>
            <a:r>
              <a:rPr sz="1200" b="0">
                <a:solidFill>
                  <a:srgbClr val="BBD0C8"/>
                </a:solidFill>
                <a:latin typeface="Inter"/>
                <a:ea typeface="Inter"/>
                <a:cs typeface="Inter"/>
              </a:rPr>
              <a:t>For scientific review and Biosphere 2 project planning</a:t>
            </a:r>
          </a:p>
        </p:txBody>
      </p:sp>
    </p:spTree>
    <p:extLst>
      <p:ext uri="{BB962C8B-B14F-4D97-AF65-F5344CB8AC3E}">
        <p14:creationId xmlns:p14="http://schemas.microsoft.com/office/powerpoint/2010/main" val="416502739"/>
      </p:ext>
    </p:extLst>
  </p:cSld>
</p:sld>
</file>

<file path=ppt/slides/slide2.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CF68A49-4E6C-4233-BB14-DC5FE8D2A604}"/>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EXECUTIVE OVERVIEW</a:t>
            </a:r>
          </a:p>
        </p:txBody>
      </p:sp>
      <p:sp>
        <p:nvSpPr>
          <p:cNvPr id="2" name="">
            <a:extLst xmlns:a="http://schemas.openxmlformats.org/drawingml/2006/main">
              <a:ext uri="{FF2B5EF4-FFF2-40B4-BE49-F238E27FC236}">
                <a16:creationId xmlns:a16="http://schemas.microsoft.com/office/drawing/2014/main" id="{3FB2D210-0885-47E0-9345-3D8449D9F483}"/>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The project in one view</a:t>
            </a:r>
          </a:p>
        </p:txBody>
      </p:sp>
      <p:sp>
        <p:nvSpPr>
          <p:cNvPr id="3" name="">
            <a:extLst xmlns:a="http://schemas.openxmlformats.org/drawingml/2006/main">
              <a:ext uri="{FF2B5EF4-FFF2-40B4-BE49-F238E27FC236}">
                <a16:creationId xmlns:a16="http://schemas.microsoft.com/office/drawing/2014/main" id="{346DAD32-F091-48D9-9DE4-F941A2AA7C85}"/>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2</a:t>
            </a:r>
          </a:p>
        </p:txBody>
      </p:sp>
      <p:sp>
        <p:nvSpPr>
          <p:cNvPr id="4" name="">
            <a:extLst xmlns:a="http://schemas.openxmlformats.org/drawingml/2006/main">
              <a:ext uri="{FF2B5EF4-FFF2-40B4-BE49-F238E27FC236}">
                <a16:creationId xmlns:a16="http://schemas.microsoft.com/office/drawing/2014/main" id="{2D5AED4A-C1F5-4282-9930-E23EB36F8322}"/>
              </a:ext>
            </a:extLst>
          </p:cNvPr>
          <p:cNvSpPr>
            <a:spLocks xmlns:a="http://schemas.openxmlformats.org/drawingml/2006/main" noGrp="1"/>
          </p:cNvSpPr>
          <p:nvPr/>
        </p:nvSpPr>
        <p:spPr>
          <a:xfrm xmlns:a="http://schemas.openxmlformats.org/drawingml/2006/main">
            <a:off x="571500" y="15240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Scientific question</a:t>
            </a:r>
          </a:p>
        </p:txBody>
      </p:sp>
      <p:sp>
        <p:nvSpPr>
          <p:cNvPr id="5" name="">
            <a:extLst xmlns:a="http://schemas.openxmlformats.org/drawingml/2006/main">
              <a:ext uri="{FF2B5EF4-FFF2-40B4-BE49-F238E27FC236}">
                <a16:creationId xmlns:a16="http://schemas.microsoft.com/office/drawing/2014/main" id="{03B9FCE3-15E5-4C5E-86C4-816DB092FFCF}"/>
              </a:ext>
            </a:extLst>
          </p:cNvPr>
          <p:cNvSpPr>
            <a:spLocks xmlns:a="http://schemas.openxmlformats.org/drawingml/2006/main" noGrp="1"/>
          </p:cNvSpPr>
          <p:nvPr/>
        </p:nvSpPr>
        <p:spPr>
          <a:xfrm xmlns:a="http://schemas.openxmlformats.org/drawingml/2006/main">
            <a:off x="571500" y="188595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580"/>
          </a:bodyPr>
          <a:lstStyle xmlns:a="http://schemas.openxmlformats.org/drawingml/2006/main"/>
          <a:p xmlns:a="http://schemas.openxmlformats.org/drawingml/2006/main">
            <a:pPr algn="l">
              <a:defRPr sz="2025" b="1">
                <a:solidFill>
                  <a:srgbClr val="F7FBF8"/>
                </a:solidFill>
                <a:latin typeface="Inter"/>
                <a:ea typeface="Inter"/>
                <a:cs typeface="Inter"/>
              </a:defRPr>
            </a:pPr>
            <a:r>
              <a:rPr sz="2025" b="1">
                <a:solidFill>
                  <a:srgbClr val="F7FBF8"/>
                </a:solidFill>
                <a:latin typeface="Inter"/>
                <a:ea typeface="Inter"/>
                <a:cs typeface="Inter"/>
              </a:rPr>
              <a:t>Does the same rainfall forcing produce a changing CO₂ response as basalt develops?</a:t>
            </a:r>
          </a:p>
        </p:txBody>
      </p:sp>
      <p:sp>
        <p:nvSpPr>
          <p:cNvPr id="6" name="">
            <a:extLst xmlns:a="http://schemas.openxmlformats.org/drawingml/2006/main">
              <a:ext uri="{FF2B5EF4-FFF2-40B4-BE49-F238E27FC236}">
                <a16:creationId xmlns:a16="http://schemas.microsoft.com/office/drawing/2014/main" id="{24BB3DC4-7042-4A05-8AF5-C2AB4730BF92}"/>
              </a:ext>
            </a:extLst>
          </p:cNvPr>
          <p:cNvSpPr>
            <a:spLocks xmlns:a="http://schemas.openxmlformats.org/drawingml/2006/main" noGrp="1"/>
          </p:cNvSpPr>
          <p:nvPr/>
        </p:nvSpPr>
        <p:spPr>
          <a:xfrm xmlns:a="http://schemas.openxmlformats.org/drawingml/2006/main" flipH="0" flipV="0">
            <a:off x="4095750" y="1428750"/>
            <a:ext cx="0" cy="447675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7" name="">
            <a:extLst xmlns:a="http://schemas.openxmlformats.org/drawingml/2006/main">
              <a:ext uri="{FF2B5EF4-FFF2-40B4-BE49-F238E27FC236}">
                <a16:creationId xmlns:a16="http://schemas.microsoft.com/office/drawing/2014/main" id="{DB1DE4E3-066A-4D30-BAA5-639EDD91FAF4}"/>
              </a:ext>
            </a:extLst>
          </p:cNvPr>
          <p:cNvSpPr>
            <a:spLocks xmlns:a="http://schemas.openxmlformats.org/drawingml/2006/main" noGrp="1"/>
          </p:cNvSpPr>
          <p:nvPr/>
        </p:nvSpPr>
        <p:spPr>
          <a:xfrm xmlns:a="http://schemas.openxmlformats.org/drawingml/2006/main">
            <a:off x="4657725" y="1685925"/>
            <a:ext cx="209550" cy="2095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EE767C-DB54-4C1C-A099-693E5F91D236}"/>
              </a:ext>
            </a:extLst>
          </p:cNvPr>
          <p:cNvSpPr>
            <a:spLocks xmlns:a="http://schemas.openxmlformats.org/drawingml/2006/main" noGrp="1"/>
          </p:cNvSpPr>
          <p:nvPr/>
        </p:nvSpPr>
        <p:spPr>
          <a:xfrm xmlns:a="http://schemas.openxmlformats.org/drawingml/2006/main">
            <a:off x="5095875" y="1581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MEASURE</a:t>
            </a:r>
          </a:p>
        </p:txBody>
      </p:sp>
      <p:sp>
        <p:nvSpPr>
          <p:cNvPr id="9" name="">
            <a:extLst xmlns:a="http://schemas.openxmlformats.org/drawingml/2006/main">
              <a:ext uri="{FF2B5EF4-FFF2-40B4-BE49-F238E27FC236}">
                <a16:creationId xmlns:a16="http://schemas.microsoft.com/office/drawing/2014/main" id="{0EA3BC38-30CB-4AC8-9CE7-4C3536B914A4}"/>
              </a:ext>
            </a:extLst>
          </p:cNvPr>
          <p:cNvSpPr>
            <a:spLocks xmlns:a="http://schemas.openxmlformats.org/drawingml/2006/main" noGrp="1"/>
          </p:cNvSpPr>
          <p:nvPr/>
        </p:nvSpPr>
        <p:spPr>
          <a:xfrm xmlns:a="http://schemas.openxmlformats.org/drawingml/2006/main">
            <a:off x="5095875" y="1943100"/>
            <a:ext cx="609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F7FBF8"/>
                </a:solidFill>
                <a:latin typeface="Inter"/>
                <a:ea typeface="Inter"/>
                <a:cs typeface="Inter"/>
              </a:defRPr>
            </a:pPr>
            <a:r>
              <a:rPr sz="1650" b="0">
                <a:solidFill>
                  <a:srgbClr val="F7FBF8"/>
                </a:solidFill>
                <a:latin typeface="Inter"/>
                <a:ea typeface="Inter"/>
                <a:cs typeface="Inter"/>
              </a:rPr>
              <a:t>CO₂, water state and temperature at matched depths and locations.</a:t>
            </a:r>
          </a:p>
        </p:txBody>
      </p:sp>
      <p:sp>
        <p:nvSpPr>
          <p:cNvPr id="10" name="">
            <a:extLst xmlns:a="http://schemas.openxmlformats.org/drawingml/2006/main">
              <a:ext uri="{FF2B5EF4-FFF2-40B4-BE49-F238E27FC236}">
                <a16:creationId xmlns:a16="http://schemas.microsoft.com/office/drawing/2014/main" id="{67613573-CDB5-490A-9A25-4D9E54DB55BB}"/>
              </a:ext>
            </a:extLst>
          </p:cNvPr>
          <p:cNvSpPr>
            <a:spLocks xmlns:a="http://schemas.openxmlformats.org/drawingml/2006/main" noGrp="1"/>
          </p:cNvSpPr>
          <p:nvPr/>
        </p:nvSpPr>
        <p:spPr>
          <a:xfrm xmlns:a="http://schemas.openxmlformats.org/drawingml/2006/main">
            <a:off x="4657725" y="2905125"/>
            <a:ext cx="209550" cy="20955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D7CD02-6482-4D73-A7E8-0196C108F03A}"/>
              </a:ext>
            </a:extLst>
          </p:cNvPr>
          <p:cNvSpPr>
            <a:spLocks xmlns:a="http://schemas.openxmlformats.org/drawingml/2006/main" noGrp="1"/>
          </p:cNvSpPr>
          <p:nvPr/>
        </p:nvSpPr>
        <p:spPr>
          <a:xfrm xmlns:a="http://schemas.openxmlformats.org/drawingml/2006/main">
            <a:off x="5095875" y="2800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F6AE3E"/>
                </a:solidFill>
                <a:latin typeface="Inter"/>
                <a:ea typeface="Inter"/>
                <a:cs typeface="Inter"/>
              </a:defRPr>
            </a:pPr>
            <a:r>
              <a:rPr sz="1275" b="1">
                <a:solidFill>
                  <a:srgbClr val="F6AE3E"/>
                </a:solidFill>
                <a:latin typeface="Inter"/>
                <a:ea typeface="Inter"/>
                <a:cs typeface="Inter"/>
              </a:rPr>
              <a:t>EXPLAIN</a:t>
            </a:r>
          </a:p>
        </p:txBody>
      </p:sp>
      <p:sp>
        <p:nvSpPr>
          <p:cNvPr id="12" name="">
            <a:extLst xmlns:a="http://schemas.openxmlformats.org/drawingml/2006/main">
              <a:ext uri="{FF2B5EF4-FFF2-40B4-BE49-F238E27FC236}">
                <a16:creationId xmlns:a16="http://schemas.microsoft.com/office/drawing/2014/main" id="{BF555C3E-7A20-4E38-98ED-BAA9F003E763}"/>
              </a:ext>
            </a:extLst>
          </p:cNvPr>
          <p:cNvSpPr>
            <a:spLocks xmlns:a="http://schemas.openxmlformats.org/drawingml/2006/main" noGrp="1"/>
          </p:cNvSpPr>
          <p:nvPr/>
        </p:nvSpPr>
        <p:spPr>
          <a:xfrm xmlns:a="http://schemas.openxmlformats.org/drawingml/2006/main">
            <a:off x="5095875" y="3162300"/>
            <a:ext cx="609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F7FBF8"/>
                </a:solidFill>
                <a:latin typeface="Inter"/>
                <a:ea typeface="Inter"/>
                <a:cs typeface="Inter"/>
              </a:defRPr>
            </a:pPr>
            <a:r>
              <a:rPr sz="1650" b="0">
                <a:solidFill>
                  <a:srgbClr val="F7FBF8"/>
                </a:solidFill>
                <a:latin typeface="Inter"/>
                <a:ea typeface="Inter"/>
                <a:cs typeface="Inter"/>
              </a:rPr>
              <a:t>Fit the simplest diffusion–reaction response before using network or topological descriptors.</a:t>
            </a:r>
          </a:p>
        </p:txBody>
      </p:sp>
      <p:sp>
        <p:nvSpPr>
          <p:cNvPr id="13" name="">
            <a:extLst xmlns:a="http://schemas.openxmlformats.org/drawingml/2006/main">
              <a:ext uri="{FF2B5EF4-FFF2-40B4-BE49-F238E27FC236}">
                <a16:creationId xmlns:a16="http://schemas.microsoft.com/office/drawing/2014/main" id="{5597D974-3CB2-4B04-9C1F-3D9513169021}"/>
              </a:ext>
            </a:extLst>
          </p:cNvPr>
          <p:cNvSpPr>
            <a:spLocks xmlns:a="http://schemas.openxmlformats.org/drawingml/2006/main" noGrp="1"/>
          </p:cNvSpPr>
          <p:nvPr/>
        </p:nvSpPr>
        <p:spPr>
          <a:xfrm xmlns:a="http://schemas.openxmlformats.org/drawingml/2006/main">
            <a:off x="4657725" y="4124325"/>
            <a:ext cx="209550" cy="2095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2103B3-FED6-4B06-A156-54B43BF69E98}"/>
              </a:ext>
            </a:extLst>
          </p:cNvPr>
          <p:cNvSpPr>
            <a:spLocks xmlns:a="http://schemas.openxmlformats.org/drawingml/2006/main" noGrp="1"/>
          </p:cNvSpPr>
          <p:nvPr/>
        </p:nvSpPr>
        <p:spPr>
          <a:xfrm xmlns:a="http://schemas.openxmlformats.org/drawingml/2006/main">
            <a:off x="5095875" y="4019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VALIDATE</a:t>
            </a:r>
          </a:p>
        </p:txBody>
      </p:sp>
      <p:sp>
        <p:nvSpPr>
          <p:cNvPr id="15" name="">
            <a:extLst xmlns:a="http://schemas.openxmlformats.org/drawingml/2006/main">
              <a:ext uri="{FF2B5EF4-FFF2-40B4-BE49-F238E27FC236}">
                <a16:creationId xmlns:a16="http://schemas.microsoft.com/office/drawing/2014/main" id="{B1382BEA-91D6-4BDE-98A5-F96755214817}"/>
              </a:ext>
            </a:extLst>
          </p:cNvPr>
          <p:cNvSpPr>
            <a:spLocks xmlns:a="http://schemas.openxmlformats.org/drawingml/2006/main" noGrp="1"/>
          </p:cNvSpPr>
          <p:nvPr/>
        </p:nvSpPr>
        <p:spPr>
          <a:xfrm xmlns:a="http://schemas.openxmlformats.org/drawingml/2006/main">
            <a:off x="5095875" y="4381500"/>
            <a:ext cx="609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F7FBF8"/>
                </a:solidFill>
                <a:latin typeface="Inter"/>
                <a:ea typeface="Inter"/>
                <a:cs typeface="Inter"/>
              </a:defRPr>
            </a:pPr>
            <a:r>
              <a:rPr sz="1650" b="0">
                <a:solidFill>
                  <a:srgbClr val="F7FBF8"/>
                </a:solidFill>
                <a:latin typeface="Inter"/>
                <a:ea typeface="Inter"/>
                <a:cs typeface="Inter"/>
              </a:rPr>
              <a:t>Require reproducibility, null tests and independent hydrologic or geochemical evidence.</a:t>
            </a:r>
          </a:p>
        </p:txBody>
      </p:sp>
      <p:sp>
        <p:nvSpPr>
          <p:cNvPr id="16" name="">
            <a:extLst xmlns:a="http://schemas.openxmlformats.org/drawingml/2006/main">
              <a:ext uri="{FF2B5EF4-FFF2-40B4-BE49-F238E27FC236}">
                <a16:creationId xmlns:a16="http://schemas.microsoft.com/office/drawing/2014/main" id="{5F112194-5190-4B99-9EC9-8D19A1670678}"/>
              </a:ext>
            </a:extLst>
          </p:cNvPr>
          <p:cNvSpPr>
            <a:spLocks xmlns:a="http://schemas.openxmlformats.org/drawingml/2006/main" noGrp="1"/>
          </p:cNvSpPr>
          <p:nvPr/>
        </p:nvSpPr>
        <p:spPr>
          <a:xfrm xmlns:a="http://schemas.openxmlformats.org/drawingml/2006/main">
            <a:off x="495300" y="5334000"/>
            <a:ext cx="11201400" cy="685800"/>
          </a:xfrm>
          <a:prstGeom xmlns:a="http://schemas.openxmlformats.org/drawingml/2006/main" prst="roundRect">
            <a:avLst>
              <a:gd name="adj" fmla="val 19444"/>
            </a:avLst>
          </a:prstGeom>
          <a:solidFill xmlns:a="http://schemas.openxmlformats.org/drawingml/2006/main">
            <a:srgbClr val="0E493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92A39EA-F5D0-473B-B066-8B1356074F9D}"/>
              </a:ext>
            </a:extLst>
          </p:cNvPr>
          <p:cNvSpPr>
            <a:spLocks xmlns:a="http://schemas.openxmlformats.org/drawingml/2006/main" noGrp="1"/>
          </p:cNvSpPr>
          <p:nvPr/>
        </p:nvSpPr>
        <p:spPr>
          <a:xfrm xmlns:a="http://schemas.openxmlformats.org/drawingml/2006/main">
            <a:off x="742950" y="5514975"/>
            <a:ext cx="1070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231"/>
          </a:bodyPr>
          <a:lstStyle xmlns:a="http://schemas.openxmlformats.org/drawingml/2006/main"/>
          <a:p xmlns:a="http://schemas.openxmlformats.org/drawingml/2006/main">
            <a:pPr algn="ctr">
              <a:defRPr sz="1575" b="1">
                <a:solidFill>
                  <a:srgbClr val="F7FBF8"/>
                </a:solidFill>
                <a:latin typeface="Inter"/>
                <a:ea typeface="Inter"/>
                <a:cs typeface="Inter"/>
              </a:defRPr>
            </a:pPr>
            <a:r>
              <a:rPr sz="1575" b="1">
                <a:solidFill>
                  <a:srgbClr val="F7FBF8"/>
                </a:solidFill>
                <a:latin typeface="Inter"/>
                <a:ea typeface="Inter"/>
                <a:cs typeface="Inter"/>
              </a:rPr>
              <a:t>Decision supported: whether an observed shift reflects reversible wetting, transport-path change or persistent hydro-biogeochemical development.</a:t>
            </a:r>
          </a:p>
        </p:txBody>
      </p:sp>
    </p:spTree>
    <p:extLst>
      <p:ext uri="{BB962C8B-B14F-4D97-AF65-F5344CB8AC3E}">
        <p14:creationId xmlns:p14="http://schemas.microsoft.com/office/powerpoint/2010/main" val="1240473459"/>
      </p:ext>
    </p:extLst>
  </p:cSld>
</p:sld>
</file>

<file path=ppt/slides/slide3.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34D6E92-127F-4667-99BD-3CDB7FE66F9A}"/>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SYSTEM AND SAMPLING</a:t>
            </a:r>
          </a:p>
        </p:txBody>
      </p:sp>
      <p:sp>
        <p:nvSpPr>
          <p:cNvPr id="2" name="">
            <a:extLst xmlns:a="http://schemas.openxmlformats.org/drawingml/2006/main">
              <a:ext uri="{FF2B5EF4-FFF2-40B4-BE49-F238E27FC236}">
                <a16:creationId xmlns:a16="http://schemas.microsoft.com/office/drawing/2014/main" id="{705504BD-C223-455A-A4D8-76A1333025CD}"/>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Measurement geometry in LEO</a:t>
            </a:r>
          </a:p>
        </p:txBody>
      </p:sp>
      <p:sp>
        <p:nvSpPr>
          <p:cNvPr id="3" name="">
            <a:extLst xmlns:a="http://schemas.openxmlformats.org/drawingml/2006/main">
              <a:ext uri="{FF2B5EF4-FFF2-40B4-BE49-F238E27FC236}">
                <a16:creationId xmlns:a16="http://schemas.microsoft.com/office/drawing/2014/main" id="{21FD0F32-BD99-46D8-8600-75327759BC3D}"/>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8b3aabdb51d45d3"/>
          <a:srcRect xmlns:a="http://schemas.openxmlformats.org/drawingml/2006/main" l="11014" t="0" r="11014" b="0"/>
          <a:stretch xmlns:a="http://schemas.openxmlformats.org/drawingml/2006/main">
            <a:fillRect l="0" t="0" r="0" b="0"/>
          </a:stretch>
        </p:blipFill>
        <p:spPr>
          <a:xfrm xmlns:a="http://schemas.openxmlformats.org/drawingml/2006/main">
            <a:off x="6572250" y="1276350"/>
            <a:ext cx="5124450" cy="4381500"/>
          </a:xfrm>
          <a:prstGeom xmlns:a="http://schemas.openxmlformats.org/drawingml/2006/main" prst="roundRect">
            <a:avLst>
              <a:gd name="adj" fmla="val 4348"/>
            </a:avLst>
          </a:prstGeom>
        </p:spPr>
      </p:pic>
      <p:sp>
        <p:nvSpPr>
          <p:cNvPr id="5" name="">
            <a:extLst xmlns:a="http://schemas.openxmlformats.org/drawingml/2006/main">
              <a:ext uri="{FF2B5EF4-FFF2-40B4-BE49-F238E27FC236}">
                <a16:creationId xmlns:a16="http://schemas.microsoft.com/office/drawing/2014/main" id="{665D381A-CDFE-4758-B141-424F7B337988}"/>
              </a:ext>
            </a:extLst>
          </p:cNvPr>
          <p:cNvSpPr>
            <a:spLocks xmlns:a="http://schemas.openxmlformats.org/drawingml/2006/main" noGrp="1"/>
          </p:cNvSpPr>
          <p:nvPr/>
        </p:nvSpPr>
        <p:spPr>
          <a:xfrm xmlns:a="http://schemas.openxmlformats.org/drawingml/2006/main">
            <a:off x="533400" y="14287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EXISTING PLATFORM</a:t>
            </a:r>
          </a:p>
        </p:txBody>
      </p:sp>
      <p:sp>
        <p:nvSpPr>
          <p:cNvPr id="6" name="">
            <a:extLst xmlns:a="http://schemas.openxmlformats.org/drawingml/2006/main">
              <a:ext uri="{FF2B5EF4-FFF2-40B4-BE49-F238E27FC236}">
                <a16:creationId xmlns:a16="http://schemas.microsoft.com/office/drawing/2014/main" id="{0C697582-EEEF-43A3-8AF5-94D1C713B566}"/>
              </a:ext>
            </a:extLst>
          </p:cNvPr>
          <p:cNvSpPr>
            <a:spLocks xmlns:a="http://schemas.openxmlformats.org/drawingml/2006/main" noGrp="1"/>
          </p:cNvSpPr>
          <p:nvPr/>
        </p:nvSpPr>
        <p:spPr>
          <a:xfrm xmlns:a="http://schemas.openxmlformats.org/drawingml/2006/main">
            <a:off x="533400" y="17526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51"/>
          </a:bodyPr>
          <a:lstStyle xmlns:a="http://schemas.openxmlformats.org/drawingml/2006/main"/>
          <a:p xmlns:a="http://schemas.openxmlformats.org/drawingml/2006/main">
            <a:pPr algn="l">
              <a:defRPr sz="2175" b="1">
                <a:solidFill>
                  <a:srgbClr val="F7FBF8"/>
                </a:solidFill>
                <a:latin typeface="Inter"/>
                <a:ea typeface="Inter"/>
                <a:cs typeface="Inter"/>
              </a:defRPr>
            </a:pPr>
            <a:r>
              <a:rPr sz="2175" b="1">
                <a:solidFill>
                  <a:srgbClr val="F7FBF8"/>
                </a:solidFill>
                <a:latin typeface="Inter"/>
                <a:ea typeface="Inter"/>
                <a:cs typeface="Inter"/>
              </a:rPr>
              <a:t>Three replicate hillslopes</a:t>
            </a:r>
          </a:p>
        </p:txBody>
      </p:sp>
      <p:sp>
        <p:nvSpPr>
          <p:cNvPr id="7" name="">
            <a:extLst xmlns:a="http://schemas.openxmlformats.org/drawingml/2006/main">
              <a:ext uri="{FF2B5EF4-FFF2-40B4-BE49-F238E27FC236}">
                <a16:creationId xmlns:a16="http://schemas.microsoft.com/office/drawing/2014/main" id="{F3A584B4-3480-4001-A60E-5C1FB36CE1F4}"/>
              </a:ext>
            </a:extLst>
          </p:cNvPr>
          <p:cNvSpPr>
            <a:spLocks xmlns:a="http://schemas.openxmlformats.org/drawingml/2006/main" noGrp="1"/>
          </p:cNvSpPr>
          <p:nvPr/>
        </p:nvSpPr>
        <p:spPr>
          <a:xfrm xmlns:a="http://schemas.openxmlformats.org/drawingml/2006/main">
            <a:off x="533400" y="2286000"/>
            <a:ext cx="285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0">
                <a:solidFill>
                  <a:srgbClr val="F7FBF8"/>
                </a:solidFill>
                <a:latin typeface="Inter"/>
                <a:ea typeface="Inter"/>
                <a:cs typeface="Inter"/>
              </a:defRPr>
            </a:pPr>
            <a:r>
              <a:rPr sz="1800" b="0">
                <a:solidFill>
                  <a:srgbClr val="F7FBF8"/>
                </a:solidFill>
                <a:latin typeface="Inter"/>
                <a:ea typeface="Inter"/>
                <a:cs typeface="Inter"/>
              </a:rPr>
              <a:t>30 m × 11 m</a:t>
            </a:r>
          </a:p>
          <a:p xmlns:a="http://schemas.openxmlformats.org/drawingml/2006/main">
            <a:pPr algn="l">
              <a:defRPr sz="1800" b="0">
                <a:solidFill>
                  <a:srgbClr val="F7FBF8"/>
                </a:solidFill>
                <a:latin typeface="Inter"/>
                <a:ea typeface="Inter"/>
                <a:cs typeface="Inter"/>
              </a:defRPr>
            </a:pPr>
            <a:r>
              <a:rPr sz="1800" b="0">
                <a:solidFill>
                  <a:srgbClr val="F7FBF8"/>
                </a:solidFill>
                <a:latin typeface="Inter"/>
                <a:ea typeface="Inter"/>
                <a:cs typeface="Inter"/>
              </a:rPr>
              <a:t>10° mean slope</a:t>
            </a:r>
          </a:p>
          <a:p xmlns:a="http://schemas.openxmlformats.org/drawingml/2006/main">
            <a:pPr algn="l">
              <a:defRPr sz="1800" b="0">
                <a:solidFill>
                  <a:srgbClr val="F7FBF8"/>
                </a:solidFill>
                <a:latin typeface="Inter"/>
                <a:ea typeface="Inter"/>
                <a:cs typeface="Inter"/>
              </a:defRPr>
            </a:pPr>
            <a:r>
              <a:rPr sz="1800" b="0">
                <a:solidFill>
                  <a:srgbClr val="F7FBF8"/>
                </a:solidFill>
                <a:latin typeface="Inter"/>
                <a:ea typeface="Inter"/>
                <a:cs typeface="Inter"/>
              </a:rPr>
              <a:t>1 m crushed-basalt profile</a:t>
            </a:r>
          </a:p>
        </p:txBody>
      </p:sp>
      <p:sp>
        <p:nvSpPr>
          <p:cNvPr id="8" name="">
            <a:extLst xmlns:a="http://schemas.openxmlformats.org/drawingml/2006/main">
              <a:ext uri="{FF2B5EF4-FFF2-40B4-BE49-F238E27FC236}">
                <a16:creationId xmlns:a16="http://schemas.microsoft.com/office/drawing/2014/main" id="{68D2C8DF-5323-4440-86D6-63B0654B1FBC}"/>
              </a:ext>
            </a:extLst>
          </p:cNvPr>
          <p:cNvSpPr>
            <a:spLocks xmlns:a="http://schemas.openxmlformats.org/drawingml/2006/main" noGrp="1"/>
          </p:cNvSpPr>
          <p:nvPr/>
        </p:nvSpPr>
        <p:spPr>
          <a:xfrm xmlns:a="http://schemas.openxmlformats.org/drawingml/2006/main">
            <a:off x="533400" y="38576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F6AE3E"/>
                </a:solidFill>
                <a:latin typeface="Inter"/>
                <a:ea typeface="Inter"/>
                <a:cs typeface="Inter"/>
              </a:defRPr>
            </a:pPr>
            <a:r>
              <a:rPr sz="1200" b="1">
                <a:solidFill>
                  <a:srgbClr val="F6AE3E"/>
                </a:solidFill>
                <a:latin typeface="Inter"/>
                <a:ea typeface="Inter"/>
                <a:cs typeface="Inter"/>
              </a:rPr>
              <a:t>PROPOSED CO₂ PROFILE</a:t>
            </a:r>
          </a:p>
        </p:txBody>
      </p:sp>
      <p:sp>
        <p:nvSpPr>
          <p:cNvPr id="9" name="">
            <a:extLst xmlns:a="http://schemas.openxmlformats.org/drawingml/2006/main">
              <a:ext uri="{FF2B5EF4-FFF2-40B4-BE49-F238E27FC236}">
                <a16:creationId xmlns:a16="http://schemas.microsoft.com/office/drawing/2014/main" id="{4F30A166-A475-4497-BBAB-584277B47199}"/>
              </a:ext>
            </a:extLst>
          </p:cNvPr>
          <p:cNvSpPr>
            <a:spLocks xmlns:a="http://schemas.openxmlformats.org/drawingml/2006/main" noGrp="1"/>
          </p:cNvSpPr>
          <p:nvPr/>
        </p:nvSpPr>
        <p:spPr>
          <a:xfrm xmlns:a="http://schemas.openxmlformats.org/drawingml/2006/main">
            <a:off x="533400" y="4210050"/>
            <a:ext cx="4619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950" b="1">
                <a:solidFill>
                  <a:srgbClr val="F7FBF8"/>
                </a:solidFill>
                <a:latin typeface="Inter"/>
                <a:ea typeface="Inter"/>
                <a:cs typeface="Inter"/>
              </a:defRPr>
            </a:pPr>
            <a:r>
              <a:rPr sz="1950" b="1">
                <a:solidFill>
                  <a:srgbClr val="F7FBF8"/>
                </a:solidFill>
                <a:latin typeface="Inter"/>
                <a:ea typeface="Inter"/>
                <a:cs typeface="Inter"/>
              </a:rPr>
              <a:t>Near-surface air plus pore-space CO₂ at approximately 5, 25 and 50 cm</a:t>
            </a:r>
          </a:p>
        </p:txBody>
      </p:sp>
      <p:sp>
        <p:nvSpPr>
          <p:cNvPr id="10" name="">
            <a:extLst xmlns:a="http://schemas.openxmlformats.org/drawingml/2006/main">
              <a:ext uri="{FF2B5EF4-FFF2-40B4-BE49-F238E27FC236}">
                <a16:creationId xmlns:a16="http://schemas.microsoft.com/office/drawing/2014/main" id="{31E3C1F4-AB73-447E-B254-B1DF19FEA39F}"/>
              </a:ext>
            </a:extLst>
          </p:cNvPr>
          <p:cNvSpPr>
            <a:spLocks xmlns:a="http://schemas.openxmlformats.org/drawingml/2006/main" noGrp="1"/>
          </p:cNvSpPr>
          <p:nvPr/>
        </p:nvSpPr>
        <p:spPr>
          <a:xfrm xmlns:a="http://schemas.openxmlformats.org/drawingml/2006/main">
            <a:off x="533400" y="52197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BBD0C8"/>
                </a:solidFill>
                <a:latin typeface="Inter"/>
                <a:ea typeface="Inter"/>
                <a:cs typeface="Inter"/>
              </a:defRPr>
            </a:pPr>
            <a:r>
              <a:rPr sz="1425" b="0">
                <a:solidFill>
                  <a:srgbClr val="BBD0C8"/>
                </a:solidFill>
                <a:latin typeface="Inter"/>
                <a:ea typeface="Inter"/>
                <a:cs typeface="Inter"/>
              </a:rPr>
              <a:t>Depth-dependent attenuation and delay provide the raw signal for phase analysis.</a:t>
            </a:r>
          </a:p>
        </p:txBody>
      </p:sp>
      <p:sp>
        <p:nvSpPr>
          <p:cNvPr id="11" name="">
            <a:extLst xmlns:a="http://schemas.openxmlformats.org/drawingml/2006/main">
              <a:ext uri="{FF2B5EF4-FFF2-40B4-BE49-F238E27FC236}">
                <a16:creationId xmlns:a16="http://schemas.microsoft.com/office/drawing/2014/main" id="{8873D2D5-A976-4E5B-A4FE-4EF4E0EFFAFB}"/>
              </a:ext>
            </a:extLst>
          </p:cNvPr>
          <p:cNvSpPr>
            <a:spLocks xmlns:a="http://schemas.openxmlformats.org/drawingml/2006/main" noGrp="1"/>
          </p:cNvSpPr>
          <p:nvPr/>
        </p:nvSpPr>
        <p:spPr>
          <a:xfrm xmlns:a="http://schemas.openxmlformats.org/drawingml/2006/main">
            <a:off x="6762750" y="57912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0">
                <a:solidFill>
                  <a:srgbClr val="BBD0C8"/>
                </a:solidFill>
                <a:latin typeface="Inter"/>
                <a:ea typeface="Inter"/>
                <a:cs typeface="Inter"/>
              </a:defRPr>
            </a:pPr>
            <a:r>
              <a:rPr sz="900" b="0">
                <a:solidFill>
                  <a:srgbClr val="BBD0C8"/>
                </a:solidFill>
                <a:latin typeface="Inter"/>
                <a:ea typeface="Inter"/>
                <a:cs typeface="Inter"/>
              </a:rPr>
              <a:t>Photo: Daniel Oberhaus, CC BY-SA 4.0</a:t>
            </a:r>
          </a:p>
        </p:txBody>
      </p:sp>
    </p:spTree>
    <p:extLst>
      <p:ext uri="{BB962C8B-B14F-4D97-AF65-F5344CB8AC3E}">
        <p14:creationId xmlns:p14="http://schemas.microsoft.com/office/powerpoint/2010/main" val="1351960322"/>
      </p:ext>
    </p:extLst>
  </p:cSld>
</p:sld>
</file>

<file path=ppt/slides/slide4.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51628EE-691C-4938-85E0-6F137B75D689}"/>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RESEARCH DESIGN</a:t>
            </a:r>
          </a:p>
        </p:txBody>
      </p:sp>
      <p:sp>
        <p:nvSpPr>
          <p:cNvPr id="2" name="">
            <a:extLst xmlns:a="http://schemas.openxmlformats.org/drawingml/2006/main">
              <a:ext uri="{FF2B5EF4-FFF2-40B4-BE49-F238E27FC236}">
                <a16:creationId xmlns:a16="http://schemas.microsoft.com/office/drawing/2014/main" id="{5CD13BFC-D853-48B7-A66C-B4657D1C4C98}"/>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Three questions, three testable patterns</a:t>
            </a:r>
          </a:p>
        </p:txBody>
      </p:sp>
      <p:sp>
        <p:nvSpPr>
          <p:cNvPr id="3" name="">
            <a:extLst xmlns:a="http://schemas.openxmlformats.org/drawingml/2006/main">
              <a:ext uri="{FF2B5EF4-FFF2-40B4-BE49-F238E27FC236}">
                <a16:creationId xmlns:a16="http://schemas.microsoft.com/office/drawing/2014/main" id="{1BDCEC17-C176-45B5-8E87-FD2116036A65}"/>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4</a:t>
            </a:r>
          </a:p>
        </p:txBody>
      </p:sp>
      <p:sp>
        <p:nvSpPr>
          <p:cNvPr id="4" name="">
            <a:extLst xmlns:a="http://schemas.openxmlformats.org/drawingml/2006/main">
              <a:ext uri="{FF2B5EF4-FFF2-40B4-BE49-F238E27FC236}">
                <a16:creationId xmlns:a16="http://schemas.microsoft.com/office/drawing/2014/main" id="{ADF8B2CC-4043-43D5-A7F6-214A28B6E565}"/>
              </a:ext>
            </a:extLst>
          </p:cNvPr>
          <p:cNvSpPr>
            <a:spLocks xmlns:a="http://schemas.openxmlformats.org/drawingml/2006/main" noGrp="1"/>
          </p:cNvSpPr>
          <p:nvPr/>
        </p:nvSpPr>
        <p:spPr>
          <a:xfrm xmlns:a="http://schemas.openxmlformats.org/drawingml/2006/main">
            <a:off x="495300" y="15811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TRANSPORT</a:t>
            </a:r>
          </a:p>
        </p:txBody>
      </p:sp>
      <p:sp>
        <p:nvSpPr>
          <p:cNvPr id="5" name="">
            <a:extLst xmlns:a="http://schemas.openxmlformats.org/drawingml/2006/main">
              <a:ext uri="{FF2B5EF4-FFF2-40B4-BE49-F238E27FC236}">
                <a16:creationId xmlns:a16="http://schemas.microsoft.com/office/drawing/2014/main" id="{CC7337B1-7FDE-4B84-ACBE-1CF005BD26BF}"/>
              </a:ext>
            </a:extLst>
          </p:cNvPr>
          <p:cNvSpPr>
            <a:spLocks xmlns:a="http://schemas.openxmlformats.org/drawingml/2006/main" noGrp="1"/>
          </p:cNvSpPr>
          <p:nvPr/>
        </p:nvSpPr>
        <p:spPr>
          <a:xfrm xmlns:a="http://schemas.openxmlformats.org/drawingml/2006/main">
            <a:off x="495300" y="2076450"/>
            <a:ext cx="323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F7FBF8"/>
                </a:solidFill>
                <a:latin typeface="Inter"/>
                <a:ea typeface="Inter"/>
                <a:cs typeface="Inter"/>
              </a:defRPr>
            </a:pPr>
            <a:r>
              <a:rPr sz="1875" b="1">
                <a:solidFill>
                  <a:srgbClr val="F7FBF8"/>
                </a:solidFill>
                <a:latin typeface="Inter"/>
                <a:ea typeface="Inter"/>
                <a:cs typeface="Inter"/>
              </a:rPr>
              <a:t>How do delay and attenuation change with depth, time scale and moisture?</a:t>
            </a:r>
          </a:p>
        </p:txBody>
      </p:sp>
      <p:sp>
        <p:nvSpPr>
          <p:cNvPr id="6" name="">
            <a:extLst xmlns:a="http://schemas.openxmlformats.org/drawingml/2006/main">
              <a:ext uri="{FF2B5EF4-FFF2-40B4-BE49-F238E27FC236}">
                <a16:creationId xmlns:a16="http://schemas.microsoft.com/office/drawing/2014/main" id="{62F53009-9C3C-4F95-BF1E-C9E8F7A19D32}"/>
              </a:ext>
            </a:extLst>
          </p:cNvPr>
          <p:cNvSpPr>
            <a:spLocks xmlns:a="http://schemas.openxmlformats.org/drawingml/2006/main" noGrp="1"/>
          </p:cNvSpPr>
          <p:nvPr/>
        </p:nvSpPr>
        <p:spPr>
          <a:xfrm xmlns:a="http://schemas.openxmlformats.org/drawingml/2006/main" flipH="0" flipV="0">
            <a:off x="495300" y="3524250"/>
            <a:ext cx="3143250" cy="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7" name="">
            <a:extLst xmlns:a="http://schemas.openxmlformats.org/drawingml/2006/main">
              <a:ext uri="{FF2B5EF4-FFF2-40B4-BE49-F238E27FC236}">
                <a16:creationId xmlns:a16="http://schemas.microsoft.com/office/drawing/2014/main" id="{337C3386-7BE6-4FFE-A94A-45CD67B19BDE}"/>
              </a:ext>
            </a:extLst>
          </p:cNvPr>
          <p:cNvSpPr>
            <a:spLocks xmlns:a="http://schemas.openxmlformats.org/drawingml/2006/main" noGrp="1"/>
          </p:cNvSpPr>
          <p:nvPr/>
        </p:nvSpPr>
        <p:spPr>
          <a:xfrm xmlns:a="http://schemas.openxmlformats.org/drawingml/2006/main">
            <a:off x="495300" y="3790950"/>
            <a:ext cx="323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BBD0C8"/>
                </a:solidFill>
                <a:latin typeface="Inter"/>
                <a:ea typeface="Inter"/>
                <a:cs typeface="Inter"/>
              </a:defRPr>
            </a:pPr>
            <a:r>
              <a:rPr sz="1500" b="0">
                <a:solidFill>
                  <a:srgbClr val="BBD0C8"/>
                </a:solidFill>
                <a:latin typeface="Inter"/>
                <a:ea typeface="Inter"/>
                <a:cs typeface="Inter"/>
              </a:rPr>
              <a:t>Expected: coherent phase lag usually grows with depth under diffusion-dominated transport.</a:t>
            </a:r>
          </a:p>
        </p:txBody>
      </p:sp>
      <p:sp>
        <p:nvSpPr>
          <p:cNvPr id="8" name="">
            <a:extLst xmlns:a="http://schemas.openxmlformats.org/drawingml/2006/main">
              <a:ext uri="{FF2B5EF4-FFF2-40B4-BE49-F238E27FC236}">
                <a16:creationId xmlns:a16="http://schemas.microsoft.com/office/drawing/2014/main" id="{EDC15EB0-A8FB-40BC-8B66-D2A270663860}"/>
              </a:ext>
            </a:extLst>
          </p:cNvPr>
          <p:cNvSpPr>
            <a:spLocks xmlns:a="http://schemas.openxmlformats.org/drawingml/2006/main" noGrp="1"/>
          </p:cNvSpPr>
          <p:nvPr/>
        </p:nvSpPr>
        <p:spPr>
          <a:xfrm xmlns:a="http://schemas.openxmlformats.org/drawingml/2006/main">
            <a:off x="4305300" y="15811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SOURCE OR SINK</a:t>
            </a:r>
          </a:p>
        </p:txBody>
      </p:sp>
      <p:sp>
        <p:nvSpPr>
          <p:cNvPr id="9" name="">
            <a:extLst xmlns:a="http://schemas.openxmlformats.org/drawingml/2006/main">
              <a:ext uri="{FF2B5EF4-FFF2-40B4-BE49-F238E27FC236}">
                <a16:creationId xmlns:a16="http://schemas.microsoft.com/office/drawing/2014/main" id="{9F00202B-165F-4C3C-9EA5-69891ECEF084}"/>
              </a:ext>
            </a:extLst>
          </p:cNvPr>
          <p:cNvSpPr>
            <a:spLocks xmlns:a="http://schemas.openxmlformats.org/drawingml/2006/main" noGrp="1"/>
          </p:cNvSpPr>
          <p:nvPr/>
        </p:nvSpPr>
        <p:spPr>
          <a:xfrm xmlns:a="http://schemas.openxmlformats.org/drawingml/2006/main">
            <a:off x="4305300" y="2076450"/>
            <a:ext cx="323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F7FBF8"/>
                </a:solidFill>
                <a:latin typeface="Inter"/>
                <a:ea typeface="Inter"/>
                <a:cs typeface="Inter"/>
              </a:defRPr>
            </a:pPr>
            <a:r>
              <a:rPr sz="1875" b="1">
                <a:solidFill>
                  <a:srgbClr val="F7FBF8"/>
                </a:solidFill>
                <a:latin typeface="Inter"/>
                <a:ea typeface="Inter"/>
                <a:cs typeface="Inter"/>
              </a:rPr>
              <a:t>When does a deep signal require local production, consumption or advection?</a:t>
            </a:r>
          </a:p>
        </p:txBody>
      </p:sp>
      <p:sp>
        <p:nvSpPr>
          <p:cNvPr id="10" name="">
            <a:extLst xmlns:a="http://schemas.openxmlformats.org/drawingml/2006/main">
              <a:ext uri="{FF2B5EF4-FFF2-40B4-BE49-F238E27FC236}">
                <a16:creationId xmlns:a16="http://schemas.microsoft.com/office/drawing/2014/main" id="{2568F69C-771B-464B-B368-F73817F164E6}"/>
              </a:ext>
            </a:extLst>
          </p:cNvPr>
          <p:cNvSpPr>
            <a:spLocks xmlns:a="http://schemas.openxmlformats.org/drawingml/2006/main" noGrp="1"/>
          </p:cNvSpPr>
          <p:nvPr/>
        </p:nvSpPr>
        <p:spPr>
          <a:xfrm xmlns:a="http://schemas.openxmlformats.org/drawingml/2006/main" flipH="0" flipV="0">
            <a:off x="4305300" y="3524250"/>
            <a:ext cx="3143250" cy="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11" name="">
            <a:extLst xmlns:a="http://schemas.openxmlformats.org/drawingml/2006/main">
              <a:ext uri="{FF2B5EF4-FFF2-40B4-BE49-F238E27FC236}">
                <a16:creationId xmlns:a16="http://schemas.microsoft.com/office/drawing/2014/main" id="{7E40766E-105C-4D74-9F75-C0357F98AB6C}"/>
              </a:ext>
            </a:extLst>
          </p:cNvPr>
          <p:cNvSpPr>
            <a:spLocks xmlns:a="http://schemas.openxmlformats.org/drawingml/2006/main" noGrp="1"/>
          </p:cNvSpPr>
          <p:nvPr/>
        </p:nvSpPr>
        <p:spPr>
          <a:xfrm xmlns:a="http://schemas.openxmlformats.org/drawingml/2006/main">
            <a:off x="4305300" y="3790950"/>
            <a:ext cx="323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BBD0C8"/>
                </a:solidFill>
                <a:latin typeface="Inter"/>
                <a:ea typeface="Inter"/>
                <a:cs typeface="Inter"/>
              </a:defRPr>
            </a:pPr>
            <a:r>
              <a:rPr sz="1500" b="0">
                <a:solidFill>
                  <a:srgbClr val="BBD0C8"/>
                </a:solidFill>
                <a:latin typeface="Inter"/>
                <a:ea typeface="Inter"/>
                <a:cs typeface="Inter"/>
              </a:rPr>
              <a:t>Flag: depth ordering fails or a structured residual remains after the transport model.</a:t>
            </a:r>
          </a:p>
        </p:txBody>
      </p:sp>
      <p:sp>
        <p:nvSpPr>
          <p:cNvPr id="12" name="">
            <a:extLst xmlns:a="http://schemas.openxmlformats.org/drawingml/2006/main">
              <a:ext uri="{FF2B5EF4-FFF2-40B4-BE49-F238E27FC236}">
                <a16:creationId xmlns:a16="http://schemas.microsoft.com/office/drawing/2014/main" id="{7E694997-8FB5-4884-BE92-EC15A306A8E5}"/>
              </a:ext>
            </a:extLst>
          </p:cNvPr>
          <p:cNvSpPr>
            <a:spLocks xmlns:a="http://schemas.openxmlformats.org/drawingml/2006/main" noGrp="1"/>
          </p:cNvSpPr>
          <p:nvPr/>
        </p:nvSpPr>
        <p:spPr>
          <a:xfrm xmlns:a="http://schemas.openxmlformats.org/drawingml/2006/main">
            <a:off x="8115300" y="15811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EVOLUTION</a:t>
            </a:r>
          </a:p>
        </p:txBody>
      </p:sp>
      <p:sp>
        <p:nvSpPr>
          <p:cNvPr id="13" name="">
            <a:extLst xmlns:a="http://schemas.openxmlformats.org/drawingml/2006/main">
              <a:ext uri="{FF2B5EF4-FFF2-40B4-BE49-F238E27FC236}">
                <a16:creationId xmlns:a16="http://schemas.microsoft.com/office/drawing/2014/main" id="{D63AFE3A-3B97-4EBE-B6B6-4541D85ADE47}"/>
              </a:ext>
            </a:extLst>
          </p:cNvPr>
          <p:cNvSpPr>
            <a:spLocks xmlns:a="http://schemas.openxmlformats.org/drawingml/2006/main" noGrp="1"/>
          </p:cNvSpPr>
          <p:nvPr/>
        </p:nvSpPr>
        <p:spPr>
          <a:xfrm xmlns:a="http://schemas.openxmlformats.org/drawingml/2006/main">
            <a:off x="8115300" y="2076450"/>
            <a:ext cx="323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F7FBF8"/>
                </a:solidFill>
                <a:latin typeface="Inter"/>
                <a:ea typeface="Inter"/>
                <a:cs typeface="Inter"/>
              </a:defRPr>
            </a:pPr>
            <a:r>
              <a:rPr sz="1875" b="1">
                <a:solidFill>
                  <a:srgbClr val="F7FBF8"/>
                </a:solidFill>
                <a:latin typeface="Inter"/>
                <a:ea typeface="Inter"/>
                <a:cs typeface="Inter"/>
              </a:rPr>
              <a:t>Does the system return to a matched dry state after each rain cycle?</a:t>
            </a:r>
          </a:p>
        </p:txBody>
      </p:sp>
      <p:sp>
        <p:nvSpPr>
          <p:cNvPr id="14" name="">
            <a:extLst xmlns:a="http://schemas.openxmlformats.org/drawingml/2006/main">
              <a:ext uri="{FF2B5EF4-FFF2-40B4-BE49-F238E27FC236}">
                <a16:creationId xmlns:a16="http://schemas.microsoft.com/office/drawing/2014/main" id="{779E78B0-272C-407A-A276-337D268629D9}"/>
              </a:ext>
            </a:extLst>
          </p:cNvPr>
          <p:cNvSpPr>
            <a:spLocks xmlns:a="http://schemas.openxmlformats.org/drawingml/2006/main" noGrp="1"/>
          </p:cNvSpPr>
          <p:nvPr/>
        </p:nvSpPr>
        <p:spPr>
          <a:xfrm xmlns:a="http://schemas.openxmlformats.org/drawingml/2006/main" flipH="0" flipV="0">
            <a:off x="8115300" y="3524250"/>
            <a:ext cx="3143250" cy="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15" name="">
            <a:extLst xmlns:a="http://schemas.openxmlformats.org/drawingml/2006/main">
              <a:ext uri="{FF2B5EF4-FFF2-40B4-BE49-F238E27FC236}">
                <a16:creationId xmlns:a16="http://schemas.microsoft.com/office/drawing/2014/main" id="{9197BE77-7C3E-4CC9-ADAC-FBD51BCCF9E8}"/>
              </a:ext>
            </a:extLst>
          </p:cNvPr>
          <p:cNvSpPr>
            <a:spLocks xmlns:a="http://schemas.openxmlformats.org/drawingml/2006/main" noGrp="1"/>
          </p:cNvSpPr>
          <p:nvPr/>
        </p:nvSpPr>
        <p:spPr>
          <a:xfrm xmlns:a="http://schemas.openxmlformats.org/drawingml/2006/main">
            <a:off x="8115300" y="3790950"/>
            <a:ext cx="323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BBD0C8"/>
                </a:solidFill>
                <a:latin typeface="Inter"/>
                <a:ea typeface="Inter"/>
                <a:cs typeface="Inter"/>
              </a:defRPr>
            </a:pPr>
            <a:r>
              <a:rPr sz="1500" b="0">
                <a:solidFill>
                  <a:srgbClr val="BBD0C8"/>
                </a:solidFill>
                <a:latin typeface="Inter"/>
                <a:ea typeface="Inter"/>
                <a:cs typeface="Inter"/>
              </a:rPr>
              <a:t>Flag: event trajectories end away from the initial dry baseline after covariate matching.</a:t>
            </a:r>
          </a:p>
        </p:txBody>
      </p:sp>
      <p:sp>
        <p:nvSpPr>
          <p:cNvPr id="16" name="">
            <a:extLst xmlns:a="http://schemas.openxmlformats.org/drawingml/2006/main">
              <a:ext uri="{FF2B5EF4-FFF2-40B4-BE49-F238E27FC236}">
                <a16:creationId xmlns:a16="http://schemas.microsoft.com/office/drawing/2014/main" id="{31B02082-2F71-425F-BB32-EF278BAD2AC2}"/>
              </a:ext>
            </a:extLst>
          </p:cNvPr>
          <p:cNvSpPr>
            <a:spLocks xmlns:a="http://schemas.openxmlformats.org/drawingml/2006/main" noGrp="1"/>
          </p:cNvSpPr>
          <p:nvPr/>
        </p:nvSpPr>
        <p:spPr>
          <a:xfrm xmlns:a="http://schemas.openxmlformats.org/drawingml/2006/main">
            <a:off x="495300" y="5476875"/>
            <a:ext cx="10858500" cy="495300"/>
          </a:xfrm>
          <a:prstGeom xmlns:a="http://schemas.openxmlformats.org/drawingml/2006/main" prst="roundRect">
            <a:avLst>
              <a:gd name="adj" fmla="val 23077"/>
            </a:avLst>
          </a:prstGeom>
          <a:solidFill xmlns:a="http://schemas.openxmlformats.org/drawingml/2006/main">
            <a:srgbClr val="0E493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0C52AFF-6359-4A3A-8060-D630FBF32616}"/>
              </a:ext>
            </a:extLst>
          </p:cNvPr>
          <p:cNvSpPr>
            <a:spLocks xmlns:a="http://schemas.openxmlformats.org/drawingml/2006/main" noGrp="1"/>
          </p:cNvSpPr>
          <p:nvPr/>
        </p:nvSpPr>
        <p:spPr>
          <a:xfrm xmlns:a="http://schemas.openxmlformats.org/drawingml/2006/main">
            <a:off x="742950" y="5610225"/>
            <a:ext cx="1036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ctr">
              <a:defRPr sz="1425" b="1">
                <a:solidFill>
                  <a:srgbClr val="F7FBF8"/>
                </a:solidFill>
                <a:latin typeface="Inter"/>
                <a:ea typeface="Inter"/>
                <a:cs typeface="Inter"/>
              </a:defRPr>
            </a:pPr>
            <a:r>
              <a:rPr sz="1425" b="1">
                <a:solidFill>
                  <a:srgbClr val="F7FBF8"/>
                </a:solidFill>
                <a:latin typeface="Inter"/>
                <a:ea typeface="Inter"/>
                <a:cs typeface="Inter"/>
              </a:rPr>
              <a:t>A departure from the expected pattern identifies a question to test. It does not identify a mechanism by itself.</a:t>
            </a:r>
          </a:p>
        </p:txBody>
      </p:sp>
    </p:spTree>
    <p:extLst>
      <p:ext uri="{BB962C8B-B14F-4D97-AF65-F5344CB8AC3E}">
        <p14:creationId xmlns:p14="http://schemas.microsoft.com/office/powerpoint/2010/main" val="1725785854"/>
      </p:ext>
    </p:extLst>
  </p:cSld>
</p:sld>
</file>

<file path=ppt/slides/slide5.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8A91DE1-F5FF-4E99-AF68-DC7B403F4C62}"/>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MATERIAL AND DYNAMIC MODEL</a:t>
            </a:r>
          </a:p>
        </p:txBody>
      </p:sp>
      <p:sp>
        <p:nvSpPr>
          <p:cNvPr id="2" name="">
            <a:extLst xmlns:a="http://schemas.openxmlformats.org/drawingml/2006/main">
              <a:ext uri="{FF2B5EF4-FFF2-40B4-BE49-F238E27FC236}">
                <a16:creationId xmlns:a16="http://schemas.microsoft.com/office/drawing/2014/main" id="{BBB18275-5971-4299-8B59-3F020162E6C5}"/>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Parameters and their physical roles</a:t>
            </a:r>
          </a:p>
        </p:txBody>
      </p:sp>
      <p:sp>
        <p:nvSpPr>
          <p:cNvPr id="3" name="">
            <a:extLst xmlns:a="http://schemas.openxmlformats.org/drawingml/2006/main">
              <a:ext uri="{FF2B5EF4-FFF2-40B4-BE49-F238E27FC236}">
                <a16:creationId xmlns:a16="http://schemas.microsoft.com/office/drawing/2014/main" id="{DD020F00-363D-4A75-A46B-BD128FDB6171}"/>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5</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9cdbefd29154e14"/>
          <a:stretch xmlns:a="http://schemas.openxmlformats.org/drawingml/2006/main"/>
        </p:blipFill>
        <p:spPr>
          <a:xfrm xmlns:a="http://schemas.openxmlformats.org/drawingml/2006/main" rot="5400000">
            <a:off x="8098375" y="762000"/>
            <a:ext cx="2567499" cy="4629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A3634FD-1215-4B97-AB8F-D4F6B90F388C}"/>
              </a:ext>
            </a:extLst>
          </p:cNvPr>
          <p:cNvSpPr>
            <a:spLocks xmlns:a="http://schemas.openxmlformats.org/drawingml/2006/main" noGrp="1"/>
          </p:cNvSpPr>
          <p:nvPr/>
        </p:nvSpPr>
        <p:spPr>
          <a:xfrm xmlns:a="http://schemas.openxmlformats.org/drawingml/2006/main">
            <a:off x="495300" y="13525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SYMBOL AND VALUE</a:t>
            </a:r>
          </a:p>
        </p:txBody>
      </p:sp>
      <p:sp>
        <p:nvSpPr>
          <p:cNvPr id="6" name="">
            <a:extLst xmlns:a="http://schemas.openxmlformats.org/drawingml/2006/main">
              <a:ext uri="{FF2B5EF4-FFF2-40B4-BE49-F238E27FC236}">
                <a16:creationId xmlns:a16="http://schemas.microsoft.com/office/drawing/2014/main" id="{7B21AF95-3F52-4961-832E-C12A838EDE05}"/>
              </a:ext>
            </a:extLst>
          </p:cNvPr>
          <p:cNvSpPr>
            <a:spLocks xmlns:a="http://schemas.openxmlformats.org/drawingml/2006/main" noGrp="1"/>
          </p:cNvSpPr>
          <p:nvPr/>
        </p:nvSpPr>
        <p:spPr>
          <a:xfrm xmlns:a="http://schemas.openxmlformats.org/drawingml/2006/main">
            <a:off x="2762250" y="13525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MEANING</a:t>
            </a:r>
          </a:p>
        </p:txBody>
      </p:sp>
      <p:sp>
        <p:nvSpPr>
          <p:cNvPr id="7" name="">
            <a:extLst xmlns:a="http://schemas.openxmlformats.org/drawingml/2006/main">
              <a:ext uri="{FF2B5EF4-FFF2-40B4-BE49-F238E27FC236}">
                <a16:creationId xmlns:a16="http://schemas.microsoft.com/office/drawing/2014/main" id="{571DAE41-5831-43A8-AC2D-422BA6FF4320}"/>
              </a:ext>
            </a:extLst>
          </p:cNvPr>
          <p:cNvSpPr>
            <a:spLocks xmlns:a="http://schemas.openxmlformats.org/drawingml/2006/main" noGrp="1"/>
          </p:cNvSpPr>
          <p:nvPr/>
        </p:nvSpPr>
        <p:spPr>
          <a:xfrm xmlns:a="http://schemas.openxmlformats.org/drawingml/2006/main">
            <a:off x="4762500" y="135255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WHY IT MATTERS</a:t>
            </a:r>
          </a:p>
        </p:txBody>
      </p:sp>
      <p:sp>
        <p:nvSpPr>
          <p:cNvPr id="8" name="">
            <a:extLst xmlns:a="http://schemas.openxmlformats.org/drawingml/2006/main">
              <a:ext uri="{FF2B5EF4-FFF2-40B4-BE49-F238E27FC236}">
                <a16:creationId xmlns:a16="http://schemas.microsoft.com/office/drawing/2014/main" id="{97F60AAB-D537-403E-B5C1-D71FA51515B6}"/>
              </a:ext>
            </a:extLst>
          </p:cNvPr>
          <p:cNvSpPr>
            <a:spLocks xmlns:a="http://schemas.openxmlformats.org/drawingml/2006/main" noGrp="1"/>
          </p:cNvSpPr>
          <p:nvPr/>
        </p:nvSpPr>
        <p:spPr>
          <a:xfrm xmlns:a="http://schemas.openxmlformats.org/drawingml/2006/main">
            <a:off x="495300" y="17526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7FBF8"/>
                </a:solidFill>
                <a:latin typeface="Inter"/>
                <a:ea typeface="Inter"/>
                <a:cs typeface="Inter"/>
              </a:defRPr>
            </a:pPr>
            <a:r>
              <a:rPr sz="1350" b="1">
                <a:solidFill>
                  <a:srgbClr val="F7FBF8"/>
                </a:solidFill>
                <a:latin typeface="Inter"/>
                <a:ea typeface="Inter"/>
                <a:cs typeface="Inter"/>
              </a:rPr>
              <a:t>ρᵦ = 1.59 g cm⁻³</a:t>
            </a:r>
          </a:p>
        </p:txBody>
      </p:sp>
      <p:sp>
        <p:nvSpPr>
          <p:cNvPr id="9" name="">
            <a:extLst xmlns:a="http://schemas.openxmlformats.org/drawingml/2006/main">
              <a:ext uri="{FF2B5EF4-FFF2-40B4-BE49-F238E27FC236}">
                <a16:creationId xmlns:a16="http://schemas.microsoft.com/office/drawing/2014/main" id="{3DD3B888-F8EE-4E66-B7F7-5173D3E0BDD1}"/>
              </a:ext>
            </a:extLst>
          </p:cNvPr>
          <p:cNvSpPr>
            <a:spLocks xmlns:a="http://schemas.openxmlformats.org/drawingml/2006/main" noGrp="1"/>
          </p:cNvSpPr>
          <p:nvPr/>
        </p:nvSpPr>
        <p:spPr>
          <a:xfrm xmlns:a="http://schemas.openxmlformats.org/drawingml/2006/main">
            <a:off x="2762250" y="1752600"/>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Dry solid mass per bulk volume</a:t>
            </a:r>
          </a:p>
        </p:txBody>
      </p:sp>
      <p:sp>
        <p:nvSpPr>
          <p:cNvPr id="10" name="">
            <a:extLst xmlns:a="http://schemas.openxmlformats.org/drawingml/2006/main">
              <a:ext uri="{FF2B5EF4-FFF2-40B4-BE49-F238E27FC236}">
                <a16:creationId xmlns:a16="http://schemas.microsoft.com/office/drawing/2014/main" id="{70EBD103-0574-4986-AD12-8E1114D22457}"/>
              </a:ext>
            </a:extLst>
          </p:cNvPr>
          <p:cNvSpPr>
            <a:spLocks xmlns:a="http://schemas.openxmlformats.org/drawingml/2006/main" noGrp="1"/>
          </p:cNvSpPr>
          <p:nvPr/>
        </p:nvSpPr>
        <p:spPr>
          <a:xfrm xmlns:a="http://schemas.openxmlformats.org/drawingml/2006/main">
            <a:off x="4762500" y="1752600"/>
            <a:ext cx="2076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BBD0C8"/>
                </a:solidFill>
                <a:latin typeface="Inter"/>
                <a:ea typeface="Inter"/>
                <a:cs typeface="Inter"/>
              </a:defRPr>
            </a:pPr>
            <a:r>
              <a:rPr sz="1275" b="0">
                <a:solidFill>
                  <a:srgbClr val="BBD0C8"/>
                </a:solidFill>
                <a:latin typeface="Inter"/>
                <a:ea typeface="Inter"/>
                <a:cs typeface="Inter"/>
              </a:rPr>
              <a:t>Packing and total pore space</a:t>
            </a:r>
          </a:p>
        </p:txBody>
      </p:sp>
      <p:sp>
        <p:nvSpPr>
          <p:cNvPr id="11" name="">
            <a:extLst xmlns:a="http://schemas.openxmlformats.org/drawingml/2006/main">
              <a:ext uri="{FF2B5EF4-FFF2-40B4-BE49-F238E27FC236}">
                <a16:creationId xmlns:a16="http://schemas.microsoft.com/office/drawing/2014/main" id="{88824BCB-46FB-4697-87A5-017CB5B2471F}"/>
              </a:ext>
            </a:extLst>
          </p:cNvPr>
          <p:cNvSpPr>
            <a:spLocks xmlns:a="http://schemas.openxmlformats.org/drawingml/2006/main" noGrp="1"/>
          </p:cNvSpPr>
          <p:nvPr/>
        </p:nvSpPr>
        <p:spPr>
          <a:xfrm xmlns:a="http://schemas.openxmlformats.org/drawingml/2006/main">
            <a:off x="495300" y="24955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7FBF8"/>
                </a:solidFill>
                <a:latin typeface="Inter"/>
                <a:ea typeface="Inter"/>
                <a:cs typeface="Inter"/>
              </a:defRPr>
            </a:pPr>
            <a:r>
              <a:rPr sz="1350" b="1">
                <a:solidFill>
                  <a:srgbClr val="F7FBF8"/>
                </a:solidFill>
                <a:latin typeface="Inter"/>
                <a:ea typeface="Inter"/>
                <a:cs typeface="Inter"/>
              </a:rPr>
              <a:t>φ ≈ 0.39</a:t>
            </a:r>
          </a:p>
        </p:txBody>
      </p:sp>
      <p:sp>
        <p:nvSpPr>
          <p:cNvPr id="12" name="">
            <a:extLst xmlns:a="http://schemas.openxmlformats.org/drawingml/2006/main">
              <a:ext uri="{FF2B5EF4-FFF2-40B4-BE49-F238E27FC236}">
                <a16:creationId xmlns:a16="http://schemas.microsoft.com/office/drawing/2014/main" id="{907D3C8A-C9B1-43DA-95D7-480EE36E6FDD}"/>
              </a:ext>
            </a:extLst>
          </p:cNvPr>
          <p:cNvSpPr>
            <a:spLocks xmlns:a="http://schemas.openxmlformats.org/drawingml/2006/main" noGrp="1"/>
          </p:cNvSpPr>
          <p:nvPr/>
        </p:nvSpPr>
        <p:spPr>
          <a:xfrm xmlns:a="http://schemas.openxmlformats.org/drawingml/2006/main">
            <a:off x="2762250" y="2495550"/>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Total pore-volume fraction</a:t>
            </a:r>
          </a:p>
        </p:txBody>
      </p:sp>
      <p:sp>
        <p:nvSpPr>
          <p:cNvPr id="13" name="">
            <a:extLst xmlns:a="http://schemas.openxmlformats.org/drawingml/2006/main">
              <a:ext uri="{FF2B5EF4-FFF2-40B4-BE49-F238E27FC236}">
                <a16:creationId xmlns:a16="http://schemas.microsoft.com/office/drawing/2014/main" id="{4F638530-EF69-4A13-8805-9A842D9BB6A1}"/>
              </a:ext>
            </a:extLst>
          </p:cNvPr>
          <p:cNvSpPr>
            <a:spLocks xmlns:a="http://schemas.openxmlformats.org/drawingml/2006/main" noGrp="1"/>
          </p:cNvSpPr>
          <p:nvPr/>
        </p:nvSpPr>
        <p:spPr>
          <a:xfrm xmlns:a="http://schemas.openxmlformats.org/drawingml/2006/main">
            <a:off x="4762500" y="2495550"/>
            <a:ext cx="2076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BBD0C8"/>
                </a:solidFill>
                <a:latin typeface="Inter"/>
                <a:ea typeface="Inter"/>
                <a:cs typeface="Inter"/>
              </a:defRPr>
            </a:pPr>
            <a:r>
              <a:rPr sz="1275" b="0">
                <a:solidFill>
                  <a:srgbClr val="BBD0C8"/>
                </a:solidFill>
                <a:latin typeface="Inter"/>
                <a:ea typeface="Inter"/>
                <a:cs typeface="Inter"/>
              </a:rPr>
              <a:t>Upper bound on gas- and water-filled porosity</a:t>
            </a:r>
          </a:p>
        </p:txBody>
      </p:sp>
      <p:sp>
        <p:nvSpPr>
          <p:cNvPr id="14" name="">
            <a:extLst xmlns:a="http://schemas.openxmlformats.org/drawingml/2006/main">
              <a:ext uri="{FF2B5EF4-FFF2-40B4-BE49-F238E27FC236}">
                <a16:creationId xmlns:a16="http://schemas.microsoft.com/office/drawing/2014/main" id="{C47939E5-3185-4C22-A145-BF056923973B}"/>
              </a:ext>
            </a:extLst>
          </p:cNvPr>
          <p:cNvSpPr>
            <a:spLocks xmlns:a="http://schemas.openxmlformats.org/drawingml/2006/main" noGrp="1"/>
          </p:cNvSpPr>
          <p:nvPr/>
        </p:nvSpPr>
        <p:spPr>
          <a:xfrm xmlns:a="http://schemas.openxmlformats.org/drawingml/2006/main">
            <a:off x="495300" y="32385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7FBF8"/>
                </a:solidFill>
                <a:latin typeface="Inter"/>
                <a:ea typeface="Inter"/>
                <a:cs typeface="Inter"/>
              </a:defRPr>
            </a:pPr>
            <a:r>
              <a:rPr sz="1350" b="1">
                <a:solidFill>
                  <a:srgbClr val="F7FBF8"/>
                </a:solidFill>
                <a:latin typeface="Inter"/>
                <a:ea typeface="Inter"/>
                <a:cs typeface="Inter"/>
              </a:rPr>
              <a:t>Kₛₐₜ = 1.92 m d⁻¹</a:t>
            </a:r>
          </a:p>
        </p:txBody>
      </p:sp>
      <p:sp>
        <p:nvSpPr>
          <p:cNvPr id="15" name="">
            <a:extLst xmlns:a="http://schemas.openxmlformats.org/drawingml/2006/main">
              <a:ext uri="{FF2B5EF4-FFF2-40B4-BE49-F238E27FC236}">
                <a16:creationId xmlns:a16="http://schemas.microsoft.com/office/drawing/2014/main" id="{E4FEA4A4-765B-4A59-B9E9-93F8F867BDB4}"/>
              </a:ext>
            </a:extLst>
          </p:cNvPr>
          <p:cNvSpPr>
            <a:spLocks xmlns:a="http://schemas.openxmlformats.org/drawingml/2006/main" noGrp="1"/>
          </p:cNvSpPr>
          <p:nvPr/>
        </p:nvSpPr>
        <p:spPr>
          <a:xfrm xmlns:a="http://schemas.openxmlformats.org/drawingml/2006/main">
            <a:off x="2762250" y="3238500"/>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Saturated hydraulic conductivity</a:t>
            </a:r>
          </a:p>
        </p:txBody>
      </p:sp>
      <p:sp>
        <p:nvSpPr>
          <p:cNvPr id="16" name="">
            <a:extLst xmlns:a="http://schemas.openxmlformats.org/drawingml/2006/main">
              <a:ext uri="{FF2B5EF4-FFF2-40B4-BE49-F238E27FC236}">
                <a16:creationId xmlns:a16="http://schemas.microsoft.com/office/drawing/2014/main" id="{8571C9D0-B916-4D01-91C2-6015F3193DC9}"/>
              </a:ext>
            </a:extLst>
          </p:cNvPr>
          <p:cNvSpPr>
            <a:spLocks xmlns:a="http://schemas.openxmlformats.org/drawingml/2006/main" noGrp="1"/>
          </p:cNvSpPr>
          <p:nvPr/>
        </p:nvSpPr>
        <p:spPr>
          <a:xfrm xmlns:a="http://schemas.openxmlformats.org/drawingml/2006/main">
            <a:off x="4762500" y="3238500"/>
            <a:ext cx="2076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BBD0C8"/>
                </a:solidFill>
                <a:latin typeface="Inter"/>
                <a:ea typeface="Inter"/>
                <a:cs typeface="Inter"/>
              </a:defRPr>
            </a:pPr>
            <a:r>
              <a:rPr sz="1275" b="0">
                <a:solidFill>
                  <a:srgbClr val="BBD0C8"/>
                </a:solidFill>
                <a:latin typeface="Inter"/>
                <a:ea typeface="Inter"/>
                <a:cs typeface="Inter"/>
              </a:rPr>
              <a:t>Drainage capacity, not CO₂ diffusivity</a:t>
            </a:r>
          </a:p>
        </p:txBody>
      </p:sp>
      <p:sp>
        <p:nvSpPr>
          <p:cNvPr id="17" name="">
            <a:extLst xmlns:a="http://schemas.openxmlformats.org/drawingml/2006/main">
              <a:ext uri="{FF2B5EF4-FFF2-40B4-BE49-F238E27FC236}">
                <a16:creationId xmlns:a16="http://schemas.microsoft.com/office/drawing/2014/main" id="{956C8C50-C115-45CE-BCB5-28FD0538DC12}"/>
              </a:ext>
            </a:extLst>
          </p:cNvPr>
          <p:cNvSpPr>
            <a:spLocks xmlns:a="http://schemas.openxmlformats.org/drawingml/2006/main" noGrp="1"/>
          </p:cNvSpPr>
          <p:nvPr/>
        </p:nvSpPr>
        <p:spPr>
          <a:xfrm xmlns:a="http://schemas.openxmlformats.org/drawingml/2006/main">
            <a:off x="495300" y="398145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7FBF8"/>
                </a:solidFill>
                <a:latin typeface="Inter"/>
                <a:ea typeface="Inter"/>
                <a:cs typeface="Inter"/>
              </a:defRPr>
            </a:pPr>
            <a:r>
              <a:rPr sz="1350" b="1">
                <a:solidFill>
                  <a:srgbClr val="F7FBF8"/>
                </a:solidFill>
                <a:latin typeface="Inter"/>
                <a:ea typeface="Inter"/>
                <a:cs typeface="Inter"/>
              </a:rPr>
              <a:t>OC₀ = 0.07 g kg⁻¹</a:t>
            </a:r>
          </a:p>
        </p:txBody>
      </p:sp>
      <p:sp>
        <p:nvSpPr>
          <p:cNvPr id="18" name="">
            <a:extLst xmlns:a="http://schemas.openxmlformats.org/drawingml/2006/main">
              <a:ext uri="{FF2B5EF4-FFF2-40B4-BE49-F238E27FC236}">
                <a16:creationId xmlns:a16="http://schemas.microsoft.com/office/drawing/2014/main" id="{E9C0D0D7-6CBB-40E4-8DAE-AF3402E3C7C9}"/>
              </a:ext>
            </a:extLst>
          </p:cNvPr>
          <p:cNvSpPr>
            <a:spLocks xmlns:a="http://schemas.openxmlformats.org/drawingml/2006/main" noGrp="1"/>
          </p:cNvSpPr>
          <p:nvPr/>
        </p:nvSpPr>
        <p:spPr>
          <a:xfrm xmlns:a="http://schemas.openxmlformats.org/drawingml/2006/main">
            <a:off x="2762250" y="3981450"/>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Initial organic carbon</a:t>
            </a:r>
          </a:p>
        </p:txBody>
      </p:sp>
      <p:sp>
        <p:nvSpPr>
          <p:cNvPr id="19" name="">
            <a:extLst xmlns:a="http://schemas.openxmlformats.org/drawingml/2006/main">
              <a:ext uri="{FF2B5EF4-FFF2-40B4-BE49-F238E27FC236}">
                <a16:creationId xmlns:a16="http://schemas.microsoft.com/office/drawing/2014/main" id="{DD52820B-8BFE-4791-A06D-6D7E77A304A0}"/>
              </a:ext>
            </a:extLst>
          </p:cNvPr>
          <p:cNvSpPr>
            <a:spLocks xmlns:a="http://schemas.openxmlformats.org/drawingml/2006/main" noGrp="1"/>
          </p:cNvSpPr>
          <p:nvPr/>
        </p:nvSpPr>
        <p:spPr>
          <a:xfrm xmlns:a="http://schemas.openxmlformats.org/drawingml/2006/main">
            <a:off x="4762500" y="3981450"/>
            <a:ext cx="2076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BBD0C8"/>
                </a:solidFill>
                <a:latin typeface="Inter"/>
                <a:ea typeface="Inter"/>
                <a:cs typeface="Inter"/>
              </a:defRPr>
            </a:pPr>
            <a:r>
              <a:rPr sz="1275" b="0">
                <a:solidFill>
                  <a:srgbClr val="BBD0C8"/>
                </a:solidFill>
                <a:latin typeface="Inter"/>
                <a:ea typeface="Inter"/>
                <a:cs typeface="Inter"/>
              </a:rPr>
              <a:t>Starting biological source potential</a:t>
            </a:r>
          </a:p>
        </p:txBody>
      </p:sp>
      <p:sp>
        <p:nvSpPr>
          <p:cNvPr id="20" name="">
            <a:extLst xmlns:a="http://schemas.openxmlformats.org/drawingml/2006/main">
              <a:ext uri="{FF2B5EF4-FFF2-40B4-BE49-F238E27FC236}">
                <a16:creationId xmlns:a16="http://schemas.microsoft.com/office/drawing/2014/main" id="{0E472159-3E37-4845-9302-12900B57ADD9}"/>
              </a:ext>
            </a:extLst>
          </p:cNvPr>
          <p:cNvSpPr>
            <a:spLocks xmlns:a="http://schemas.openxmlformats.org/drawingml/2006/main" noGrp="1"/>
          </p:cNvSpPr>
          <p:nvPr/>
        </p:nvSpPr>
        <p:spPr>
          <a:xfrm xmlns:a="http://schemas.openxmlformats.org/drawingml/2006/main">
            <a:off x="419100" y="4648200"/>
            <a:ext cx="6477000" cy="685800"/>
          </a:xfrm>
          <a:prstGeom xmlns:a="http://schemas.openxmlformats.org/drawingml/2006/main" prst="roundRect">
            <a:avLst>
              <a:gd name="adj" fmla="val 13889"/>
            </a:avLst>
          </a:prstGeom>
          <a:solidFill xmlns:a="http://schemas.openxmlformats.org/drawingml/2006/main">
            <a:srgbClr val="0E49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8CCB204-2E43-45A3-AD24-1776BF34631D}"/>
              </a:ext>
            </a:extLst>
          </p:cNvPr>
          <p:cNvSpPr>
            <a:spLocks xmlns:a="http://schemas.openxmlformats.org/drawingml/2006/main" noGrp="1"/>
          </p:cNvSpPr>
          <p:nvPr/>
        </p:nvSpPr>
        <p:spPr>
          <a:xfrm xmlns:a="http://schemas.openxmlformats.org/drawingml/2006/main">
            <a:off x="495300" y="47244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F6AE3E"/>
                </a:solidFill>
                <a:latin typeface="Inter"/>
                <a:ea typeface="Inter"/>
                <a:cs typeface="Inter"/>
              </a:defRPr>
            </a:pPr>
            <a:r>
              <a:rPr sz="1350" b="1">
                <a:solidFill>
                  <a:srgbClr val="F6AE3E"/>
                </a:solidFill>
                <a:latin typeface="Inter"/>
                <a:ea typeface="Inter"/>
                <a:cs typeface="Inter"/>
              </a:rPr>
              <a:t>Dₑff, kᵣ, S(z,t)</a:t>
            </a:r>
          </a:p>
        </p:txBody>
      </p:sp>
      <p:sp>
        <p:nvSpPr>
          <p:cNvPr id="22" name="">
            <a:extLst xmlns:a="http://schemas.openxmlformats.org/drawingml/2006/main">
              <a:ext uri="{FF2B5EF4-FFF2-40B4-BE49-F238E27FC236}">
                <a16:creationId xmlns:a16="http://schemas.microsoft.com/office/drawing/2014/main" id="{BA11D0DA-D123-434A-B1D2-72AFD6373FB4}"/>
              </a:ext>
            </a:extLst>
          </p:cNvPr>
          <p:cNvSpPr>
            <a:spLocks xmlns:a="http://schemas.openxmlformats.org/drawingml/2006/main" noGrp="1"/>
          </p:cNvSpPr>
          <p:nvPr/>
        </p:nvSpPr>
        <p:spPr>
          <a:xfrm xmlns:a="http://schemas.openxmlformats.org/drawingml/2006/main">
            <a:off x="2762250" y="4724400"/>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Fitted transport, net removal and local source</a:t>
            </a:r>
          </a:p>
        </p:txBody>
      </p:sp>
      <p:sp>
        <p:nvSpPr>
          <p:cNvPr id="23" name="">
            <a:extLst xmlns:a="http://schemas.openxmlformats.org/drawingml/2006/main">
              <a:ext uri="{FF2B5EF4-FFF2-40B4-BE49-F238E27FC236}">
                <a16:creationId xmlns:a16="http://schemas.microsoft.com/office/drawing/2014/main" id="{937926AD-7DB7-4C02-A759-A3D69D307154}"/>
              </a:ext>
            </a:extLst>
          </p:cNvPr>
          <p:cNvSpPr>
            <a:spLocks xmlns:a="http://schemas.openxmlformats.org/drawingml/2006/main" noGrp="1"/>
          </p:cNvSpPr>
          <p:nvPr/>
        </p:nvSpPr>
        <p:spPr>
          <a:xfrm xmlns:a="http://schemas.openxmlformats.org/drawingml/2006/main">
            <a:off x="4762500" y="4724400"/>
            <a:ext cx="2076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BBD0C8"/>
                </a:solidFill>
                <a:latin typeface="Inter"/>
                <a:ea typeface="Inter"/>
                <a:cs typeface="Inter"/>
              </a:defRPr>
            </a:pPr>
            <a:r>
              <a:rPr sz="1275" b="0">
                <a:solidFill>
                  <a:srgbClr val="BBD0C8"/>
                </a:solidFill>
                <a:latin typeface="Inter"/>
                <a:ea typeface="Inter"/>
                <a:cs typeface="Inter"/>
              </a:rPr>
              <a:t>Dynamic quantities estimated by state or event</a:t>
            </a:r>
          </a:p>
        </p:txBody>
      </p:sp>
      <p:sp>
        <p:nvSpPr>
          <p:cNvPr id="24" name="">
            <a:extLst xmlns:a="http://schemas.openxmlformats.org/drawingml/2006/main">
              <a:ext uri="{FF2B5EF4-FFF2-40B4-BE49-F238E27FC236}">
                <a16:creationId xmlns:a16="http://schemas.microsoft.com/office/drawing/2014/main" id="{E7DF63F3-E470-4992-9AF3-95E0B3B57BAC}"/>
              </a:ext>
            </a:extLst>
          </p:cNvPr>
          <p:cNvSpPr>
            <a:spLocks xmlns:a="http://schemas.openxmlformats.org/drawingml/2006/main" noGrp="1"/>
          </p:cNvSpPr>
          <p:nvPr/>
        </p:nvSpPr>
        <p:spPr>
          <a:xfrm xmlns:a="http://schemas.openxmlformats.org/drawingml/2006/main">
            <a:off x="7219950" y="44386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B7F23A"/>
                </a:solidFill>
                <a:latin typeface="Inter"/>
                <a:ea typeface="Inter"/>
                <a:cs typeface="Inter"/>
              </a:defRPr>
            </a:pPr>
            <a:r>
              <a:rPr sz="1125" b="1">
                <a:solidFill>
                  <a:srgbClr val="B7F23A"/>
                </a:solidFill>
                <a:latin typeface="Inter"/>
                <a:ea typeface="Inter"/>
                <a:cs typeface="Inter"/>
              </a:rPr>
              <a:t>Published sensor map</a:t>
            </a:r>
          </a:p>
        </p:txBody>
      </p:sp>
      <p:sp>
        <p:nvSpPr>
          <p:cNvPr id="25" name="">
            <a:extLst xmlns:a="http://schemas.openxmlformats.org/drawingml/2006/main">
              <a:ext uri="{FF2B5EF4-FFF2-40B4-BE49-F238E27FC236}">
                <a16:creationId xmlns:a16="http://schemas.microsoft.com/office/drawing/2014/main" id="{F41B8149-6641-4812-B793-A2AA83474907}"/>
              </a:ext>
            </a:extLst>
          </p:cNvPr>
          <p:cNvSpPr>
            <a:spLocks xmlns:a="http://schemas.openxmlformats.org/drawingml/2006/main" noGrp="1"/>
          </p:cNvSpPr>
          <p:nvPr/>
        </p:nvSpPr>
        <p:spPr>
          <a:xfrm xmlns:a="http://schemas.openxmlformats.org/drawingml/2006/main">
            <a:off x="7200900" y="4800600"/>
            <a:ext cx="4343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Texture: 84.6% sand, 12.2% silt, 3.2% clay. Air-filled porosity is approximated by φₐ = φ − θᵥ, so wetting can sharply reduce connected gas pathways.</a:t>
            </a:r>
          </a:p>
        </p:txBody>
      </p:sp>
      <p:sp>
        <p:nvSpPr>
          <p:cNvPr id="26" name="">
            <a:extLst xmlns:a="http://schemas.openxmlformats.org/drawingml/2006/main">
              <a:ext uri="{FF2B5EF4-FFF2-40B4-BE49-F238E27FC236}">
                <a16:creationId xmlns:a16="http://schemas.microsoft.com/office/drawing/2014/main" id="{41A0E544-32DB-45C7-8D37-0CC00FDF45C8}"/>
              </a:ext>
            </a:extLst>
          </p:cNvPr>
          <p:cNvSpPr>
            <a:spLocks xmlns:a="http://schemas.openxmlformats.org/drawingml/2006/main" noGrp="1"/>
          </p:cNvSpPr>
          <p:nvPr/>
        </p:nvSpPr>
        <p:spPr>
          <a:xfrm xmlns:a="http://schemas.openxmlformats.org/drawingml/2006/main">
            <a:off x="7200900" y="57721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825" b="0">
                <a:solidFill>
                  <a:srgbClr val="BBD0C8"/>
                </a:solidFill>
                <a:latin typeface="Inter"/>
                <a:ea typeface="Inter"/>
                <a:cs typeface="Inter"/>
              </a:defRPr>
            </a:pPr>
            <a:r>
              <a:rPr sz="825" b="0">
                <a:solidFill>
                  <a:srgbClr val="BBD0C8"/>
                </a:solidFill>
                <a:latin typeface="Inter"/>
                <a:ea typeface="Inter"/>
                <a:cs typeface="Inter"/>
              </a:rPr>
              <a:t>Initial material values: Pohlmann et al. (2016). Sensor map: Sengupta et al. (2018).</a:t>
            </a:r>
          </a:p>
        </p:txBody>
      </p:sp>
    </p:spTree>
    <p:extLst>
      <p:ext uri="{BB962C8B-B14F-4D97-AF65-F5344CB8AC3E}">
        <p14:creationId xmlns:p14="http://schemas.microsoft.com/office/powerpoint/2010/main" val="192001914"/>
      </p:ext>
    </p:extLst>
  </p:cSld>
</p:sld>
</file>

<file path=ppt/slides/slide6.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89DCA100-1C5D-4104-8F3A-F5C118278D47}"/>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INFERENTIAL CHAIN</a:t>
            </a:r>
          </a:p>
        </p:txBody>
      </p:sp>
      <p:sp>
        <p:nvSpPr>
          <p:cNvPr id="2" name="">
            <a:extLst xmlns:a="http://schemas.openxmlformats.org/drawingml/2006/main">
              <a:ext uri="{FF2B5EF4-FFF2-40B4-BE49-F238E27FC236}">
                <a16:creationId xmlns:a16="http://schemas.microsoft.com/office/drawing/2014/main" id="{D7B6FE7E-806A-466F-8D0B-932399E41B46}"/>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From sensor records to a defensible claim</a:t>
            </a:r>
          </a:p>
        </p:txBody>
      </p:sp>
      <p:sp>
        <p:nvSpPr>
          <p:cNvPr id="3" name="">
            <a:extLst xmlns:a="http://schemas.openxmlformats.org/drawingml/2006/main">
              <a:ext uri="{FF2B5EF4-FFF2-40B4-BE49-F238E27FC236}">
                <a16:creationId xmlns:a16="http://schemas.microsoft.com/office/drawing/2014/main" id="{0826BA6A-DB7D-4AB6-96B9-0B13C88130C6}"/>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6</a:t>
            </a:r>
          </a:p>
        </p:txBody>
      </p:sp>
      <p:sp>
        <p:nvSpPr>
          <p:cNvPr id="4" name="">
            <a:extLst xmlns:a="http://schemas.openxmlformats.org/drawingml/2006/main">
              <a:ext uri="{FF2B5EF4-FFF2-40B4-BE49-F238E27FC236}">
                <a16:creationId xmlns:a16="http://schemas.microsoft.com/office/drawing/2014/main" id="{D1AB022B-E7EA-4795-BF68-554FBEC57AE2}"/>
              </a:ext>
            </a:extLst>
          </p:cNvPr>
          <p:cNvSpPr>
            <a:spLocks xmlns:a="http://schemas.openxmlformats.org/drawingml/2006/main" noGrp="1"/>
          </p:cNvSpPr>
          <p:nvPr/>
        </p:nvSpPr>
        <p:spPr>
          <a:xfrm xmlns:a="http://schemas.openxmlformats.org/drawingml/2006/main">
            <a:off x="581025" y="1352550"/>
            <a:ext cx="400050" cy="4000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868EF2-8C1B-4F28-A4B4-9458C7047DD6}"/>
              </a:ext>
            </a:extLst>
          </p:cNvPr>
          <p:cNvSpPr>
            <a:spLocks xmlns:a="http://schemas.openxmlformats.org/drawingml/2006/main" noGrp="1"/>
          </p:cNvSpPr>
          <p:nvPr/>
        </p:nvSpPr>
        <p:spPr>
          <a:xfrm xmlns:a="http://schemas.openxmlformats.org/drawingml/2006/main">
            <a:off x="619125" y="1409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231D"/>
                </a:solidFill>
                <a:latin typeface="Inter"/>
                <a:ea typeface="Inter"/>
                <a:cs typeface="Inter"/>
              </a:defRPr>
            </a:pPr>
            <a:r>
              <a:rPr sz="1350" b="1">
                <a:solidFill>
                  <a:srgbClr val="10231D"/>
                </a:solidFill>
                <a:latin typeface="Inter"/>
                <a:ea typeface="Inter"/>
                <a:cs typeface="Inter"/>
              </a:rPr>
              <a:t>1</a:t>
            </a:r>
          </a:p>
        </p:txBody>
      </p:sp>
      <p:sp>
        <p:nvSpPr>
          <p:cNvPr id="6" name="">
            <a:extLst xmlns:a="http://schemas.openxmlformats.org/drawingml/2006/main">
              <a:ext uri="{FF2B5EF4-FFF2-40B4-BE49-F238E27FC236}">
                <a16:creationId xmlns:a16="http://schemas.microsoft.com/office/drawing/2014/main" id="{7D3E58BD-E226-4AB3-8C60-C648DAFA1FDB}"/>
              </a:ext>
            </a:extLst>
          </p:cNvPr>
          <p:cNvSpPr>
            <a:spLocks xmlns:a="http://schemas.openxmlformats.org/drawingml/2006/main" noGrp="1"/>
          </p:cNvSpPr>
          <p:nvPr/>
        </p:nvSpPr>
        <p:spPr>
          <a:xfrm xmlns:a="http://schemas.openxmlformats.org/drawingml/2006/main">
            <a:off x="1190625" y="13716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Synchronize and screen</a:t>
            </a:r>
          </a:p>
        </p:txBody>
      </p:sp>
      <p:sp>
        <p:nvSpPr>
          <p:cNvPr id="7" name="">
            <a:extLst xmlns:a="http://schemas.openxmlformats.org/drawingml/2006/main">
              <a:ext uri="{FF2B5EF4-FFF2-40B4-BE49-F238E27FC236}">
                <a16:creationId xmlns:a16="http://schemas.microsoft.com/office/drawing/2014/main" id="{A5504370-32C3-464D-B960-05601F3F94CB}"/>
              </a:ext>
            </a:extLst>
          </p:cNvPr>
          <p:cNvSpPr>
            <a:spLocks xmlns:a="http://schemas.openxmlformats.org/drawingml/2006/main" noGrp="1"/>
          </p:cNvSpPr>
          <p:nvPr/>
        </p:nvSpPr>
        <p:spPr>
          <a:xfrm xmlns:a="http://schemas.openxmlformats.org/drawingml/2006/main">
            <a:off x="4810125" y="13716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Clean, aligned records</a:t>
            </a:r>
          </a:p>
        </p:txBody>
      </p:sp>
      <p:sp>
        <p:nvSpPr>
          <p:cNvPr id="8" name="">
            <a:extLst xmlns:a="http://schemas.openxmlformats.org/drawingml/2006/main">
              <a:ext uri="{FF2B5EF4-FFF2-40B4-BE49-F238E27FC236}">
                <a16:creationId xmlns:a16="http://schemas.microsoft.com/office/drawing/2014/main" id="{76A94C7D-F3C7-4E22-BAD4-5AA0B93ECE18}"/>
              </a:ext>
            </a:extLst>
          </p:cNvPr>
          <p:cNvSpPr>
            <a:spLocks xmlns:a="http://schemas.openxmlformats.org/drawingml/2006/main" noGrp="1"/>
          </p:cNvSpPr>
          <p:nvPr/>
        </p:nvSpPr>
        <p:spPr>
          <a:xfrm xmlns:a="http://schemas.openxmlformats.org/drawingml/2006/main" flipH="0" flipV="0">
            <a:off x="781050" y="1771650"/>
            <a:ext cx="0" cy="28575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9" name="">
            <a:extLst xmlns:a="http://schemas.openxmlformats.org/drawingml/2006/main">
              <a:ext uri="{FF2B5EF4-FFF2-40B4-BE49-F238E27FC236}">
                <a16:creationId xmlns:a16="http://schemas.microsoft.com/office/drawing/2014/main" id="{ACE7E6DC-217D-4862-AABA-585A727336B5}"/>
              </a:ext>
            </a:extLst>
          </p:cNvPr>
          <p:cNvSpPr>
            <a:spLocks xmlns:a="http://schemas.openxmlformats.org/drawingml/2006/main" noGrp="1"/>
          </p:cNvSpPr>
          <p:nvPr/>
        </p:nvSpPr>
        <p:spPr>
          <a:xfrm xmlns:a="http://schemas.openxmlformats.org/drawingml/2006/main">
            <a:off x="581025" y="2019300"/>
            <a:ext cx="400050" cy="4000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139080-B680-4748-BA5E-24D239AA8637}"/>
              </a:ext>
            </a:extLst>
          </p:cNvPr>
          <p:cNvSpPr>
            <a:spLocks xmlns:a="http://schemas.openxmlformats.org/drawingml/2006/main" noGrp="1"/>
          </p:cNvSpPr>
          <p:nvPr/>
        </p:nvSpPr>
        <p:spPr>
          <a:xfrm xmlns:a="http://schemas.openxmlformats.org/drawingml/2006/main">
            <a:off x="619125" y="20764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231D"/>
                </a:solidFill>
                <a:latin typeface="Inter"/>
                <a:ea typeface="Inter"/>
                <a:cs typeface="Inter"/>
              </a:defRPr>
            </a:pPr>
            <a:r>
              <a:rPr sz="1350" b="1">
                <a:solidFill>
                  <a:srgbClr val="10231D"/>
                </a:solidFill>
                <a:latin typeface="Inter"/>
                <a:ea typeface="Inter"/>
                <a:cs typeface="Inter"/>
              </a:rPr>
              <a:t>2</a:t>
            </a:r>
          </a:p>
        </p:txBody>
      </p:sp>
      <p:sp>
        <p:nvSpPr>
          <p:cNvPr id="11" name="">
            <a:extLst xmlns:a="http://schemas.openxmlformats.org/drawingml/2006/main">
              <a:ext uri="{FF2B5EF4-FFF2-40B4-BE49-F238E27FC236}">
                <a16:creationId xmlns:a16="http://schemas.microsoft.com/office/drawing/2014/main" id="{63828661-5544-4399-9A01-562ED69F8A82}"/>
              </a:ext>
            </a:extLst>
          </p:cNvPr>
          <p:cNvSpPr>
            <a:spLocks xmlns:a="http://schemas.openxmlformats.org/drawingml/2006/main" noGrp="1"/>
          </p:cNvSpPr>
          <p:nvPr/>
        </p:nvSpPr>
        <p:spPr>
          <a:xfrm xmlns:a="http://schemas.openxmlformats.org/drawingml/2006/main">
            <a:off x="1190625" y="20383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Define comparable events</a:t>
            </a:r>
          </a:p>
        </p:txBody>
      </p:sp>
      <p:sp>
        <p:nvSpPr>
          <p:cNvPr id="12" name="">
            <a:extLst xmlns:a="http://schemas.openxmlformats.org/drawingml/2006/main">
              <a:ext uri="{FF2B5EF4-FFF2-40B4-BE49-F238E27FC236}">
                <a16:creationId xmlns:a16="http://schemas.microsoft.com/office/drawing/2014/main" id="{1BF1081F-C305-4DE2-89B0-BA18D792DC98}"/>
              </a:ext>
            </a:extLst>
          </p:cNvPr>
          <p:cNvSpPr>
            <a:spLocks xmlns:a="http://schemas.openxmlformats.org/drawingml/2006/main" noGrp="1"/>
          </p:cNvSpPr>
          <p:nvPr/>
        </p:nvSpPr>
        <p:spPr>
          <a:xfrm xmlns:a="http://schemas.openxmlformats.org/drawingml/2006/main">
            <a:off x="4810125" y="20383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Rain, drainage, dry return</a:t>
            </a:r>
          </a:p>
        </p:txBody>
      </p:sp>
      <p:sp>
        <p:nvSpPr>
          <p:cNvPr id="13" name="">
            <a:extLst xmlns:a="http://schemas.openxmlformats.org/drawingml/2006/main">
              <a:ext uri="{FF2B5EF4-FFF2-40B4-BE49-F238E27FC236}">
                <a16:creationId xmlns:a16="http://schemas.microsoft.com/office/drawing/2014/main" id="{5165533E-8AE0-4983-B3F5-614B39E48BD8}"/>
              </a:ext>
            </a:extLst>
          </p:cNvPr>
          <p:cNvSpPr>
            <a:spLocks xmlns:a="http://schemas.openxmlformats.org/drawingml/2006/main" noGrp="1"/>
          </p:cNvSpPr>
          <p:nvPr/>
        </p:nvSpPr>
        <p:spPr>
          <a:xfrm xmlns:a="http://schemas.openxmlformats.org/drawingml/2006/main" flipH="0" flipV="0">
            <a:off x="781050" y="2438400"/>
            <a:ext cx="0" cy="28575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14" name="">
            <a:extLst xmlns:a="http://schemas.openxmlformats.org/drawingml/2006/main">
              <a:ext uri="{FF2B5EF4-FFF2-40B4-BE49-F238E27FC236}">
                <a16:creationId xmlns:a16="http://schemas.microsoft.com/office/drawing/2014/main" id="{83C27500-79C5-410E-9C00-0E3D40975C83}"/>
              </a:ext>
            </a:extLst>
          </p:cNvPr>
          <p:cNvSpPr>
            <a:spLocks xmlns:a="http://schemas.openxmlformats.org/drawingml/2006/main" noGrp="1"/>
          </p:cNvSpPr>
          <p:nvPr/>
        </p:nvSpPr>
        <p:spPr>
          <a:xfrm xmlns:a="http://schemas.openxmlformats.org/drawingml/2006/main">
            <a:off x="581025" y="2686050"/>
            <a:ext cx="400050" cy="4000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5ACBB8A-F57A-4B1C-8095-793368F04BB0}"/>
              </a:ext>
            </a:extLst>
          </p:cNvPr>
          <p:cNvSpPr>
            <a:spLocks xmlns:a="http://schemas.openxmlformats.org/drawingml/2006/main" noGrp="1"/>
          </p:cNvSpPr>
          <p:nvPr/>
        </p:nvSpPr>
        <p:spPr>
          <a:xfrm xmlns:a="http://schemas.openxmlformats.org/drawingml/2006/main">
            <a:off x="619125" y="27432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231D"/>
                </a:solidFill>
                <a:latin typeface="Inter"/>
                <a:ea typeface="Inter"/>
                <a:cs typeface="Inter"/>
              </a:defRPr>
            </a:pPr>
            <a:r>
              <a:rPr sz="1350" b="1">
                <a:solidFill>
                  <a:srgbClr val="10231D"/>
                </a:solidFill>
                <a:latin typeface="Inter"/>
                <a:ea typeface="Inter"/>
                <a:cs typeface="Inter"/>
              </a:rPr>
              <a:t>3</a:t>
            </a:r>
          </a:p>
        </p:txBody>
      </p:sp>
      <p:sp>
        <p:nvSpPr>
          <p:cNvPr id="16" name="">
            <a:extLst xmlns:a="http://schemas.openxmlformats.org/drawingml/2006/main">
              <a:ext uri="{FF2B5EF4-FFF2-40B4-BE49-F238E27FC236}">
                <a16:creationId xmlns:a16="http://schemas.microsoft.com/office/drawing/2014/main" id="{4C76F3F3-B6FA-45F1-A56A-F79F01D6C986}"/>
              </a:ext>
            </a:extLst>
          </p:cNvPr>
          <p:cNvSpPr>
            <a:spLocks xmlns:a="http://schemas.openxmlformats.org/drawingml/2006/main" noGrp="1"/>
          </p:cNvSpPr>
          <p:nvPr/>
        </p:nvSpPr>
        <p:spPr>
          <a:xfrm xmlns:a="http://schemas.openxmlformats.org/drawingml/2006/main">
            <a:off x="1190625"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Fit the physical null</a:t>
            </a:r>
          </a:p>
        </p:txBody>
      </p:sp>
      <p:sp>
        <p:nvSpPr>
          <p:cNvPr id="17" name="">
            <a:extLst xmlns:a="http://schemas.openxmlformats.org/drawingml/2006/main">
              <a:ext uri="{FF2B5EF4-FFF2-40B4-BE49-F238E27FC236}">
                <a16:creationId xmlns:a16="http://schemas.microsoft.com/office/drawing/2014/main" id="{FEADC329-91C6-47AD-9AC2-8F22D057EC05}"/>
              </a:ext>
            </a:extLst>
          </p:cNvPr>
          <p:cNvSpPr>
            <a:spLocks xmlns:a="http://schemas.openxmlformats.org/drawingml/2006/main" noGrp="1"/>
          </p:cNvSpPr>
          <p:nvPr/>
        </p:nvSpPr>
        <p:spPr>
          <a:xfrm xmlns:a="http://schemas.openxmlformats.org/drawingml/2006/main">
            <a:off x="4810125" y="27051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Expected lag and attenuation</a:t>
            </a:r>
          </a:p>
        </p:txBody>
      </p:sp>
      <p:sp>
        <p:nvSpPr>
          <p:cNvPr id="18" name="">
            <a:extLst xmlns:a="http://schemas.openxmlformats.org/drawingml/2006/main">
              <a:ext uri="{FF2B5EF4-FFF2-40B4-BE49-F238E27FC236}">
                <a16:creationId xmlns:a16="http://schemas.microsoft.com/office/drawing/2014/main" id="{14D7EC86-A2F7-45C3-B87E-A3003EB565D9}"/>
              </a:ext>
            </a:extLst>
          </p:cNvPr>
          <p:cNvSpPr>
            <a:spLocks xmlns:a="http://schemas.openxmlformats.org/drawingml/2006/main" noGrp="1"/>
          </p:cNvSpPr>
          <p:nvPr/>
        </p:nvSpPr>
        <p:spPr>
          <a:xfrm xmlns:a="http://schemas.openxmlformats.org/drawingml/2006/main" flipH="0" flipV="0">
            <a:off x="781050" y="3105150"/>
            <a:ext cx="0" cy="28575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19" name="">
            <a:extLst xmlns:a="http://schemas.openxmlformats.org/drawingml/2006/main">
              <a:ext uri="{FF2B5EF4-FFF2-40B4-BE49-F238E27FC236}">
                <a16:creationId xmlns:a16="http://schemas.microsoft.com/office/drawing/2014/main" id="{0ACE6783-9A9B-462B-8E08-1D41B0D9D6C7}"/>
              </a:ext>
            </a:extLst>
          </p:cNvPr>
          <p:cNvSpPr>
            <a:spLocks xmlns:a="http://schemas.openxmlformats.org/drawingml/2006/main" noGrp="1"/>
          </p:cNvSpPr>
          <p:nvPr/>
        </p:nvSpPr>
        <p:spPr>
          <a:xfrm xmlns:a="http://schemas.openxmlformats.org/drawingml/2006/main">
            <a:off x="581025" y="3352800"/>
            <a:ext cx="400050" cy="4000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E1647BB-CA22-499B-8D3A-382D655CB8D0}"/>
              </a:ext>
            </a:extLst>
          </p:cNvPr>
          <p:cNvSpPr>
            <a:spLocks xmlns:a="http://schemas.openxmlformats.org/drawingml/2006/main" noGrp="1"/>
          </p:cNvSpPr>
          <p:nvPr/>
        </p:nvSpPr>
        <p:spPr>
          <a:xfrm xmlns:a="http://schemas.openxmlformats.org/drawingml/2006/main">
            <a:off x="619125" y="3409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231D"/>
                </a:solidFill>
                <a:latin typeface="Inter"/>
                <a:ea typeface="Inter"/>
                <a:cs typeface="Inter"/>
              </a:defRPr>
            </a:pPr>
            <a:r>
              <a:rPr sz="1350" b="1">
                <a:solidFill>
                  <a:srgbClr val="10231D"/>
                </a:solidFill>
                <a:latin typeface="Inter"/>
                <a:ea typeface="Inter"/>
                <a:cs typeface="Inter"/>
              </a:rPr>
              <a:t>4</a:t>
            </a:r>
          </a:p>
        </p:txBody>
      </p:sp>
      <p:sp>
        <p:nvSpPr>
          <p:cNvPr id="21" name="">
            <a:extLst xmlns:a="http://schemas.openxmlformats.org/drawingml/2006/main">
              <a:ext uri="{FF2B5EF4-FFF2-40B4-BE49-F238E27FC236}">
                <a16:creationId xmlns:a16="http://schemas.microsoft.com/office/drawing/2014/main" id="{AD18AC16-A221-4778-90E0-5CC6DCC15B3E}"/>
              </a:ext>
            </a:extLst>
          </p:cNvPr>
          <p:cNvSpPr>
            <a:spLocks xmlns:a="http://schemas.openxmlformats.org/drawingml/2006/main" noGrp="1"/>
          </p:cNvSpPr>
          <p:nvPr/>
        </p:nvSpPr>
        <p:spPr>
          <a:xfrm xmlns:a="http://schemas.openxmlformats.org/drawingml/2006/main">
            <a:off x="1190625" y="33718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Accept reliable phase</a:t>
            </a:r>
          </a:p>
        </p:txBody>
      </p:sp>
      <p:sp>
        <p:nvSpPr>
          <p:cNvPr id="22" name="">
            <a:extLst xmlns:a="http://schemas.openxmlformats.org/drawingml/2006/main">
              <a:ext uri="{FF2B5EF4-FFF2-40B4-BE49-F238E27FC236}">
                <a16:creationId xmlns:a16="http://schemas.microsoft.com/office/drawing/2014/main" id="{E911D5C6-0891-425A-88FC-83BD204A6A2F}"/>
              </a:ext>
            </a:extLst>
          </p:cNvPr>
          <p:cNvSpPr>
            <a:spLocks xmlns:a="http://schemas.openxmlformats.org/drawingml/2006/main" noGrp="1"/>
          </p:cNvSpPr>
          <p:nvPr/>
        </p:nvSpPr>
        <p:spPr>
          <a:xfrm xmlns:a="http://schemas.openxmlformats.org/drawingml/2006/main">
            <a:off x="4810125" y="33718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Observed delay with uncertainty</a:t>
            </a:r>
          </a:p>
        </p:txBody>
      </p:sp>
      <p:sp>
        <p:nvSpPr>
          <p:cNvPr id="23" name="">
            <a:extLst xmlns:a="http://schemas.openxmlformats.org/drawingml/2006/main">
              <a:ext uri="{FF2B5EF4-FFF2-40B4-BE49-F238E27FC236}">
                <a16:creationId xmlns:a16="http://schemas.microsoft.com/office/drawing/2014/main" id="{03B0C636-207C-4703-BAB1-C34D739347EF}"/>
              </a:ext>
            </a:extLst>
          </p:cNvPr>
          <p:cNvSpPr>
            <a:spLocks xmlns:a="http://schemas.openxmlformats.org/drawingml/2006/main" noGrp="1"/>
          </p:cNvSpPr>
          <p:nvPr/>
        </p:nvSpPr>
        <p:spPr>
          <a:xfrm xmlns:a="http://schemas.openxmlformats.org/drawingml/2006/main" flipH="0" flipV="0">
            <a:off x="781050" y="3771900"/>
            <a:ext cx="0" cy="28575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24" name="">
            <a:extLst xmlns:a="http://schemas.openxmlformats.org/drawingml/2006/main">
              <a:ext uri="{FF2B5EF4-FFF2-40B4-BE49-F238E27FC236}">
                <a16:creationId xmlns:a16="http://schemas.microsoft.com/office/drawing/2014/main" id="{8E7997F1-7737-443E-BF99-12A3258A4074}"/>
              </a:ext>
            </a:extLst>
          </p:cNvPr>
          <p:cNvSpPr>
            <a:spLocks xmlns:a="http://schemas.openxmlformats.org/drawingml/2006/main" noGrp="1"/>
          </p:cNvSpPr>
          <p:nvPr/>
        </p:nvSpPr>
        <p:spPr>
          <a:xfrm xmlns:a="http://schemas.openxmlformats.org/drawingml/2006/main">
            <a:off x="581025" y="4019550"/>
            <a:ext cx="400050" cy="4000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E8809DD-9116-4D38-A8E8-71AF07564F62}"/>
              </a:ext>
            </a:extLst>
          </p:cNvPr>
          <p:cNvSpPr>
            <a:spLocks xmlns:a="http://schemas.openxmlformats.org/drawingml/2006/main" noGrp="1"/>
          </p:cNvSpPr>
          <p:nvPr/>
        </p:nvSpPr>
        <p:spPr>
          <a:xfrm xmlns:a="http://schemas.openxmlformats.org/drawingml/2006/main">
            <a:off x="619125" y="4076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231D"/>
                </a:solidFill>
                <a:latin typeface="Inter"/>
                <a:ea typeface="Inter"/>
                <a:cs typeface="Inter"/>
              </a:defRPr>
            </a:pPr>
            <a:r>
              <a:rPr sz="1350" b="1">
                <a:solidFill>
                  <a:srgbClr val="10231D"/>
                </a:solidFill>
                <a:latin typeface="Inter"/>
                <a:ea typeface="Inter"/>
                <a:cs typeface="Inter"/>
              </a:rPr>
              <a:t>5</a:t>
            </a:r>
          </a:p>
        </p:txBody>
      </p:sp>
      <p:sp>
        <p:nvSpPr>
          <p:cNvPr id="26" name="">
            <a:extLst xmlns:a="http://schemas.openxmlformats.org/drawingml/2006/main">
              <a:ext uri="{FF2B5EF4-FFF2-40B4-BE49-F238E27FC236}">
                <a16:creationId xmlns:a16="http://schemas.microsoft.com/office/drawing/2014/main" id="{7DF5F639-D92B-4584-B5BA-E54CE1923D79}"/>
              </a:ext>
            </a:extLst>
          </p:cNvPr>
          <p:cNvSpPr>
            <a:spLocks xmlns:a="http://schemas.openxmlformats.org/drawingml/2006/main" noGrp="1"/>
          </p:cNvSpPr>
          <p:nvPr/>
        </p:nvSpPr>
        <p:spPr>
          <a:xfrm xmlns:a="http://schemas.openxmlformats.org/drawingml/2006/main">
            <a:off x="1190625" y="40386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Build graph and trajectories</a:t>
            </a:r>
          </a:p>
        </p:txBody>
      </p:sp>
      <p:sp>
        <p:nvSpPr>
          <p:cNvPr id="27" name="">
            <a:extLst xmlns:a="http://schemas.openxmlformats.org/drawingml/2006/main">
              <a:ext uri="{FF2B5EF4-FFF2-40B4-BE49-F238E27FC236}">
                <a16:creationId xmlns:a16="http://schemas.microsoft.com/office/drawing/2014/main" id="{5CA67EAD-1343-41B0-93E9-1A40E95764AD}"/>
              </a:ext>
            </a:extLst>
          </p:cNvPr>
          <p:cNvSpPr>
            <a:spLocks xmlns:a="http://schemas.openxmlformats.org/drawingml/2006/main" noGrp="1"/>
          </p:cNvSpPr>
          <p:nvPr/>
        </p:nvSpPr>
        <p:spPr>
          <a:xfrm xmlns:a="http://schemas.openxmlformats.org/drawingml/2006/main">
            <a:off x="4810125" y="40386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Direction, coupling, memory</a:t>
            </a:r>
          </a:p>
        </p:txBody>
      </p:sp>
      <p:sp>
        <p:nvSpPr>
          <p:cNvPr id="28" name="">
            <a:extLst xmlns:a="http://schemas.openxmlformats.org/drawingml/2006/main">
              <a:ext uri="{FF2B5EF4-FFF2-40B4-BE49-F238E27FC236}">
                <a16:creationId xmlns:a16="http://schemas.microsoft.com/office/drawing/2014/main" id="{5964930E-0BF7-4103-B7C2-2889BAB51424}"/>
              </a:ext>
            </a:extLst>
          </p:cNvPr>
          <p:cNvSpPr>
            <a:spLocks xmlns:a="http://schemas.openxmlformats.org/drawingml/2006/main" noGrp="1"/>
          </p:cNvSpPr>
          <p:nvPr/>
        </p:nvSpPr>
        <p:spPr>
          <a:xfrm xmlns:a="http://schemas.openxmlformats.org/drawingml/2006/main" flipH="0" flipV="0">
            <a:off x="781050" y="4438650"/>
            <a:ext cx="0" cy="28575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29" name="">
            <a:extLst xmlns:a="http://schemas.openxmlformats.org/drawingml/2006/main">
              <a:ext uri="{FF2B5EF4-FFF2-40B4-BE49-F238E27FC236}">
                <a16:creationId xmlns:a16="http://schemas.microsoft.com/office/drawing/2014/main" id="{F2922B29-85D5-4185-BCB5-6EDC97D82BAA}"/>
              </a:ext>
            </a:extLst>
          </p:cNvPr>
          <p:cNvSpPr>
            <a:spLocks xmlns:a="http://schemas.openxmlformats.org/drawingml/2006/main" noGrp="1"/>
          </p:cNvSpPr>
          <p:nvPr/>
        </p:nvSpPr>
        <p:spPr>
          <a:xfrm xmlns:a="http://schemas.openxmlformats.org/drawingml/2006/main">
            <a:off x="581025" y="4686300"/>
            <a:ext cx="400050" cy="4000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45065CE-A98D-4C3A-A6D0-C8DC7C92E3F2}"/>
              </a:ext>
            </a:extLst>
          </p:cNvPr>
          <p:cNvSpPr>
            <a:spLocks xmlns:a="http://schemas.openxmlformats.org/drawingml/2006/main" noGrp="1"/>
          </p:cNvSpPr>
          <p:nvPr/>
        </p:nvSpPr>
        <p:spPr>
          <a:xfrm xmlns:a="http://schemas.openxmlformats.org/drawingml/2006/main">
            <a:off x="619125" y="47434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231D"/>
                </a:solidFill>
                <a:latin typeface="Inter"/>
                <a:ea typeface="Inter"/>
                <a:cs typeface="Inter"/>
              </a:defRPr>
            </a:pPr>
            <a:r>
              <a:rPr sz="1350" b="1">
                <a:solidFill>
                  <a:srgbClr val="10231D"/>
                </a:solidFill>
                <a:latin typeface="Inter"/>
                <a:ea typeface="Inter"/>
                <a:cs typeface="Inter"/>
              </a:rPr>
              <a:t>6</a:t>
            </a:r>
          </a:p>
        </p:txBody>
      </p:sp>
      <p:sp>
        <p:nvSpPr>
          <p:cNvPr id="31" name="">
            <a:extLst xmlns:a="http://schemas.openxmlformats.org/drawingml/2006/main">
              <a:ext uri="{FF2B5EF4-FFF2-40B4-BE49-F238E27FC236}">
                <a16:creationId xmlns:a16="http://schemas.microsoft.com/office/drawing/2014/main" id="{0AC560D5-0FAC-4B66-A137-956950413F43}"/>
              </a:ext>
            </a:extLst>
          </p:cNvPr>
          <p:cNvSpPr>
            <a:spLocks xmlns:a="http://schemas.openxmlformats.org/drawingml/2006/main" noGrp="1"/>
          </p:cNvSpPr>
          <p:nvPr/>
        </p:nvSpPr>
        <p:spPr>
          <a:xfrm xmlns:a="http://schemas.openxmlformats.org/drawingml/2006/main">
            <a:off x="1190625" y="47053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Summarize geometry</a:t>
            </a:r>
          </a:p>
        </p:txBody>
      </p:sp>
      <p:sp>
        <p:nvSpPr>
          <p:cNvPr id="32" name="">
            <a:extLst xmlns:a="http://schemas.openxmlformats.org/drawingml/2006/main">
              <a:ext uri="{FF2B5EF4-FFF2-40B4-BE49-F238E27FC236}">
                <a16:creationId xmlns:a16="http://schemas.microsoft.com/office/drawing/2014/main" id="{0E12355D-1A6F-49C3-A9CD-9C6508AAEA63}"/>
              </a:ext>
            </a:extLst>
          </p:cNvPr>
          <p:cNvSpPr>
            <a:spLocks xmlns:a="http://schemas.openxmlformats.org/drawingml/2006/main" noGrp="1"/>
          </p:cNvSpPr>
          <p:nvPr/>
        </p:nvSpPr>
        <p:spPr>
          <a:xfrm xmlns:a="http://schemas.openxmlformats.org/drawingml/2006/main">
            <a:off x="4810125" y="47053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Rank, components, loops</a:t>
            </a:r>
          </a:p>
        </p:txBody>
      </p:sp>
      <p:sp>
        <p:nvSpPr>
          <p:cNvPr id="33" name="">
            <a:extLst xmlns:a="http://schemas.openxmlformats.org/drawingml/2006/main">
              <a:ext uri="{FF2B5EF4-FFF2-40B4-BE49-F238E27FC236}">
                <a16:creationId xmlns:a16="http://schemas.microsoft.com/office/drawing/2014/main" id="{EBCCE8BA-DE6E-4CCF-B4BB-563D6023DAC4}"/>
              </a:ext>
            </a:extLst>
          </p:cNvPr>
          <p:cNvSpPr>
            <a:spLocks xmlns:a="http://schemas.openxmlformats.org/drawingml/2006/main" noGrp="1"/>
          </p:cNvSpPr>
          <p:nvPr/>
        </p:nvSpPr>
        <p:spPr>
          <a:xfrm xmlns:a="http://schemas.openxmlformats.org/drawingml/2006/main" flipH="0" flipV="0">
            <a:off x="781050" y="5105400"/>
            <a:ext cx="0" cy="28575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34" name="">
            <a:extLst xmlns:a="http://schemas.openxmlformats.org/drawingml/2006/main">
              <a:ext uri="{FF2B5EF4-FFF2-40B4-BE49-F238E27FC236}">
                <a16:creationId xmlns:a16="http://schemas.microsoft.com/office/drawing/2014/main" id="{1095094F-D8AD-4F53-8EA2-15C10A19D52D}"/>
              </a:ext>
            </a:extLst>
          </p:cNvPr>
          <p:cNvSpPr>
            <a:spLocks xmlns:a="http://schemas.openxmlformats.org/drawingml/2006/main" noGrp="1"/>
          </p:cNvSpPr>
          <p:nvPr/>
        </p:nvSpPr>
        <p:spPr>
          <a:xfrm xmlns:a="http://schemas.openxmlformats.org/drawingml/2006/main">
            <a:off x="581025" y="5353050"/>
            <a:ext cx="400050" cy="4000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89E0E61-FCDD-4C4A-8BDA-FA0031C8F8BC}"/>
              </a:ext>
            </a:extLst>
          </p:cNvPr>
          <p:cNvSpPr>
            <a:spLocks xmlns:a="http://schemas.openxmlformats.org/drawingml/2006/main" noGrp="1"/>
          </p:cNvSpPr>
          <p:nvPr/>
        </p:nvSpPr>
        <p:spPr>
          <a:xfrm xmlns:a="http://schemas.openxmlformats.org/drawingml/2006/main">
            <a:off x="619125" y="54102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231D"/>
                </a:solidFill>
                <a:latin typeface="Inter"/>
                <a:ea typeface="Inter"/>
                <a:cs typeface="Inter"/>
              </a:defRPr>
            </a:pPr>
            <a:r>
              <a:rPr sz="1350" b="1">
                <a:solidFill>
                  <a:srgbClr val="10231D"/>
                </a:solidFill>
                <a:latin typeface="Inter"/>
                <a:ea typeface="Inter"/>
                <a:cs typeface="Inter"/>
              </a:rPr>
              <a:t>7</a:t>
            </a:r>
          </a:p>
        </p:txBody>
      </p:sp>
      <p:sp>
        <p:nvSpPr>
          <p:cNvPr id="36" name="">
            <a:extLst xmlns:a="http://schemas.openxmlformats.org/drawingml/2006/main">
              <a:ext uri="{FF2B5EF4-FFF2-40B4-BE49-F238E27FC236}">
                <a16:creationId xmlns:a16="http://schemas.microsoft.com/office/drawing/2014/main" id="{002D334E-B013-4718-8E64-065FF224E72F}"/>
              </a:ext>
            </a:extLst>
          </p:cNvPr>
          <p:cNvSpPr>
            <a:spLocks xmlns:a="http://schemas.openxmlformats.org/drawingml/2006/main" noGrp="1"/>
          </p:cNvSpPr>
          <p:nvPr/>
        </p:nvSpPr>
        <p:spPr>
          <a:xfrm xmlns:a="http://schemas.openxmlformats.org/drawingml/2006/main">
            <a:off x="1190625" y="5372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Test interpretation</a:t>
            </a:r>
          </a:p>
        </p:txBody>
      </p:sp>
      <p:sp>
        <p:nvSpPr>
          <p:cNvPr id="37" name="">
            <a:extLst xmlns:a="http://schemas.openxmlformats.org/drawingml/2006/main">
              <a:ext uri="{FF2B5EF4-FFF2-40B4-BE49-F238E27FC236}">
                <a16:creationId xmlns:a16="http://schemas.microsoft.com/office/drawing/2014/main" id="{D4DD430D-1B74-48A0-B824-B2981ECD50AB}"/>
              </a:ext>
            </a:extLst>
          </p:cNvPr>
          <p:cNvSpPr>
            <a:spLocks xmlns:a="http://schemas.openxmlformats.org/drawingml/2006/main" noGrp="1"/>
          </p:cNvSpPr>
          <p:nvPr/>
        </p:nvSpPr>
        <p:spPr>
          <a:xfrm xmlns:a="http://schemas.openxmlformats.org/drawingml/2006/main">
            <a:off x="4810125" y="53721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Supported, revised or rejected claim</a:t>
            </a:r>
          </a:p>
        </p:txBody>
      </p:sp>
      <p:sp>
        <p:nvSpPr>
          <p:cNvPr id="38" name="">
            <a:extLst xmlns:a="http://schemas.openxmlformats.org/drawingml/2006/main">
              <a:ext uri="{FF2B5EF4-FFF2-40B4-BE49-F238E27FC236}">
                <a16:creationId xmlns:a16="http://schemas.microsoft.com/office/drawing/2014/main" id="{A359EDAE-36B5-49E9-8DA7-1400370AE32A}"/>
              </a:ext>
            </a:extLst>
          </p:cNvPr>
          <p:cNvSpPr>
            <a:spLocks xmlns:a="http://schemas.openxmlformats.org/drawingml/2006/main" noGrp="1"/>
          </p:cNvSpPr>
          <p:nvPr/>
        </p:nvSpPr>
        <p:spPr>
          <a:xfrm xmlns:a="http://schemas.openxmlformats.org/drawingml/2006/main">
            <a:off x="9525000" y="12954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lgn="ctr">
              <a:defRPr sz="1125" b="1">
                <a:solidFill>
                  <a:srgbClr val="F6AE3E"/>
                </a:solidFill>
                <a:latin typeface="Inter"/>
                <a:ea typeface="Inter"/>
                <a:cs typeface="Inter"/>
              </a:defRPr>
            </a:pPr>
            <a:r>
              <a:rPr sz="1125" b="1">
                <a:solidFill>
                  <a:srgbClr val="F6AE3E"/>
                </a:solidFill>
                <a:latin typeface="Inter"/>
                <a:ea typeface="Inter"/>
                <a:cs typeface="Inter"/>
              </a:rPr>
              <a:t>STOP RULE</a:t>
            </a:r>
          </a:p>
        </p:txBody>
      </p:sp>
      <p:sp>
        <p:nvSpPr>
          <p:cNvPr id="39" name="">
            <a:extLst xmlns:a="http://schemas.openxmlformats.org/drawingml/2006/main">
              <a:ext uri="{FF2B5EF4-FFF2-40B4-BE49-F238E27FC236}">
                <a16:creationId xmlns:a16="http://schemas.microsoft.com/office/drawing/2014/main" id="{86FDC978-BEBA-4D06-B356-9A19DA793812}"/>
              </a:ext>
            </a:extLst>
          </p:cNvPr>
          <p:cNvSpPr>
            <a:spLocks xmlns:a="http://schemas.openxmlformats.org/drawingml/2006/main" noGrp="1"/>
          </p:cNvSpPr>
          <p:nvPr/>
        </p:nvSpPr>
        <p:spPr>
          <a:xfrm xmlns:a="http://schemas.openxmlformats.org/drawingml/2006/main">
            <a:off x="8915400" y="1676400"/>
            <a:ext cx="2714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F7FBF8"/>
                </a:solidFill>
                <a:latin typeface="Inter"/>
                <a:ea typeface="Inter"/>
                <a:cs typeface="Inter"/>
              </a:defRPr>
            </a:pPr>
            <a:r>
              <a:rPr sz="1575" b="1">
                <a:solidFill>
                  <a:srgbClr val="F7FBF8"/>
                </a:solidFill>
                <a:latin typeface="Inter"/>
                <a:ea typeface="Inter"/>
                <a:cs typeface="Inter"/>
              </a:rPr>
              <a:t>If a stage fails its quality criterion, later topology receives no physical interpretation.</a:t>
            </a:r>
          </a:p>
        </p:txBody>
      </p:sp>
    </p:spTree>
    <p:extLst>
      <p:ext uri="{BB962C8B-B14F-4D97-AF65-F5344CB8AC3E}">
        <p14:creationId xmlns:p14="http://schemas.microsoft.com/office/powerpoint/2010/main" val="1309588038"/>
      </p:ext>
    </p:extLst>
  </p:cSld>
</p:sld>
</file>

<file path=ppt/slides/slide7.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4A4C200-864E-46B7-AC39-2D9986ADD160}"/>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ILLUSTRATIVE SIGNAL</a:t>
            </a:r>
          </a:p>
        </p:txBody>
      </p:sp>
      <p:sp>
        <p:nvSpPr>
          <p:cNvPr id="2" name="">
            <a:extLst xmlns:a="http://schemas.openxmlformats.org/drawingml/2006/main">
              <a:ext uri="{FF2B5EF4-FFF2-40B4-BE49-F238E27FC236}">
                <a16:creationId xmlns:a16="http://schemas.microsoft.com/office/drawing/2014/main" id="{E349A921-B7E1-4AB8-9A5A-BE116FB30C7C}"/>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Depth delay becomes a measurable phase difference</a:t>
            </a:r>
          </a:p>
        </p:txBody>
      </p:sp>
      <p:sp>
        <p:nvSpPr>
          <p:cNvPr id="3" name="">
            <a:extLst xmlns:a="http://schemas.openxmlformats.org/drawingml/2006/main">
              <a:ext uri="{FF2B5EF4-FFF2-40B4-BE49-F238E27FC236}">
                <a16:creationId xmlns:a16="http://schemas.microsoft.com/office/drawing/2014/main" id="{14B70F7B-B9F8-4190-AA16-570D4F333088}"/>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7</a:t>
            </a:r>
          </a:p>
        </p:txBody>
      </p:sp>
      <p:graphicFrame>
        <p:nvGraphicFramePr>
          <p:cNvPr id="13" name="Chart"/>
          <p:cNvGraphicFramePr/>
          <p:nvPr/>
        </p:nvGraphicFramePr>
        <p:xfrm>
          <a:off xmlns:a="http://schemas.openxmlformats.org/drawingml/2006/main" x="552450" y="1524000"/>
          <a:ext xmlns:a="http://schemas.openxmlformats.org/drawingml/2006/main" cx="7429500" cy="4095750"/>
        </p:xfrm>
        <a:graphic xmlns:a="http://schemas.openxmlformats.org/drawingml/2006/main">
          <a:graphicData uri="http://schemas.openxmlformats.org/drawingml/2006/chart">
            <c:chart xmlns:r="http://schemas.openxmlformats.org/officeDocument/2006/relationships" xmlns:c="http://schemas.openxmlformats.org/drawingml/2006/chart" r:id="R3c7ea9e463db448e"/>
          </a:graphicData>
        </a:graphic>
      </p:graphicFrame>
      <p:sp>
        <p:nvSpPr>
          <p:cNvPr id="5" name="">
            <a:extLst xmlns:a="http://schemas.openxmlformats.org/drawingml/2006/main">
              <a:ext uri="{FF2B5EF4-FFF2-40B4-BE49-F238E27FC236}">
                <a16:creationId xmlns:a16="http://schemas.microsoft.com/office/drawing/2014/main" id="{9BEFD409-D509-4126-86D0-B9934FA6FDC9}"/>
              </a:ext>
            </a:extLst>
          </p:cNvPr>
          <p:cNvSpPr>
            <a:spLocks xmlns:a="http://schemas.openxmlformats.org/drawingml/2006/main" noGrp="1"/>
          </p:cNvSpPr>
          <p:nvPr/>
        </p:nvSpPr>
        <p:spPr>
          <a:xfrm xmlns:a="http://schemas.openxmlformats.org/drawingml/2006/main">
            <a:off x="8458200" y="1619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PHYSICAL MEANING</a:t>
            </a:r>
          </a:p>
        </p:txBody>
      </p:sp>
      <p:sp>
        <p:nvSpPr>
          <p:cNvPr id="6" name="">
            <a:extLst xmlns:a="http://schemas.openxmlformats.org/drawingml/2006/main">
              <a:ext uri="{FF2B5EF4-FFF2-40B4-BE49-F238E27FC236}">
                <a16:creationId xmlns:a16="http://schemas.microsoft.com/office/drawing/2014/main" id="{BB32BC90-4873-41C2-9AEB-C64A06C5DF89}"/>
              </a:ext>
            </a:extLst>
          </p:cNvPr>
          <p:cNvSpPr>
            <a:spLocks xmlns:a="http://schemas.openxmlformats.org/drawingml/2006/main" noGrp="1"/>
          </p:cNvSpPr>
          <p:nvPr/>
        </p:nvSpPr>
        <p:spPr>
          <a:xfrm xmlns:a="http://schemas.openxmlformats.org/drawingml/2006/main">
            <a:off x="8458200" y="20193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7FBF8"/>
                </a:solidFill>
                <a:latin typeface="Inter"/>
                <a:ea typeface="Inter"/>
                <a:cs typeface="Inter"/>
              </a:defRPr>
            </a:pPr>
            <a:r>
              <a:rPr sz="1800" b="1">
                <a:solidFill>
                  <a:srgbClr val="F7FBF8"/>
                </a:solidFill>
                <a:latin typeface="Inter"/>
                <a:ea typeface="Inter"/>
                <a:cs typeface="Inter"/>
              </a:rPr>
              <a:t>Deeper peaks arrive later</a:t>
            </a:r>
          </a:p>
        </p:txBody>
      </p:sp>
      <p:sp>
        <p:nvSpPr>
          <p:cNvPr id="7" name="">
            <a:extLst xmlns:a="http://schemas.openxmlformats.org/drawingml/2006/main">
              <a:ext uri="{FF2B5EF4-FFF2-40B4-BE49-F238E27FC236}">
                <a16:creationId xmlns:a16="http://schemas.microsoft.com/office/drawing/2014/main" id="{31C2BF7F-80AB-47D4-ABF2-3DC1866784C9}"/>
              </a:ext>
            </a:extLst>
          </p:cNvPr>
          <p:cNvSpPr>
            <a:spLocks xmlns:a="http://schemas.openxmlformats.org/drawingml/2006/main" noGrp="1"/>
          </p:cNvSpPr>
          <p:nvPr/>
        </p:nvSpPr>
        <p:spPr>
          <a:xfrm xmlns:a="http://schemas.openxmlformats.org/drawingml/2006/main">
            <a:off x="8458200" y="2571750"/>
            <a:ext cx="295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BBD0C8"/>
                </a:solidFill>
                <a:latin typeface="Inter"/>
                <a:ea typeface="Inter"/>
                <a:cs typeface="Inter"/>
              </a:defRPr>
            </a:pPr>
            <a:r>
              <a:rPr sz="1500" b="0">
                <a:solidFill>
                  <a:srgbClr val="BBD0C8"/>
                </a:solidFill>
                <a:latin typeface="Inter"/>
                <a:ea typeface="Inter"/>
                <a:cs typeface="Inter"/>
              </a:rPr>
              <a:t>The signal also becomes smaller because diffusion spreads the fluctuation and wet pores restrict gas connectivity.</a:t>
            </a:r>
          </a:p>
        </p:txBody>
      </p:sp>
      <p:sp>
        <p:nvSpPr>
          <p:cNvPr id="8" name="">
            <a:extLst xmlns:a="http://schemas.openxmlformats.org/drawingml/2006/main">
              <a:ext uri="{FF2B5EF4-FFF2-40B4-BE49-F238E27FC236}">
                <a16:creationId xmlns:a16="http://schemas.microsoft.com/office/drawing/2014/main" id="{B021EA63-CA02-4F70-8AEA-8373E39789FA}"/>
              </a:ext>
            </a:extLst>
          </p:cNvPr>
          <p:cNvSpPr>
            <a:spLocks xmlns:a="http://schemas.openxmlformats.org/drawingml/2006/main" noGrp="1"/>
          </p:cNvSpPr>
          <p:nvPr/>
        </p:nvSpPr>
        <p:spPr>
          <a:xfrm xmlns:a="http://schemas.openxmlformats.org/drawingml/2006/main">
            <a:off x="8458200" y="3952875"/>
            <a:ext cx="295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Phase converts delay at a selected time scale into an angle. Delay is reported only where the two signals are coherent.</a:t>
            </a:r>
          </a:p>
        </p:txBody>
      </p:sp>
      <p:sp>
        <p:nvSpPr>
          <p:cNvPr id="9" name="">
            <a:extLst xmlns:a="http://schemas.openxmlformats.org/drawingml/2006/main">
              <a:ext uri="{FF2B5EF4-FFF2-40B4-BE49-F238E27FC236}">
                <a16:creationId xmlns:a16="http://schemas.microsoft.com/office/drawing/2014/main" id="{F1FAD4A2-D364-4979-9987-D2B1B43F2AEA}"/>
              </a:ext>
            </a:extLst>
          </p:cNvPr>
          <p:cNvSpPr>
            <a:spLocks xmlns:a="http://schemas.openxmlformats.org/drawingml/2006/main" noGrp="1"/>
          </p:cNvSpPr>
          <p:nvPr/>
        </p:nvSpPr>
        <p:spPr>
          <a:xfrm xmlns:a="http://schemas.openxmlformats.org/drawingml/2006/main">
            <a:off x="8458200" y="53340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1">
                <a:solidFill>
                  <a:srgbClr val="F6AE3E"/>
                </a:solidFill>
                <a:latin typeface="Inter"/>
                <a:ea typeface="Inter"/>
                <a:cs typeface="Inter"/>
              </a:defRPr>
            </a:pPr>
            <a:r>
              <a:rPr sz="1050" b="1">
                <a:solidFill>
                  <a:srgbClr val="F6AE3E"/>
                </a:solidFill>
                <a:latin typeface="Inter"/>
                <a:ea typeface="Inter"/>
                <a:cs typeface="Inter"/>
              </a:rPr>
              <a:t>Model illustration, not LEO observations</a:t>
            </a:r>
          </a:p>
        </p:txBody>
      </p:sp>
    </p:spTree>
    <p:extLst>
      <p:ext uri="{BB962C8B-B14F-4D97-AF65-F5344CB8AC3E}">
        <p14:creationId xmlns:p14="http://schemas.microsoft.com/office/powerpoint/2010/main" val="1534389307"/>
      </p:ext>
    </p:extLst>
  </p:cSld>
</p:sld>
</file>

<file path=ppt/slides/slide8.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67EEBFD-0A76-4B11-889A-DF6A8A40788B}"/>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DIFFUSION–REACTION MODEL</a:t>
            </a:r>
          </a:p>
        </p:txBody>
      </p:sp>
      <p:sp>
        <p:nvSpPr>
          <p:cNvPr id="2" name="">
            <a:extLst xmlns:a="http://schemas.openxmlformats.org/drawingml/2006/main">
              <a:ext uri="{FF2B5EF4-FFF2-40B4-BE49-F238E27FC236}">
                <a16:creationId xmlns:a16="http://schemas.microsoft.com/office/drawing/2014/main" id="{2B742870-3FBE-4F2F-9DA3-4605A0B4105D}"/>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The physical baseline separates transport from anomaly</a:t>
            </a:r>
          </a:p>
        </p:txBody>
      </p:sp>
      <p:sp>
        <p:nvSpPr>
          <p:cNvPr id="3" name="">
            <a:extLst xmlns:a="http://schemas.openxmlformats.org/drawingml/2006/main">
              <a:ext uri="{FF2B5EF4-FFF2-40B4-BE49-F238E27FC236}">
                <a16:creationId xmlns:a16="http://schemas.microsoft.com/office/drawing/2014/main" id="{D5630B22-9CD4-47AC-B082-919E124AA5E6}"/>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8</a:t>
            </a:r>
          </a:p>
        </p:txBody>
      </p:sp>
      <p:sp>
        <p:nvSpPr>
          <p:cNvPr id="4" name="">
            <a:extLst xmlns:a="http://schemas.openxmlformats.org/drawingml/2006/main">
              <a:ext uri="{FF2B5EF4-FFF2-40B4-BE49-F238E27FC236}">
                <a16:creationId xmlns:a16="http://schemas.microsoft.com/office/drawing/2014/main" id="{D0284BAB-0B1D-4A07-A273-45A49CDC3CE8}"/>
              </a:ext>
            </a:extLst>
          </p:cNvPr>
          <p:cNvSpPr>
            <a:spLocks xmlns:a="http://schemas.openxmlformats.org/drawingml/2006/main" noGrp="1"/>
          </p:cNvSpPr>
          <p:nvPr/>
        </p:nvSpPr>
        <p:spPr>
          <a:xfrm xmlns:a="http://schemas.openxmlformats.org/drawingml/2006/main">
            <a:off x="571500" y="1466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7FBF8"/>
                </a:solidFill>
                <a:latin typeface="Inter"/>
                <a:ea typeface="Inter"/>
                <a:cs typeface="Inter"/>
              </a:defRPr>
            </a:pPr>
            <a:r>
              <a:rPr sz="2550" b="1">
                <a:solidFill>
                  <a:srgbClr val="F7FBF8"/>
                </a:solidFill>
                <a:latin typeface="Inter"/>
                <a:ea typeface="Inter"/>
                <a:cs typeface="Inter"/>
              </a:rPr>
              <a:t>∂C/∂t = Dₑff ∂²C/∂z² − kᵣC + S(z,t)</a:t>
            </a:r>
          </a:p>
        </p:txBody>
      </p:sp>
      <p:sp>
        <p:nvSpPr>
          <p:cNvPr id="5" name="">
            <a:extLst xmlns:a="http://schemas.openxmlformats.org/drawingml/2006/main">
              <a:ext uri="{FF2B5EF4-FFF2-40B4-BE49-F238E27FC236}">
                <a16:creationId xmlns:a16="http://schemas.microsoft.com/office/drawing/2014/main" id="{C3F40F46-E4B8-4835-AFDC-24D421F9797A}"/>
              </a:ext>
            </a:extLst>
          </p:cNvPr>
          <p:cNvSpPr>
            <a:spLocks xmlns:a="http://schemas.openxmlformats.org/drawingml/2006/main" noGrp="1"/>
          </p:cNvSpPr>
          <p:nvPr/>
        </p:nvSpPr>
        <p:spPr>
          <a:xfrm xmlns:a="http://schemas.openxmlformats.org/drawingml/2006/main">
            <a:off x="628650" y="23336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C(z,t)</a:t>
            </a:r>
          </a:p>
        </p:txBody>
      </p:sp>
      <p:sp>
        <p:nvSpPr>
          <p:cNvPr id="6" name="">
            <a:extLst xmlns:a="http://schemas.openxmlformats.org/drawingml/2006/main">
              <a:ext uri="{FF2B5EF4-FFF2-40B4-BE49-F238E27FC236}">
                <a16:creationId xmlns:a16="http://schemas.microsoft.com/office/drawing/2014/main" id="{280A9011-D43E-44E5-92B5-1B6594CE0F2D}"/>
              </a:ext>
            </a:extLst>
          </p:cNvPr>
          <p:cNvSpPr>
            <a:spLocks xmlns:a="http://schemas.openxmlformats.org/drawingml/2006/main" noGrp="1"/>
          </p:cNvSpPr>
          <p:nvPr/>
        </p:nvSpPr>
        <p:spPr>
          <a:xfrm xmlns:a="http://schemas.openxmlformats.org/drawingml/2006/main">
            <a:off x="1809750" y="22955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F7FBF8"/>
                </a:solidFill>
                <a:latin typeface="Inter"/>
                <a:ea typeface="Inter"/>
                <a:cs typeface="Inter"/>
              </a:defRPr>
            </a:pPr>
            <a:r>
              <a:rPr sz="1425" b="0">
                <a:solidFill>
                  <a:srgbClr val="F7FBF8"/>
                </a:solidFill>
                <a:latin typeface="Inter"/>
                <a:ea typeface="Inter"/>
                <a:cs typeface="Inter"/>
              </a:rPr>
              <a:t>CO₂ concentration at depth z and time t</a:t>
            </a:r>
          </a:p>
        </p:txBody>
      </p:sp>
      <p:sp>
        <p:nvSpPr>
          <p:cNvPr id="7" name="">
            <a:extLst xmlns:a="http://schemas.openxmlformats.org/drawingml/2006/main">
              <a:ext uri="{FF2B5EF4-FFF2-40B4-BE49-F238E27FC236}">
                <a16:creationId xmlns:a16="http://schemas.microsoft.com/office/drawing/2014/main" id="{07F2A73A-BF6F-4F8F-AC15-33EAA34D021F}"/>
              </a:ext>
            </a:extLst>
          </p:cNvPr>
          <p:cNvSpPr>
            <a:spLocks xmlns:a="http://schemas.openxmlformats.org/drawingml/2006/main" noGrp="1"/>
          </p:cNvSpPr>
          <p:nvPr/>
        </p:nvSpPr>
        <p:spPr>
          <a:xfrm xmlns:a="http://schemas.openxmlformats.org/drawingml/2006/main">
            <a:off x="628650" y="30194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Dₑff</a:t>
            </a:r>
          </a:p>
        </p:txBody>
      </p:sp>
      <p:sp>
        <p:nvSpPr>
          <p:cNvPr id="8" name="">
            <a:extLst xmlns:a="http://schemas.openxmlformats.org/drawingml/2006/main">
              <a:ext uri="{FF2B5EF4-FFF2-40B4-BE49-F238E27FC236}">
                <a16:creationId xmlns:a16="http://schemas.microsoft.com/office/drawing/2014/main" id="{A93A1254-B49E-4F73-9482-9A35C8AE3CB4}"/>
              </a:ext>
            </a:extLst>
          </p:cNvPr>
          <p:cNvSpPr>
            <a:spLocks xmlns:a="http://schemas.openxmlformats.org/drawingml/2006/main" noGrp="1"/>
          </p:cNvSpPr>
          <p:nvPr/>
        </p:nvSpPr>
        <p:spPr>
          <a:xfrm xmlns:a="http://schemas.openxmlformats.org/drawingml/2006/main">
            <a:off x="1809750" y="29813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092"/>
          </a:bodyPr>
          <a:lstStyle xmlns:a="http://schemas.openxmlformats.org/drawingml/2006/main"/>
          <a:p xmlns:a="http://schemas.openxmlformats.org/drawingml/2006/main">
            <a:pPr algn="l">
              <a:defRPr sz="1425" b="0">
                <a:solidFill>
                  <a:srgbClr val="F7FBF8"/>
                </a:solidFill>
                <a:latin typeface="Inter"/>
                <a:ea typeface="Inter"/>
                <a:cs typeface="Inter"/>
              </a:defRPr>
            </a:pPr>
            <a:r>
              <a:rPr sz="1425" b="0">
                <a:solidFill>
                  <a:srgbClr val="F7FBF8"/>
                </a:solidFill>
                <a:latin typeface="Inter"/>
                <a:ea typeface="Inter"/>
                <a:cs typeface="Inter"/>
              </a:rPr>
              <a:t>Effective transport coefficient, sensitive to moisture and tortuosity</a:t>
            </a:r>
          </a:p>
        </p:txBody>
      </p:sp>
      <p:sp>
        <p:nvSpPr>
          <p:cNvPr id="9" name="">
            <a:extLst xmlns:a="http://schemas.openxmlformats.org/drawingml/2006/main">
              <a:ext uri="{FF2B5EF4-FFF2-40B4-BE49-F238E27FC236}">
                <a16:creationId xmlns:a16="http://schemas.microsoft.com/office/drawing/2014/main" id="{D5D705F5-5FFA-4B2B-A086-012B0D7621CF}"/>
              </a:ext>
            </a:extLst>
          </p:cNvPr>
          <p:cNvSpPr>
            <a:spLocks xmlns:a="http://schemas.openxmlformats.org/drawingml/2006/main" noGrp="1"/>
          </p:cNvSpPr>
          <p:nvPr/>
        </p:nvSpPr>
        <p:spPr>
          <a:xfrm xmlns:a="http://schemas.openxmlformats.org/drawingml/2006/main">
            <a:off x="628650" y="37052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kᵣ</a:t>
            </a:r>
          </a:p>
        </p:txBody>
      </p:sp>
      <p:sp>
        <p:nvSpPr>
          <p:cNvPr id="10" name="">
            <a:extLst xmlns:a="http://schemas.openxmlformats.org/drawingml/2006/main">
              <a:ext uri="{FF2B5EF4-FFF2-40B4-BE49-F238E27FC236}">
                <a16:creationId xmlns:a16="http://schemas.microsoft.com/office/drawing/2014/main" id="{A5ED83CD-62AB-46BB-9562-659E3C66D2AF}"/>
              </a:ext>
            </a:extLst>
          </p:cNvPr>
          <p:cNvSpPr>
            <a:spLocks xmlns:a="http://schemas.openxmlformats.org/drawingml/2006/main" noGrp="1"/>
          </p:cNvSpPr>
          <p:nvPr/>
        </p:nvSpPr>
        <p:spPr>
          <a:xfrm xmlns:a="http://schemas.openxmlformats.org/drawingml/2006/main">
            <a:off x="1809750" y="36671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F7FBF8"/>
                </a:solidFill>
                <a:latin typeface="Inter"/>
                <a:ea typeface="Inter"/>
                <a:cs typeface="Inter"/>
              </a:defRPr>
            </a:pPr>
            <a:r>
              <a:rPr sz="1425" b="0">
                <a:solidFill>
                  <a:srgbClr val="F7FBF8"/>
                </a:solidFill>
                <a:latin typeface="Inter"/>
                <a:ea typeface="Inter"/>
                <a:cs typeface="Inter"/>
              </a:rPr>
              <a:t>Effective first-order net removal rate</a:t>
            </a:r>
          </a:p>
        </p:txBody>
      </p:sp>
      <p:sp>
        <p:nvSpPr>
          <p:cNvPr id="11" name="">
            <a:extLst xmlns:a="http://schemas.openxmlformats.org/drawingml/2006/main">
              <a:ext uri="{FF2B5EF4-FFF2-40B4-BE49-F238E27FC236}">
                <a16:creationId xmlns:a16="http://schemas.microsoft.com/office/drawing/2014/main" id="{D96EC943-5A2E-4704-97AE-1C38DE0FC7D6}"/>
              </a:ext>
            </a:extLst>
          </p:cNvPr>
          <p:cNvSpPr>
            <a:spLocks xmlns:a="http://schemas.openxmlformats.org/drawingml/2006/main" noGrp="1"/>
          </p:cNvSpPr>
          <p:nvPr/>
        </p:nvSpPr>
        <p:spPr>
          <a:xfrm xmlns:a="http://schemas.openxmlformats.org/drawingml/2006/main">
            <a:off x="628650" y="43910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S(z,t)</a:t>
            </a:r>
          </a:p>
        </p:txBody>
      </p:sp>
      <p:sp>
        <p:nvSpPr>
          <p:cNvPr id="12" name="">
            <a:extLst xmlns:a="http://schemas.openxmlformats.org/drawingml/2006/main">
              <a:ext uri="{FF2B5EF4-FFF2-40B4-BE49-F238E27FC236}">
                <a16:creationId xmlns:a16="http://schemas.microsoft.com/office/drawing/2014/main" id="{E6B4759B-0B71-4664-839A-853B6188C053}"/>
              </a:ext>
            </a:extLst>
          </p:cNvPr>
          <p:cNvSpPr>
            <a:spLocks xmlns:a="http://schemas.openxmlformats.org/drawingml/2006/main" noGrp="1"/>
          </p:cNvSpPr>
          <p:nvPr/>
        </p:nvSpPr>
        <p:spPr>
          <a:xfrm xmlns:a="http://schemas.openxmlformats.org/drawingml/2006/main">
            <a:off x="1809750" y="43529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F7FBF8"/>
                </a:solidFill>
                <a:latin typeface="Inter"/>
                <a:ea typeface="Inter"/>
                <a:cs typeface="Inter"/>
              </a:defRPr>
            </a:pPr>
            <a:r>
              <a:rPr sz="1425" b="0">
                <a:solidFill>
                  <a:srgbClr val="F7FBF8"/>
                </a:solidFill>
                <a:latin typeface="Inter"/>
                <a:ea typeface="Inter"/>
                <a:cs typeface="Inter"/>
              </a:rPr>
              <a:t>Local source term not explained by boundary-driven transport</a:t>
            </a:r>
          </a:p>
        </p:txBody>
      </p:sp>
      <p:sp>
        <p:nvSpPr>
          <p:cNvPr id="13" name="">
            <a:extLst xmlns:a="http://schemas.openxmlformats.org/drawingml/2006/main">
              <a:ext uri="{FF2B5EF4-FFF2-40B4-BE49-F238E27FC236}">
                <a16:creationId xmlns:a16="http://schemas.microsoft.com/office/drawing/2014/main" id="{C23C3565-77C4-4FC3-B1FE-BCC688BFC95A}"/>
              </a:ext>
            </a:extLst>
          </p:cNvPr>
          <p:cNvSpPr>
            <a:spLocks xmlns:a="http://schemas.openxmlformats.org/drawingml/2006/main" noGrp="1"/>
          </p:cNvSpPr>
          <p:nvPr/>
        </p:nvSpPr>
        <p:spPr>
          <a:xfrm xmlns:a="http://schemas.openxmlformats.org/drawingml/2006/main">
            <a:off x="7477125" y="1371600"/>
            <a:ext cx="4095750" cy="1885950"/>
          </a:xfrm>
          <a:prstGeom xmlns:a="http://schemas.openxmlformats.org/drawingml/2006/main" prst="roundRect">
            <a:avLst>
              <a:gd name="adj" fmla="val 9091"/>
            </a:avLst>
          </a:prstGeom>
          <a:solidFill xmlns:a="http://schemas.openxmlformats.org/drawingml/2006/main">
            <a:srgbClr val="0E493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FC8D2B4-3A90-4C3B-B1DE-D3C99751F653}"/>
              </a:ext>
            </a:extLst>
          </p:cNvPr>
          <p:cNvSpPr>
            <a:spLocks xmlns:a="http://schemas.openxmlformats.org/drawingml/2006/main" noGrp="1"/>
          </p:cNvSpPr>
          <p:nvPr/>
        </p:nvSpPr>
        <p:spPr>
          <a:xfrm xmlns:a="http://schemas.openxmlformats.org/drawingml/2006/main">
            <a:off x="7791450" y="1647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NULL-MODEL PREDICTION</a:t>
            </a:r>
          </a:p>
        </p:txBody>
      </p:sp>
      <p:sp>
        <p:nvSpPr>
          <p:cNvPr id="15" name="">
            <a:extLst xmlns:a="http://schemas.openxmlformats.org/drawingml/2006/main">
              <a:ext uri="{FF2B5EF4-FFF2-40B4-BE49-F238E27FC236}">
                <a16:creationId xmlns:a16="http://schemas.microsoft.com/office/drawing/2014/main" id="{A7C93303-E0ED-4845-988F-D5678661D49E}"/>
              </a:ext>
            </a:extLst>
          </p:cNvPr>
          <p:cNvSpPr>
            <a:spLocks xmlns:a="http://schemas.openxmlformats.org/drawingml/2006/main" noGrp="1"/>
          </p:cNvSpPr>
          <p:nvPr/>
        </p:nvSpPr>
        <p:spPr>
          <a:xfrm xmlns:a="http://schemas.openxmlformats.org/drawingml/2006/main">
            <a:off x="7791450" y="20383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950" b="1">
                <a:solidFill>
                  <a:srgbClr val="F7FBF8"/>
                </a:solidFill>
                <a:latin typeface="Inter"/>
                <a:ea typeface="Inter"/>
                <a:cs typeface="Inter"/>
              </a:defRPr>
            </a:pPr>
            <a:r>
              <a:rPr sz="1950" b="1">
                <a:solidFill>
                  <a:srgbClr val="F7FBF8"/>
                </a:solidFill>
                <a:latin typeface="Inter"/>
                <a:ea typeface="Inter"/>
                <a:cs typeface="Inter"/>
              </a:rPr>
              <a:t>Δφ(z,ω) = −z√[ω/(2Dₑff)]</a:t>
            </a:r>
          </a:p>
          <a:p xmlns:a="http://schemas.openxmlformats.org/drawingml/2006/main">
            <a:pPr algn="l">
              <a:defRPr sz="1950" b="1">
                <a:solidFill>
                  <a:srgbClr val="F7FBF8"/>
                </a:solidFill>
                <a:latin typeface="Inter"/>
                <a:ea typeface="Inter"/>
                <a:cs typeface="Inter"/>
              </a:defRPr>
            </a:pPr>
            <a:r>
              <a:rPr sz="1950" b="1">
                <a:solidFill>
                  <a:srgbClr val="F7FBF8"/>
                </a:solidFill>
                <a:latin typeface="Inter"/>
                <a:ea typeface="Inter"/>
                <a:cs typeface="Inter"/>
              </a:rPr>
              <a:t>τ(z,ω) = −Δφ/ω</a:t>
            </a:r>
          </a:p>
        </p:txBody>
      </p:sp>
      <p:sp>
        <p:nvSpPr>
          <p:cNvPr id="16" name="">
            <a:extLst xmlns:a="http://schemas.openxmlformats.org/drawingml/2006/main">
              <a:ext uri="{FF2B5EF4-FFF2-40B4-BE49-F238E27FC236}">
                <a16:creationId xmlns:a16="http://schemas.microsoft.com/office/drawing/2014/main" id="{3AC6B037-4147-48F5-BA30-D5D9886FDF46}"/>
              </a:ext>
            </a:extLst>
          </p:cNvPr>
          <p:cNvSpPr>
            <a:spLocks xmlns:a="http://schemas.openxmlformats.org/drawingml/2006/main" noGrp="1"/>
          </p:cNvSpPr>
          <p:nvPr/>
        </p:nvSpPr>
        <p:spPr>
          <a:xfrm xmlns:a="http://schemas.openxmlformats.org/drawingml/2006/main">
            <a:off x="7791450" y="287655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lgn="l">
              <a:defRPr sz="1350" b="0">
                <a:solidFill>
                  <a:srgbClr val="BBD0C8"/>
                </a:solidFill>
                <a:latin typeface="Inter"/>
                <a:ea typeface="Inter"/>
                <a:cs typeface="Inter"/>
              </a:defRPr>
            </a:pPr>
            <a:r>
              <a:rPr sz="1350" b="0">
                <a:solidFill>
                  <a:srgbClr val="BBD0C8"/>
                </a:solidFill>
                <a:latin typeface="Inter"/>
                <a:ea typeface="Inter"/>
                <a:cs typeface="Inter"/>
              </a:rPr>
              <a:t>Lag grows with depth. Amplitude decreases.</a:t>
            </a:r>
          </a:p>
        </p:txBody>
      </p:sp>
      <p:sp>
        <p:nvSpPr>
          <p:cNvPr id="17" name="">
            <a:extLst xmlns:a="http://schemas.openxmlformats.org/drawingml/2006/main">
              <a:ext uri="{FF2B5EF4-FFF2-40B4-BE49-F238E27FC236}">
                <a16:creationId xmlns:a16="http://schemas.microsoft.com/office/drawing/2014/main" id="{F1183298-D228-4AED-8AAA-ED132A41BD3C}"/>
              </a:ext>
            </a:extLst>
          </p:cNvPr>
          <p:cNvSpPr>
            <a:spLocks xmlns:a="http://schemas.openxmlformats.org/drawingml/2006/main" noGrp="1"/>
          </p:cNvSpPr>
          <p:nvPr/>
        </p:nvSpPr>
        <p:spPr>
          <a:xfrm xmlns:a="http://schemas.openxmlformats.org/drawingml/2006/main">
            <a:off x="7477125" y="3571875"/>
            <a:ext cx="4095750" cy="1952625"/>
          </a:xfrm>
          <a:prstGeom xmlns:a="http://schemas.openxmlformats.org/drawingml/2006/main" prst="roundRect">
            <a:avLst>
              <a:gd name="adj" fmla="val 8780"/>
            </a:avLst>
          </a:prstGeom>
          <a:solidFill xmlns:a="http://schemas.openxmlformats.org/drawingml/2006/main">
            <a:srgbClr val="28524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407B104-4B57-40B9-8E4A-E620CB89A608}"/>
              </a:ext>
            </a:extLst>
          </p:cNvPr>
          <p:cNvSpPr>
            <a:spLocks xmlns:a="http://schemas.openxmlformats.org/drawingml/2006/main" noGrp="1"/>
          </p:cNvSpPr>
          <p:nvPr/>
        </p:nvSpPr>
        <p:spPr>
          <a:xfrm xmlns:a="http://schemas.openxmlformats.org/drawingml/2006/main">
            <a:off x="7791450" y="38290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F6AE3E"/>
                </a:solidFill>
                <a:latin typeface="Inter"/>
                <a:ea typeface="Inter"/>
                <a:cs typeface="Inter"/>
              </a:defRPr>
            </a:pPr>
            <a:r>
              <a:rPr sz="1200" b="1">
                <a:solidFill>
                  <a:srgbClr val="F6AE3E"/>
                </a:solidFill>
                <a:latin typeface="Inter"/>
                <a:ea typeface="Inter"/>
                <a:cs typeface="Inter"/>
              </a:rPr>
              <a:t>WHAT THE RESIDUAL MEANS</a:t>
            </a:r>
          </a:p>
        </p:txBody>
      </p:sp>
      <p:sp>
        <p:nvSpPr>
          <p:cNvPr id="19" name="">
            <a:extLst xmlns:a="http://schemas.openxmlformats.org/drawingml/2006/main">
              <a:ext uri="{FF2B5EF4-FFF2-40B4-BE49-F238E27FC236}">
                <a16:creationId xmlns:a16="http://schemas.microsoft.com/office/drawing/2014/main" id="{2AE30911-BB40-4742-ABB5-D29D8A2F136F}"/>
              </a:ext>
            </a:extLst>
          </p:cNvPr>
          <p:cNvSpPr>
            <a:spLocks xmlns:a="http://schemas.openxmlformats.org/drawingml/2006/main" noGrp="1"/>
          </p:cNvSpPr>
          <p:nvPr/>
        </p:nvSpPr>
        <p:spPr>
          <a:xfrm xmlns:a="http://schemas.openxmlformats.org/drawingml/2006/main">
            <a:off x="7791450" y="4210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F7FBF8"/>
                </a:solidFill>
                <a:latin typeface="Inter"/>
                <a:ea typeface="Inter"/>
                <a:cs typeface="Inter"/>
              </a:defRPr>
            </a:pPr>
            <a:r>
              <a:rPr sz="1800" b="1">
                <a:solidFill>
                  <a:srgbClr val="F7FBF8"/>
                </a:solidFill>
                <a:latin typeface="Inter"/>
                <a:ea typeface="Inter"/>
                <a:cs typeface="Inter"/>
              </a:rPr>
              <a:t>Residual = observation − model</a:t>
            </a:r>
          </a:p>
        </p:txBody>
      </p:sp>
      <p:sp>
        <p:nvSpPr>
          <p:cNvPr id="20" name="">
            <a:extLst xmlns:a="http://schemas.openxmlformats.org/drawingml/2006/main">
              <a:ext uri="{FF2B5EF4-FFF2-40B4-BE49-F238E27FC236}">
                <a16:creationId xmlns:a16="http://schemas.microsoft.com/office/drawing/2014/main" id="{EAF74AFE-81B8-4884-A683-6A4A234C4C5F}"/>
              </a:ext>
            </a:extLst>
          </p:cNvPr>
          <p:cNvSpPr>
            <a:spLocks xmlns:a="http://schemas.openxmlformats.org/drawingml/2006/main" noGrp="1"/>
          </p:cNvSpPr>
          <p:nvPr/>
        </p:nvSpPr>
        <p:spPr>
          <a:xfrm xmlns:a="http://schemas.openxmlformats.org/drawingml/2006/main">
            <a:off x="7791450" y="466725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792"/>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A stable residual motivates tests of local production, geochemical consumption, advection or changing pathways. Random residuals do not.</a:t>
            </a:r>
          </a:p>
        </p:txBody>
      </p:sp>
      <p:sp>
        <p:nvSpPr>
          <p:cNvPr id="21" name="">
            <a:extLst xmlns:a="http://schemas.openxmlformats.org/drawingml/2006/main">
              <a:ext uri="{FF2B5EF4-FFF2-40B4-BE49-F238E27FC236}">
                <a16:creationId xmlns:a16="http://schemas.microsoft.com/office/drawing/2014/main" id="{CDD52F93-F8A6-42F7-A885-8B9EAC198A05}"/>
              </a:ext>
            </a:extLst>
          </p:cNvPr>
          <p:cNvSpPr>
            <a:spLocks xmlns:a="http://schemas.openxmlformats.org/drawingml/2006/main" noGrp="1"/>
          </p:cNvSpPr>
          <p:nvPr/>
        </p:nvSpPr>
        <p:spPr>
          <a:xfrm xmlns:a="http://schemas.openxmlformats.org/drawingml/2006/main">
            <a:off x="571500" y="56959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BBD0C8"/>
                </a:solidFill>
                <a:latin typeface="Inter"/>
                <a:ea typeface="Inter"/>
                <a:cs typeface="Inter"/>
              </a:defRPr>
            </a:pPr>
            <a:r>
              <a:rPr sz="1050" b="0">
                <a:solidFill>
                  <a:srgbClr val="BBD0C8"/>
                </a:solidFill>
                <a:latin typeface="Inter"/>
                <a:ea typeface="Inter"/>
                <a:cs typeface="Inter"/>
              </a:rPr>
              <a:t>ω: angular frequency. Δφ: unwrapped phase difference. τ: equivalent delay.</a:t>
            </a:r>
          </a:p>
        </p:txBody>
      </p:sp>
    </p:spTree>
    <p:extLst>
      <p:ext uri="{BB962C8B-B14F-4D97-AF65-F5344CB8AC3E}">
        <p14:creationId xmlns:p14="http://schemas.microsoft.com/office/powerpoint/2010/main" val="1997073347"/>
      </p:ext>
    </p:extLst>
  </p:cSld>
</p:sld>
</file>

<file path=ppt/slides/slide9.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B207A11-EE2A-4479-BB7E-55E0095FF0E4}"/>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PHASE ESTIMATION</a:t>
            </a:r>
          </a:p>
        </p:txBody>
      </p:sp>
      <p:sp>
        <p:nvSpPr>
          <p:cNvPr id="2" name="">
            <a:extLst xmlns:a="http://schemas.openxmlformats.org/drawingml/2006/main">
              <a:ext uri="{FF2B5EF4-FFF2-40B4-BE49-F238E27FC236}">
                <a16:creationId xmlns:a16="http://schemas.microsoft.com/office/drawing/2014/main" id="{03E2AEFC-18D0-40B7-87DF-EFC6E94E5886}"/>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Phase is accepted only when shared structure is reliable</a:t>
            </a:r>
          </a:p>
        </p:txBody>
      </p:sp>
      <p:sp>
        <p:nvSpPr>
          <p:cNvPr id="3" name="">
            <a:extLst xmlns:a="http://schemas.openxmlformats.org/drawingml/2006/main">
              <a:ext uri="{FF2B5EF4-FFF2-40B4-BE49-F238E27FC236}">
                <a16:creationId xmlns:a16="http://schemas.microsoft.com/office/drawing/2014/main" id="{2C7E1D18-A441-424C-AC0D-9627732CB0E9}"/>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9</a:t>
            </a:r>
          </a:p>
        </p:txBody>
      </p:sp>
      <p:sp>
        <p:nvSpPr>
          <p:cNvPr id="4" name="">
            <a:extLst xmlns:a="http://schemas.openxmlformats.org/drawingml/2006/main">
              <a:ext uri="{FF2B5EF4-FFF2-40B4-BE49-F238E27FC236}">
                <a16:creationId xmlns:a16="http://schemas.microsoft.com/office/drawing/2014/main" id="{3519FC80-D0FA-4046-BDA9-B847137B5794}"/>
              </a:ext>
            </a:extLst>
          </p:cNvPr>
          <p:cNvSpPr>
            <a:spLocks xmlns:a="http://schemas.openxmlformats.org/drawingml/2006/main" noGrp="1"/>
          </p:cNvSpPr>
          <p:nvPr/>
        </p:nvSpPr>
        <p:spPr>
          <a:xfrm xmlns:a="http://schemas.openxmlformats.org/drawingml/2006/main">
            <a:off x="676275" y="1504950"/>
            <a:ext cx="476250" cy="4762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C05AB1-EB4A-48BD-951D-C17F538FF970}"/>
              </a:ext>
            </a:extLst>
          </p:cNvPr>
          <p:cNvSpPr>
            <a:spLocks xmlns:a="http://schemas.openxmlformats.org/drawingml/2006/main" noGrp="1"/>
          </p:cNvSpPr>
          <p:nvPr/>
        </p:nvSpPr>
        <p:spPr>
          <a:xfrm xmlns:a="http://schemas.openxmlformats.org/drawingml/2006/main">
            <a:off x="733425" y="15811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0231D"/>
                </a:solidFill>
                <a:latin typeface="Inter"/>
                <a:ea typeface="Inter"/>
                <a:cs typeface="Inter"/>
              </a:defRPr>
            </a:pPr>
            <a:r>
              <a:rPr sz="1500" b="1">
                <a:solidFill>
                  <a:srgbClr val="10231D"/>
                </a:solidFill>
                <a:latin typeface="Inter"/>
                <a:ea typeface="Inter"/>
                <a:cs typeface="Inter"/>
              </a:rPr>
              <a:t>1</a:t>
            </a:r>
          </a:p>
        </p:txBody>
      </p:sp>
      <p:sp>
        <p:nvSpPr>
          <p:cNvPr id="6" name="">
            <a:extLst xmlns:a="http://schemas.openxmlformats.org/drawingml/2006/main">
              <a:ext uri="{FF2B5EF4-FFF2-40B4-BE49-F238E27FC236}">
                <a16:creationId xmlns:a16="http://schemas.microsoft.com/office/drawing/2014/main" id="{42F323DC-91D0-451F-BCC8-328BBDD9AB3E}"/>
              </a:ext>
            </a:extLst>
          </p:cNvPr>
          <p:cNvSpPr>
            <a:spLocks xmlns:a="http://schemas.openxmlformats.org/drawingml/2006/main" noGrp="1"/>
          </p:cNvSpPr>
          <p:nvPr/>
        </p:nvSpPr>
        <p:spPr>
          <a:xfrm xmlns:a="http://schemas.openxmlformats.org/drawingml/2006/main">
            <a:off x="590550" y="219075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B7F23A"/>
                </a:solidFill>
                <a:latin typeface="Inter"/>
                <a:ea typeface="Inter"/>
                <a:cs typeface="Inter"/>
              </a:defRPr>
            </a:pPr>
            <a:r>
              <a:rPr sz="1275" b="1">
                <a:solidFill>
                  <a:srgbClr val="B7F23A"/>
                </a:solidFill>
                <a:latin typeface="Inter"/>
                <a:ea typeface="Inter"/>
                <a:cs typeface="Inter"/>
              </a:rPr>
              <a:t>CROSS-SPECTRUM</a:t>
            </a:r>
          </a:p>
        </p:txBody>
      </p:sp>
      <p:sp>
        <p:nvSpPr>
          <p:cNvPr id="7" name="">
            <a:extLst xmlns:a="http://schemas.openxmlformats.org/drawingml/2006/main">
              <a:ext uri="{FF2B5EF4-FFF2-40B4-BE49-F238E27FC236}">
                <a16:creationId xmlns:a16="http://schemas.microsoft.com/office/drawing/2014/main" id="{323C852F-3141-47E0-8B2F-51E49D837F63}"/>
              </a:ext>
            </a:extLst>
          </p:cNvPr>
          <p:cNvSpPr>
            <a:spLocks xmlns:a="http://schemas.openxmlformats.org/drawingml/2006/main" noGrp="1"/>
          </p:cNvSpPr>
          <p:nvPr/>
        </p:nvSpPr>
        <p:spPr>
          <a:xfrm xmlns:a="http://schemas.openxmlformats.org/drawingml/2006/main">
            <a:off x="590550" y="2781300"/>
            <a:ext cx="2362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F7FBF8"/>
                </a:solidFill>
                <a:latin typeface="Inter"/>
                <a:ea typeface="Inter"/>
                <a:cs typeface="Inter"/>
              </a:defRPr>
            </a:pPr>
            <a:r>
              <a:rPr sz="1500" b="0">
                <a:solidFill>
                  <a:srgbClr val="F7FBF8"/>
                </a:solidFill>
                <a:latin typeface="Inter"/>
                <a:ea typeface="Inter"/>
                <a:cs typeface="Inter"/>
              </a:rPr>
              <a:t>The argument of the averaged product X*(ω)Y(ω) gives relative phase.</a:t>
            </a:r>
          </a:p>
        </p:txBody>
      </p:sp>
      <p:sp>
        <p:nvSpPr>
          <p:cNvPr id="8" name="">
            <a:extLst xmlns:a="http://schemas.openxmlformats.org/drawingml/2006/main">
              <a:ext uri="{FF2B5EF4-FFF2-40B4-BE49-F238E27FC236}">
                <a16:creationId xmlns:a16="http://schemas.microsoft.com/office/drawing/2014/main" id="{CD747BF8-84A6-4609-A584-DCE2E7F350FA}"/>
              </a:ext>
            </a:extLst>
          </p:cNvPr>
          <p:cNvSpPr>
            <a:spLocks xmlns:a="http://schemas.openxmlformats.org/drawingml/2006/main" noGrp="1"/>
          </p:cNvSpPr>
          <p:nvPr/>
        </p:nvSpPr>
        <p:spPr>
          <a:xfrm xmlns:a="http://schemas.openxmlformats.org/drawingml/2006/main">
            <a:off x="3438525" y="1504950"/>
            <a:ext cx="476250" cy="47625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E5972D0-3F7B-48EF-8AAC-8B57AD67402C}"/>
              </a:ext>
            </a:extLst>
          </p:cNvPr>
          <p:cNvSpPr>
            <a:spLocks xmlns:a="http://schemas.openxmlformats.org/drawingml/2006/main" noGrp="1"/>
          </p:cNvSpPr>
          <p:nvPr/>
        </p:nvSpPr>
        <p:spPr>
          <a:xfrm xmlns:a="http://schemas.openxmlformats.org/drawingml/2006/main">
            <a:off x="3495675" y="15811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0231D"/>
                </a:solidFill>
                <a:latin typeface="Inter"/>
                <a:ea typeface="Inter"/>
                <a:cs typeface="Inter"/>
              </a:defRPr>
            </a:pPr>
            <a:r>
              <a:rPr sz="1500" b="1">
                <a:solidFill>
                  <a:srgbClr val="10231D"/>
                </a:solidFill>
                <a:latin typeface="Inter"/>
                <a:ea typeface="Inter"/>
                <a:cs typeface="Inter"/>
              </a:rPr>
              <a:t>2</a:t>
            </a:r>
          </a:p>
        </p:txBody>
      </p:sp>
      <p:sp>
        <p:nvSpPr>
          <p:cNvPr id="10" name="">
            <a:extLst xmlns:a="http://schemas.openxmlformats.org/drawingml/2006/main">
              <a:ext uri="{FF2B5EF4-FFF2-40B4-BE49-F238E27FC236}">
                <a16:creationId xmlns:a16="http://schemas.microsoft.com/office/drawing/2014/main" id="{E2788341-E84A-417E-B9E5-EC2A9EC98671}"/>
              </a:ext>
            </a:extLst>
          </p:cNvPr>
          <p:cNvSpPr>
            <a:spLocks xmlns:a="http://schemas.openxmlformats.org/drawingml/2006/main" noGrp="1"/>
          </p:cNvSpPr>
          <p:nvPr/>
        </p:nvSpPr>
        <p:spPr>
          <a:xfrm xmlns:a="http://schemas.openxmlformats.org/drawingml/2006/main">
            <a:off x="3352800" y="219075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F6AE3E"/>
                </a:solidFill>
                <a:latin typeface="Inter"/>
                <a:ea typeface="Inter"/>
                <a:cs typeface="Inter"/>
              </a:defRPr>
            </a:pPr>
            <a:r>
              <a:rPr sz="1275" b="1">
                <a:solidFill>
                  <a:srgbClr val="F6AE3E"/>
                </a:solidFill>
                <a:latin typeface="Inter"/>
                <a:ea typeface="Inter"/>
                <a:cs typeface="Inter"/>
              </a:rPr>
              <a:t>COHERENCE</a:t>
            </a:r>
          </a:p>
        </p:txBody>
      </p:sp>
      <p:sp>
        <p:nvSpPr>
          <p:cNvPr id="11" name="">
            <a:extLst xmlns:a="http://schemas.openxmlformats.org/drawingml/2006/main">
              <a:ext uri="{FF2B5EF4-FFF2-40B4-BE49-F238E27FC236}">
                <a16:creationId xmlns:a16="http://schemas.microsoft.com/office/drawing/2014/main" id="{B47DE128-B60F-4509-B89F-2020249040E3}"/>
              </a:ext>
            </a:extLst>
          </p:cNvPr>
          <p:cNvSpPr>
            <a:spLocks xmlns:a="http://schemas.openxmlformats.org/drawingml/2006/main" noGrp="1"/>
          </p:cNvSpPr>
          <p:nvPr/>
        </p:nvSpPr>
        <p:spPr>
          <a:xfrm xmlns:a="http://schemas.openxmlformats.org/drawingml/2006/main">
            <a:off x="3352800" y="2781300"/>
            <a:ext cx="2362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F7FBF8"/>
                </a:solidFill>
                <a:latin typeface="Inter"/>
                <a:ea typeface="Inter"/>
                <a:cs typeface="Inter"/>
              </a:defRPr>
            </a:pPr>
            <a:r>
              <a:rPr sz="1500" b="0">
                <a:solidFill>
                  <a:srgbClr val="F7FBF8"/>
                </a:solidFill>
                <a:latin typeface="Inter"/>
                <a:ea typeface="Inter"/>
                <a:cs typeface="Inter"/>
              </a:rPr>
              <a:t>A 0–1 measure of reproducible shared oscillation. Low values reject phase.</a:t>
            </a:r>
          </a:p>
        </p:txBody>
      </p:sp>
      <p:sp>
        <p:nvSpPr>
          <p:cNvPr id="12" name="">
            <a:extLst xmlns:a="http://schemas.openxmlformats.org/drawingml/2006/main">
              <a:ext uri="{FF2B5EF4-FFF2-40B4-BE49-F238E27FC236}">
                <a16:creationId xmlns:a16="http://schemas.microsoft.com/office/drawing/2014/main" id="{335BC3E2-477B-4E67-940A-24B486E1003C}"/>
              </a:ext>
            </a:extLst>
          </p:cNvPr>
          <p:cNvSpPr>
            <a:spLocks xmlns:a="http://schemas.openxmlformats.org/drawingml/2006/main" noGrp="1"/>
          </p:cNvSpPr>
          <p:nvPr/>
        </p:nvSpPr>
        <p:spPr>
          <a:xfrm xmlns:a="http://schemas.openxmlformats.org/drawingml/2006/main">
            <a:off x="6200775" y="1504950"/>
            <a:ext cx="476250" cy="4762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B006DA-3A0D-4AA5-9CD2-1B59BA7934C3}"/>
              </a:ext>
            </a:extLst>
          </p:cNvPr>
          <p:cNvSpPr>
            <a:spLocks xmlns:a="http://schemas.openxmlformats.org/drawingml/2006/main" noGrp="1"/>
          </p:cNvSpPr>
          <p:nvPr/>
        </p:nvSpPr>
        <p:spPr>
          <a:xfrm xmlns:a="http://schemas.openxmlformats.org/drawingml/2006/main">
            <a:off x="6257925" y="15811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0231D"/>
                </a:solidFill>
                <a:latin typeface="Inter"/>
                <a:ea typeface="Inter"/>
                <a:cs typeface="Inter"/>
              </a:defRPr>
            </a:pPr>
            <a:r>
              <a:rPr sz="1500" b="1">
                <a:solidFill>
                  <a:srgbClr val="10231D"/>
                </a:solidFill>
                <a:latin typeface="Inter"/>
                <a:ea typeface="Inter"/>
                <a:cs typeface="Inter"/>
              </a:rPr>
              <a:t>3</a:t>
            </a:r>
          </a:p>
        </p:txBody>
      </p:sp>
      <p:sp>
        <p:nvSpPr>
          <p:cNvPr id="14" name="">
            <a:extLst xmlns:a="http://schemas.openxmlformats.org/drawingml/2006/main">
              <a:ext uri="{FF2B5EF4-FFF2-40B4-BE49-F238E27FC236}">
                <a16:creationId xmlns:a16="http://schemas.microsoft.com/office/drawing/2014/main" id="{47E31668-0071-4956-976F-3BB82EB3A961}"/>
              </a:ext>
            </a:extLst>
          </p:cNvPr>
          <p:cNvSpPr>
            <a:spLocks xmlns:a="http://schemas.openxmlformats.org/drawingml/2006/main" noGrp="1"/>
          </p:cNvSpPr>
          <p:nvPr/>
        </p:nvSpPr>
        <p:spPr>
          <a:xfrm xmlns:a="http://schemas.openxmlformats.org/drawingml/2006/main">
            <a:off x="6115050" y="219075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B7F23A"/>
                </a:solidFill>
                <a:latin typeface="Inter"/>
                <a:ea typeface="Inter"/>
                <a:cs typeface="Inter"/>
              </a:defRPr>
            </a:pPr>
            <a:r>
              <a:rPr sz="1275" b="1">
                <a:solidFill>
                  <a:srgbClr val="B7F23A"/>
                </a:solidFill>
                <a:latin typeface="Inter"/>
                <a:ea typeface="Inter"/>
                <a:cs typeface="Inter"/>
              </a:rPr>
              <a:t>WAVELET PHASE</a:t>
            </a:r>
          </a:p>
        </p:txBody>
      </p:sp>
      <p:sp>
        <p:nvSpPr>
          <p:cNvPr id="15" name="">
            <a:extLst xmlns:a="http://schemas.openxmlformats.org/drawingml/2006/main">
              <a:ext uri="{FF2B5EF4-FFF2-40B4-BE49-F238E27FC236}">
                <a16:creationId xmlns:a16="http://schemas.microsoft.com/office/drawing/2014/main" id="{D3D0569A-730D-48D1-BF0A-501C3F0DD3F9}"/>
              </a:ext>
            </a:extLst>
          </p:cNvPr>
          <p:cNvSpPr>
            <a:spLocks xmlns:a="http://schemas.openxmlformats.org/drawingml/2006/main" noGrp="1"/>
          </p:cNvSpPr>
          <p:nvPr/>
        </p:nvSpPr>
        <p:spPr>
          <a:xfrm xmlns:a="http://schemas.openxmlformats.org/drawingml/2006/main">
            <a:off x="6115050" y="2781300"/>
            <a:ext cx="2362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F7FBF8"/>
                </a:solidFill>
                <a:latin typeface="Inter"/>
                <a:ea typeface="Inter"/>
                <a:cs typeface="Inter"/>
              </a:defRPr>
            </a:pPr>
            <a:r>
              <a:rPr sz="1500" b="0">
                <a:solidFill>
                  <a:srgbClr val="F7FBF8"/>
                </a:solidFill>
                <a:latin typeface="Inter"/>
                <a:ea typeface="Inter"/>
                <a:cs typeface="Inter"/>
              </a:rPr>
              <a:t>Local phase in time and scale for rain, drainage and recovery.</a:t>
            </a:r>
          </a:p>
        </p:txBody>
      </p:sp>
      <p:sp>
        <p:nvSpPr>
          <p:cNvPr id="16" name="">
            <a:extLst xmlns:a="http://schemas.openxmlformats.org/drawingml/2006/main">
              <a:ext uri="{FF2B5EF4-FFF2-40B4-BE49-F238E27FC236}">
                <a16:creationId xmlns:a16="http://schemas.microsoft.com/office/drawing/2014/main" id="{8573EC6C-ACB4-44DA-9970-A2D9A4C282CE}"/>
              </a:ext>
            </a:extLst>
          </p:cNvPr>
          <p:cNvSpPr>
            <a:spLocks xmlns:a="http://schemas.openxmlformats.org/drawingml/2006/main" noGrp="1"/>
          </p:cNvSpPr>
          <p:nvPr/>
        </p:nvSpPr>
        <p:spPr>
          <a:xfrm xmlns:a="http://schemas.openxmlformats.org/drawingml/2006/main">
            <a:off x="8963025" y="1504950"/>
            <a:ext cx="476250" cy="4762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BEC534-0C45-4CBA-9A5F-DA60A1B5137C}"/>
              </a:ext>
            </a:extLst>
          </p:cNvPr>
          <p:cNvSpPr>
            <a:spLocks xmlns:a="http://schemas.openxmlformats.org/drawingml/2006/main" noGrp="1"/>
          </p:cNvSpPr>
          <p:nvPr/>
        </p:nvSpPr>
        <p:spPr>
          <a:xfrm xmlns:a="http://schemas.openxmlformats.org/drawingml/2006/main">
            <a:off x="9020175" y="15811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0231D"/>
                </a:solidFill>
                <a:latin typeface="Inter"/>
                <a:ea typeface="Inter"/>
                <a:cs typeface="Inter"/>
              </a:defRPr>
            </a:pPr>
            <a:r>
              <a:rPr sz="1500" b="1">
                <a:solidFill>
                  <a:srgbClr val="10231D"/>
                </a:solidFill>
                <a:latin typeface="Inter"/>
                <a:ea typeface="Inter"/>
                <a:cs typeface="Inter"/>
              </a:rPr>
              <a:t>4</a:t>
            </a:r>
          </a:p>
        </p:txBody>
      </p:sp>
      <p:sp>
        <p:nvSpPr>
          <p:cNvPr id="18" name="">
            <a:extLst xmlns:a="http://schemas.openxmlformats.org/drawingml/2006/main">
              <a:ext uri="{FF2B5EF4-FFF2-40B4-BE49-F238E27FC236}">
                <a16:creationId xmlns:a16="http://schemas.microsoft.com/office/drawing/2014/main" id="{DA877CEB-BCAE-43C6-BEC4-485117AA2540}"/>
              </a:ext>
            </a:extLst>
          </p:cNvPr>
          <p:cNvSpPr>
            <a:spLocks xmlns:a="http://schemas.openxmlformats.org/drawingml/2006/main" noGrp="1"/>
          </p:cNvSpPr>
          <p:nvPr/>
        </p:nvSpPr>
        <p:spPr>
          <a:xfrm xmlns:a="http://schemas.openxmlformats.org/drawingml/2006/main">
            <a:off x="8877300" y="219075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B7F23A"/>
                </a:solidFill>
                <a:latin typeface="Inter"/>
                <a:ea typeface="Inter"/>
                <a:cs typeface="Inter"/>
              </a:defRPr>
            </a:pPr>
            <a:r>
              <a:rPr sz="1275" b="1">
                <a:solidFill>
                  <a:srgbClr val="B7F23A"/>
                </a:solidFill>
                <a:latin typeface="Inter"/>
                <a:ea typeface="Inter"/>
                <a:cs typeface="Inter"/>
              </a:rPr>
              <a:t>ANALYTIC SIGNAL</a:t>
            </a:r>
          </a:p>
        </p:txBody>
      </p:sp>
      <p:sp>
        <p:nvSpPr>
          <p:cNvPr id="19" name="">
            <a:extLst xmlns:a="http://schemas.openxmlformats.org/drawingml/2006/main">
              <a:ext uri="{FF2B5EF4-FFF2-40B4-BE49-F238E27FC236}">
                <a16:creationId xmlns:a16="http://schemas.microsoft.com/office/drawing/2014/main" id="{19A51A81-649D-4EF2-B9E1-865456D6AC26}"/>
              </a:ext>
            </a:extLst>
          </p:cNvPr>
          <p:cNvSpPr>
            <a:spLocks xmlns:a="http://schemas.openxmlformats.org/drawingml/2006/main" noGrp="1"/>
          </p:cNvSpPr>
          <p:nvPr/>
        </p:nvSpPr>
        <p:spPr>
          <a:xfrm xmlns:a="http://schemas.openxmlformats.org/drawingml/2006/main">
            <a:off x="8877300" y="2781300"/>
            <a:ext cx="2362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F7FBF8"/>
                </a:solidFill>
                <a:latin typeface="Inter"/>
                <a:ea typeface="Inter"/>
                <a:cs typeface="Inter"/>
              </a:defRPr>
            </a:pPr>
            <a:r>
              <a:rPr sz="1500" b="0">
                <a:solidFill>
                  <a:srgbClr val="F7FBF8"/>
                </a:solidFill>
                <a:latin typeface="Inter"/>
                <a:ea typeface="Inter"/>
                <a:cs typeface="Inter"/>
              </a:rPr>
              <a:t>Instantaneous phase after isolating a physically relevant narrow band.</a:t>
            </a:r>
          </a:p>
        </p:txBody>
      </p:sp>
      <p:sp>
        <p:nvSpPr>
          <p:cNvPr id="20" name="">
            <a:extLst xmlns:a="http://schemas.openxmlformats.org/drawingml/2006/main">
              <a:ext uri="{FF2B5EF4-FFF2-40B4-BE49-F238E27FC236}">
                <a16:creationId xmlns:a16="http://schemas.microsoft.com/office/drawing/2014/main" id="{44DE9F62-77A6-475E-925B-B8E6987E1C04}"/>
              </a:ext>
            </a:extLst>
          </p:cNvPr>
          <p:cNvSpPr>
            <a:spLocks xmlns:a="http://schemas.openxmlformats.org/drawingml/2006/main" noGrp="1"/>
          </p:cNvSpPr>
          <p:nvPr/>
        </p:nvSpPr>
        <p:spPr>
          <a:xfrm xmlns:a="http://schemas.openxmlformats.org/drawingml/2006/main" flipH="0" flipV="0">
            <a:off x="857250" y="4638675"/>
            <a:ext cx="10334625" cy="0"/>
          </a:xfrm>
          <a:prstGeom xmlns:a="http://schemas.openxmlformats.org/drawingml/2006/main" prst="line">
            <a:avLst/>
          </a:prstGeom>
          <a:noFill xmlns:a="http://schemas.openxmlformats.org/drawingml/2006/main"/>
          <a:ln xmlns:a="http://schemas.openxmlformats.org/drawingml/2006/main" w="28575">
            <a:solidFill>
              <a:srgbClr val="397061"/>
            </a:solidFill>
            <a:prstDash val="solid"/>
          </a:ln>
        </p:spPr>
      </p:sp>
      <p:sp>
        <p:nvSpPr>
          <p:cNvPr id="21" name="">
            <a:extLst xmlns:a="http://schemas.openxmlformats.org/drawingml/2006/main">
              <a:ext uri="{FF2B5EF4-FFF2-40B4-BE49-F238E27FC236}">
                <a16:creationId xmlns:a16="http://schemas.microsoft.com/office/drawing/2014/main" id="{5EDF179B-2397-44E9-B3D9-8C75170F4AD1}"/>
              </a:ext>
            </a:extLst>
          </p:cNvPr>
          <p:cNvSpPr>
            <a:spLocks xmlns:a="http://schemas.openxmlformats.org/drawingml/2006/main" noGrp="1"/>
          </p:cNvSpPr>
          <p:nvPr/>
        </p:nvSpPr>
        <p:spPr>
          <a:xfrm xmlns:a="http://schemas.openxmlformats.org/drawingml/2006/main">
            <a:off x="590550" y="4933950"/>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B7F23A"/>
                </a:solidFill>
                <a:latin typeface="Inter"/>
                <a:ea typeface="Inter"/>
                <a:cs typeface="Inter"/>
              </a:defRPr>
            </a:pPr>
            <a:r>
              <a:rPr sz="1350" b="1">
                <a:solidFill>
                  <a:srgbClr val="B7F23A"/>
                </a:solidFill>
                <a:latin typeface="Inter"/>
                <a:ea typeface="Inter"/>
                <a:cs typeface="Inter"/>
              </a:rPr>
              <a:t>Acceptance rule</a:t>
            </a:r>
          </a:p>
        </p:txBody>
      </p:sp>
      <p:sp>
        <p:nvSpPr>
          <p:cNvPr id="22" name="">
            <a:extLst xmlns:a="http://schemas.openxmlformats.org/drawingml/2006/main">
              <a:ext uri="{FF2B5EF4-FFF2-40B4-BE49-F238E27FC236}">
                <a16:creationId xmlns:a16="http://schemas.microsoft.com/office/drawing/2014/main" id="{2A51DF2E-0586-4553-993C-1ADA06965845}"/>
              </a:ext>
            </a:extLst>
          </p:cNvPr>
          <p:cNvSpPr>
            <a:spLocks xmlns:a="http://schemas.openxmlformats.org/drawingml/2006/main" noGrp="1"/>
          </p:cNvSpPr>
          <p:nvPr/>
        </p:nvSpPr>
        <p:spPr>
          <a:xfrm xmlns:a="http://schemas.openxmlformats.org/drawingml/2006/main">
            <a:off x="2714625" y="4857750"/>
            <a:ext cx="847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F7FBF8"/>
                </a:solidFill>
                <a:latin typeface="Inter"/>
                <a:ea typeface="Inter"/>
                <a:cs typeface="Inter"/>
              </a:defRPr>
            </a:pPr>
            <a:r>
              <a:rPr sz="1725" b="1">
                <a:solidFill>
                  <a:srgbClr val="F7FBF8"/>
                </a:solidFill>
                <a:latin typeface="Inter"/>
                <a:ea typeface="Inter"/>
                <a:cs typeface="Inter"/>
              </a:rPr>
              <a:t>Choose a physical time scale, estimate shared oscillation, report phase uncertainty and convert phase to delay only when coherence passes a predeclared threshold.</a:t>
            </a:r>
          </a:p>
        </p:txBody>
      </p:sp>
      <p:sp>
        <p:nvSpPr>
          <p:cNvPr id="23" name="">
            <a:extLst xmlns:a="http://schemas.openxmlformats.org/drawingml/2006/main">
              <a:ext uri="{FF2B5EF4-FFF2-40B4-BE49-F238E27FC236}">
                <a16:creationId xmlns:a16="http://schemas.microsoft.com/office/drawing/2014/main" id="{EBCC264F-EC26-445F-BA44-BA70188DDBBE}"/>
              </a:ext>
            </a:extLst>
          </p:cNvPr>
          <p:cNvSpPr>
            <a:spLocks xmlns:a="http://schemas.openxmlformats.org/drawingml/2006/main" noGrp="1"/>
          </p:cNvSpPr>
          <p:nvPr/>
        </p:nvSpPr>
        <p:spPr>
          <a:xfrm xmlns:a="http://schemas.openxmlformats.org/drawingml/2006/main">
            <a:off x="2714625" y="5753100"/>
            <a:ext cx="847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0">
                <a:solidFill>
                  <a:srgbClr val="BBD0C8"/>
                </a:solidFill>
                <a:latin typeface="Inter"/>
                <a:ea typeface="Inter"/>
                <a:cs typeface="Inter"/>
              </a:defRPr>
            </a:pPr>
            <a:r>
              <a:rPr sz="1200" b="0">
                <a:solidFill>
                  <a:srgbClr val="BBD0C8"/>
                </a:solidFill>
                <a:latin typeface="Inter"/>
                <a:ea typeface="Inter"/>
                <a:cs typeface="Inter"/>
              </a:rPr>
              <a:t>Cross-method agreement increases confidence. It does not prove a transport mechanism.</a:t>
            </a:r>
          </a:p>
        </p:txBody>
      </p:sp>
    </p:spTree>
    <p:extLst>
      <p:ext uri="{BB962C8B-B14F-4D97-AF65-F5344CB8AC3E}">
        <p14:creationId xmlns:p14="http://schemas.microsoft.com/office/powerpoint/2010/main" val="1175531220"/>
      </p:ext>
    </p:extLst>
  </p:cSld>
</p:sld>
</file>

<file path=ppt/slides/slide10.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9C4FF4AC-B963-4327-8853-5BF891CC44CA}"/>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EVENT GEOMETRY</a:t>
            </a:r>
          </a:p>
        </p:txBody>
      </p:sp>
      <p:sp>
        <p:nvSpPr>
          <p:cNvPr id="2" name="">
            <a:extLst xmlns:a="http://schemas.openxmlformats.org/drawingml/2006/main">
              <a:ext uri="{FF2B5EF4-FFF2-40B4-BE49-F238E27FC236}">
                <a16:creationId xmlns:a16="http://schemas.microsoft.com/office/drawing/2014/main" id="{BB9AD7B2-F1A4-4E2E-BDD2-4F86FD74F513}"/>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Rainfall events reveal reversibility, memory and drift</a:t>
            </a:r>
          </a:p>
        </p:txBody>
      </p:sp>
      <p:sp>
        <p:nvSpPr>
          <p:cNvPr id="3" name="">
            <a:extLst xmlns:a="http://schemas.openxmlformats.org/drawingml/2006/main">
              <a:ext uri="{FF2B5EF4-FFF2-40B4-BE49-F238E27FC236}">
                <a16:creationId xmlns:a16="http://schemas.microsoft.com/office/drawing/2014/main" id="{004121EA-4EDC-481F-9A5F-D9BF941B2D62}"/>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10</a:t>
            </a:r>
          </a:p>
        </p:txBody>
      </p:sp>
      <p:sp>
        <p:nvSpPr>
          <p:cNvPr id="4" name="">
            <a:extLst xmlns:a="http://schemas.openxmlformats.org/drawingml/2006/main">
              <a:ext uri="{FF2B5EF4-FFF2-40B4-BE49-F238E27FC236}">
                <a16:creationId xmlns:a16="http://schemas.microsoft.com/office/drawing/2014/main" id="{D435706A-70EF-4D62-BD84-D5906EE1DFAA}"/>
              </a:ext>
            </a:extLst>
          </p:cNvPr>
          <p:cNvSpPr>
            <a:spLocks xmlns:a="http://schemas.openxmlformats.org/drawingml/2006/main" noGrp="1"/>
          </p:cNvSpPr>
          <p:nvPr/>
        </p:nvSpPr>
        <p:spPr>
          <a:xfrm xmlns:a="http://schemas.openxmlformats.org/drawingml/2006/main" flipH="0" flipV="0">
            <a:off x="952500" y="2000250"/>
            <a:ext cx="8191500" cy="0"/>
          </a:xfrm>
          <a:prstGeom xmlns:a="http://schemas.openxmlformats.org/drawingml/2006/main" prst="line">
            <a:avLst/>
          </a:prstGeom>
          <a:noFill xmlns:a="http://schemas.openxmlformats.org/drawingml/2006/main"/>
          <a:ln xmlns:a="http://schemas.openxmlformats.org/drawingml/2006/main" w="19050">
            <a:solidFill>
              <a:srgbClr val="B7F23A"/>
            </a:solidFill>
            <a:prstDash val="solid"/>
          </a:ln>
        </p:spPr>
      </p:sp>
      <p:sp>
        <p:nvSpPr>
          <p:cNvPr id="5" name="">
            <a:extLst xmlns:a="http://schemas.openxmlformats.org/drawingml/2006/main">
              <a:ext uri="{FF2B5EF4-FFF2-40B4-BE49-F238E27FC236}">
                <a16:creationId xmlns:a16="http://schemas.microsoft.com/office/drawing/2014/main" id="{B2C1FF9E-33A0-4EFF-8439-2A7C06DD1BAA}"/>
              </a:ext>
            </a:extLst>
          </p:cNvPr>
          <p:cNvSpPr>
            <a:spLocks xmlns:a="http://schemas.openxmlformats.org/drawingml/2006/main" noGrp="1"/>
          </p:cNvSpPr>
          <p:nvPr/>
        </p:nvSpPr>
        <p:spPr>
          <a:xfrm xmlns:a="http://schemas.openxmlformats.org/drawingml/2006/main">
            <a:off x="866775" y="1914525"/>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035679-BD5F-49D1-AE41-98D814F5C90D}"/>
              </a:ext>
            </a:extLst>
          </p:cNvPr>
          <p:cNvSpPr>
            <a:spLocks xmlns:a="http://schemas.openxmlformats.org/drawingml/2006/main" noGrp="1"/>
          </p:cNvSpPr>
          <p:nvPr/>
        </p:nvSpPr>
        <p:spPr>
          <a:xfrm xmlns:a="http://schemas.openxmlformats.org/drawingml/2006/main">
            <a:off x="666750" y="1428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B7F23A"/>
                </a:solidFill>
                <a:latin typeface="Inter"/>
                <a:ea typeface="Inter"/>
                <a:cs typeface="Inter"/>
              </a:defRPr>
            </a:pPr>
            <a:r>
              <a:rPr sz="1350" b="1">
                <a:solidFill>
                  <a:srgbClr val="B7F23A"/>
                </a:solidFill>
                <a:latin typeface="Inter"/>
                <a:ea typeface="Inter"/>
                <a:cs typeface="Inter"/>
              </a:rPr>
              <a:t>RAIN</a:t>
            </a:r>
          </a:p>
        </p:txBody>
      </p:sp>
      <p:sp>
        <p:nvSpPr>
          <p:cNvPr id="7" name="">
            <a:extLst xmlns:a="http://schemas.openxmlformats.org/drawingml/2006/main">
              <a:ext uri="{FF2B5EF4-FFF2-40B4-BE49-F238E27FC236}">
                <a16:creationId xmlns:a16="http://schemas.microsoft.com/office/drawing/2014/main" id="{342BD865-A8F3-4800-BD6A-89A5DF8F80D4}"/>
              </a:ext>
            </a:extLst>
          </p:cNvPr>
          <p:cNvSpPr>
            <a:spLocks xmlns:a="http://schemas.openxmlformats.org/drawingml/2006/main" noGrp="1"/>
          </p:cNvSpPr>
          <p:nvPr/>
        </p:nvSpPr>
        <p:spPr>
          <a:xfrm xmlns:a="http://schemas.openxmlformats.org/drawingml/2006/main">
            <a:off x="4295775" y="1914525"/>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333D18D-8CBC-4E84-A369-DEA8AB51FBB8}"/>
              </a:ext>
            </a:extLst>
          </p:cNvPr>
          <p:cNvSpPr>
            <a:spLocks xmlns:a="http://schemas.openxmlformats.org/drawingml/2006/main" noGrp="1"/>
          </p:cNvSpPr>
          <p:nvPr/>
        </p:nvSpPr>
        <p:spPr>
          <a:xfrm xmlns:a="http://schemas.openxmlformats.org/drawingml/2006/main">
            <a:off x="4095750" y="1428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B7F23A"/>
                </a:solidFill>
                <a:latin typeface="Inter"/>
                <a:ea typeface="Inter"/>
                <a:cs typeface="Inter"/>
              </a:defRPr>
            </a:pPr>
            <a:r>
              <a:rPr sz="1350" b="1">
                <a:solidFill>
                  <a:srgbClr val="B7F23A"/>
                </a:solidFill>
                <a:latin typeface="Inter"/>
                <a:ea typeface="Inter"/>
                <a:cs typeface="Inter"/>
              </a:rPr>
              <a:t>DRAINAGE</a:t>
            </a:r>
          </a:p>
        </p:txBody>
      </p:sp>
      <p:sp>
        <p:nvSpPr>
          <p:cNvPr id="9" name="">
            <a:extLst xmlns:a="http://schemas.openxmlformats.org/drawingml/2006/main">
              <a:ext uri="{FF2B5EF4-FFF2-40B4-BE49-F238E27FC236}">
                <a16:creationId xmlns:a16="http://schemas.microsoft.com/office/drawing/2014/main" id="{676E879E-1448-42CB-9E59-4EAB9C682106}"/>
              </a:ext>
            </a:extLst>
          </p:cNvPr>
          <p:cNvSpPr>
            <a:spLocks xmlns:a="http://schemas.openxmlformats.org/drawingml/2006/main" noGrp="1"/>
          </p:cNvSpPr>
          <p:nvPr/>
        </p:nvSpPr>
        <p:spPr>
          <a:xfrm xmlns:a="http://schemas.openxmlformats.org/drawingml/2006/main">
            <a:off x="7724775" y="1914525"/>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110168A-8DA5-4D63-BB01-B25197DEA397}"/>
              </a:ext>
            </a:extLst>
          </p:cNvPr>
          <p:cNvSpPr>
            <a:spLocks xmlns:a="http://schemas.openxmlformats.org/drawingml/2006/main" noGrp="1"/>
          </p:cNvSpPr>
          <p:nvPr/>
        </p:nvSpPr>
        <p:spPr>
          <a:xfrm xmlns:a="http://schemas.openxmlformats.org/drawingml/2006/main">
            <a:off x="7524750" y="1428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B7F23A"/>
                </a:solidFill>
                <a:latin typeface="Inter"/>
                <a:ea typeface="Inter"/>
                <a:cs typeface="Inter"/>
              </a:defRPr>
            </a:pPr>
            <a:r>
              <a:rPr sz="1350" b="1">
                <a:solidFill>
                  <a:srgbClr val="B7F23A"/>
                </a:solidFill>
                <a:latin typeface="Inter"/>
                <a:ea typeface="Inter"/>
                <a:cs typeface="Inter"/>
              </a:rPr>
              <a:t>DRY RETURN</a:t>
            </a:r>
          </a:p>
        </p:txBody>
      </p:sp>
      <p:sp>
        <p:nvSpPr>
          <p:cNvPr id="11" name="">
            <a:extLst xmlns:a="http://schemas.openxmlformats.org/drawingml/2006/main">
              <a:ext uri="{FF2B5EF4-FFF2-40B4-BE49-F238E27FC236}">
                <a16:creationId xmlns:a16="http://schemas.microsoft.com/office/drawing/2014/main" id="{8CC3927F-9AFC-4E88-ABC7-2B4984556F28}"/>
              </a:ext>
            </a:extLst>
          </p:cNvPr>
          <p:cNvSpPr>
            <a:spLocks xmlns:a="http://schemas.openxmlformats.org/drawingml/2006/main" noGrp="1"/>
          </p:cNvSpPr>
          <p:nvPr/>
        </p:nvSpPr>
        <p:spPr>
          <a:xfrm xmlns:a="http://schemas.openxmlformats.org/drawingml/2006/main">
            <a:off x="666750" y="23050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F7FBF8"/>
                </a:solidFill>
                <a:latin typeface="Inter"/>
                <a:ea typeface="Inter"/>
                <a:cs typeface="Inter"/>
              </a:defRPr>
            </a:pPr>
            <a:r>
              <a:rPr sz="1575" b="1">
                <a:solidFill>
                  <a:srgbClr val="F7FBF8"/>
                </a:solidFill>
                <a:latin typeface="Inter"/>
                <a:ea typeface="Inter"/>
                <a:cs typeface="Inter"/>
              </a:rPr>
              <a:t>Starting dry state</a:t>
            </a:r>
          </a:p>
        </p:txBody>
      </p:sp>
      <p:sp>
        <p:nvSpPr>
          <p:cNvPr id="12" name="">
            <a:extLst xmlns:a="http://schemas.openxmlformats.org/drawingml/2006/main">
              <a:ext uri="{FF2B5EF4-FFF2-40B4-BE49-F238E27FC236}">
                <a16:creationId xmlns:a16="http://schemas.microsoft.com/office/drawing/2014/main" id="{00AE4E45-AAE9-4737-8858-130EF6000F5D}"/>
              </a:ext>
            </a:extLst>
          </p:cNvPr>
          <p:cNvSpPr>
            <a:spLocks xmlns:a="http://schemas.openxmlformats.org/drawingml/2006/main" noGrp="1"/>
          </p:cNvSpPr>
          <p:nvPr/>
        </p:nvSpPr>
        <p:spPr>
          <a:xfrm xmlns:a="http://schemas.openxmlformats.org/drawingml/2006/main">
            <a:off x="4095750" y="23050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F7FBF8"/>
                </a:solidFill>
                <a:latin typeface="Inter"/>
                <a:ea typeface="Inter"/>
                <a:cs typeface="Inter"/>
              </a:defRPr>
            </a:pPr>
            <a:r>
              <a:rPr sz="1575" b="1">
                <a:solidFill>
                  <a:srgbClr val="F7FBF8"/>
                </a:solidFill>
                <a:latin typeface="Inter"/>
                <a:ea typeface="Inter"/>
                <a:cs typeface="Inter"/>
              </a:rPr>
              <a:t>Trajectory through CO₂, phase, moisture and temperature</a:t>
            </a:r>
          </a:p>
        </p:txBody>
      </p:sp>
      <p:sp>
        <p:nvSpPr>
          <p:cNvPr id="13" name="">
            <a:extLst xmlns:a="http://schemas.openxmlformats.org/drawingml/2006/main">
              <a:ext uri="{FF2B5EF4-FFF2-40B4-BE49-F238E27FC236}">
                <a16:creationId xmlns:a16="http://schemas.microsoft.com/office/drawing/2014/main" id="{1C51F169-243C-4F7C-964B-BF33A9D42CC0}"/>
              </a:ext>
            </a:extLst>
          </p:cNvPr>
          <p:cNvSpPr>
            <a:spLocks xmlns:a="http://schemas.openxmlformats.org/drawingml/2006/main" noGrp="1"/>
          </p:cNvSpPr>
          <p:nvPr/>
        </p:nvSpPr>
        <p:spPr>
          <a:xfrm xmlns:a="http://schemas.openxmlformats.org/drawingml/2006/main">
            <a:off x="7524750" y="23050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F7FBF8"/>
                </a:solidFill>
                <a:latin typeface="Inter"/>
                <a:ea typeface="Inter"/>
                <a:cs typeface="Inter"/>
              </a:defRPr>
            </a:pPr>
            <a:r>
              <a:rPr sz="1575" b="1">
                <a:solidFill>
                  <a:srgbClr val="F7FBF8"/>
                </a:solidFill>
                <a:latin typeface="Inter"/>
                <a:ea typeface="Inter"/>
                <a:cs typeface="Inter"/>
              </a:rPr>
              <a:t>Compare the endpoint with a matched dry baseline</a:t>
            </a:r>
          </a:p>
        </p:txBody>
      </p:sp>
      <p:sp>
        <p:nvSpPr>
          <p:cNvPr id="14" name="">
            <a:extLst xmlns:a="http://schemas.openxmlformats.org/drawingml/2006/main">
              <a:ext uri="{FF2B5EF4-FFF2-40B4-BE49-F238E27FC236}">
                <a16:creationId xmlns:a16="http://schemas.microsoft.com/office/drawing/2014/main" id="{B38B2956-A492-4A53-9EB0-CB2FD9C43505}"/>
              </a:ext>
            </a:extLst>
          </p:cNvPr>
          <p:cNvSpPr>
            <a:spLocks xmlns:a="http://schemas.openxmlformats.org/drawingml/2006/main" noGrp="1"/>
          </p:cNvSpPr>
          <p:nvPr/>
        </p:nvSpPr>
        <p:spPr>
          <a:xfrm xmlns:a="http://schemas.openxmlformats.org/drawingml/2006/main">
            <a:off x="590550" y="3714750"/>
            <a:ext cx="3238500" cy="1809750"/>
          </a:xfrm>
          <a:prstGeom xmlns:a="http://schemas.openxmlformats.org/drawingml/2006/main" prst="roundRect">
            <a:avLst>
              <a:gd name="adj" fmla="val 9474"/>
            </a:avLst>
          </a:prstGeom>
          <a:solidFill xmlns:a="http://schemas.openxmlformats.org/drawingml/2006/main">
            <a:srgbClr val="0E493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3ACB5E-AB94-4484-AD60-B957661F31FF}"/>
              </a:ext>
            </a:extLst>
          </p:cNvPr>
          <p:cNvSpPr>
            <a:spLocks xmlns:a="http://schemas.openxmlformats.org/drawingml/2006/main" noGrp="1"/>
          </p:cNvSpPr>
          <p:nvPr/>
        </p:nvSpPr>
        <p:spPr>
          <a:xfrm xmlns:a="http://schemas.openxmlformats.org/drawingml/2006/main">
            <a:off x="819150" y="394335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B7F23A"/>
                </a:solidFill>
                <a:latin typeface="Inter"/>
                <a:ea typeface="Inter"/>
                <a:cs typeface="Inter"/>
              </a:defRPr>
            </a:pPr>
            <a:r>
              <a:rPr sz="1200" b="1">
                <a:solidFill>
                  <a:srgbClr val="B7F23A"/>
                </a:solidFill>
                <a:latin typeface="Inter"/>
                <a:ea typeface="Inter"/>
                <a:cs typeface="Inter"/>
              </a:rPr>
              <a:t>APPROXIMATELY CLOSED</a:t>
            </a:r>
          </a:p>
        </p:txBody>
      </p:sp>
      <p:sp>
        <p:nvSpPr>
          <p:cNvPr id="16" name="">
            <a:extLst xmlns:a="http://schemas.openxmlformats.org/drawingml/2006/main">
              <a:ext uri="{FF2B5EF4-FFF2-40B4-BE49-F238E27FC236}">
                <a16:creationId xmlns:a16="http://schemas.microsoft.com/office/drawing/2014/main" id="{FEC03077-620A-46A3-BCBB-860BA28D3152}"/>
              </a:ext>
            </a:extLst>
          </p:cNvPr>
          <p:cNvSpPr>
            <a:spLocks xmlns:a="http://schemas.openxmlformats.org/drawingml/2006/main" noGrp="1"/>
          </p:cNvSpPr>
          <p:nvPr/>
        </p:nvSpPr>
        <p:spPr>
          <a:xfrm xmlns:a="http://schemas.openxmlformats.org/drawingml/2006/main">
            <a:off x="819150" y="5067300"/>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reversible response</a:t>
            </a:r>
          </a:p>
        </p:txBody>
      </p:sp>
      <p:sp>
        <p:nvSpPr>
          <p:cNvPr id="17" name="">
            <a:extLst xmlns:a="http://schemas.openxmlformats.org/drawingml/2006/main">
              <a:ext uri="{FF2B5EF4-FFF2-40B4-BE49-F238E27FC236}">
                <a16:creationId xmlns:a16="http://schemas.microsoft.com/office/drawing/2014/main" id="{0C2E648A-8D85-4F9C-914A-23881C485398}"/>
              </a:ext>
            </a:extLst>
          </p:cNvPr>
          <p:cNvSpPr>
            <a:spLocks xmlns:a="http://schemas.openxmlformats.org/drawingml/2006/main" noGrp="1"/>
          </p:cNvSpPr>
          <p:nvPr/>
        </p:nvSpPr>
        <p:spPr>
          <a:xfrm xmlns:a="http://schemas.openxmlformats.org/drawingml/2006/main">
            <a:off x="4333875" y="3714750"/>
            <a:ext cx="3238500" cy="1809750"/>
          </a:xfrm>
          <a:prstGeom xmlns:a="http://schemas.openxmlformats.org/drawingml/2006/main" prst="roundRect">
            <a:avLst>
              <a:gd name="adj" fmla="val 9474"/>
            </a:avLst>
          </a:prstGeom>
          <a:solidFill xmlns:a="http://schemas.openxmlformats.org/drawingml/2006/main">
            <a:srgbClr val="0E493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A3ED3A-6CDA-4E14-AC44-B505E77823C9}"/>
              </a:ext>
            </a:extLst>
          </p:cNvPr>
          <p:cNvSpPr>
            <a:spLocks xmlns:a="http://schemas.openxmlformats.org/drawingml/2006/main" noGrp="1"/>
          </p:cNvSpPr>
          <p:nvPr/>
        </p:nvSpPr>
        <p:spPr>
          <a:xfrm xmlns:a="http://schemas.openxmlformats.org/drawingml/2006/main">
            <a:off x="4562475" y="394335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6AE3E"/>
                </a:solidFill>
                <a:latin typeface="Inter"/>
                <a:ea typeface="Inter"/>
                <a:cs typeface="Inter"/>
              </a:defRPr>
            </a:pPr>
            <a:r>
              <a:rPr sz="1200" b="1">
                <a:solidFill>
                  <a:srgbClr val="F6AE3E"/>
                </a:solidFill>
                <a:latin typeface="Inter"/>
                <a:ea typeface="Inter"/>
                <a:cs typeface="Inter"/>
              </a:rPr>
              <a:t>OPEN ENDPOINT</a:t>
            </a:r>
          </a:p>
        </p:txBody>
      </p:sp>
      <p:sp>
        <p:nvSpPr>
          <p:cNvPr id="19" name="">
            <a:extLst xmlns:a="http://schemas.openxmlformats.org/drawingml/2006/main">
              <a:ext uri="{FF2B5EF4-FFF2-40B4-BE49-F238E27FC236}">
                <a16:creationId xmlns:a16="http://schemas.microsoft.com/office/drawing/2014/main" id="{35E38108-EC05-4C1F-94D8-11E6C879A9FC}"/>
              </a:ext>
            </a:extLst>
          </p:cNvPr>
          <p:cNvSpPr>
            <a:spLocks xmlns:a="http://schemas.openxmlformats.org/drawingml/2006/main" noGrp="1"/>
          </p:cNvSpPr>
          <p:nvPr/>
        </p:nvSpPr>
        <p:spPr>
          <a:xfrm xmlns:a="http://schemas.openxmlformats.org/drawingml/2006/main">
            <a:off x="4562475" y="5067300"/>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residual memory or incomplete recovery</a:t>
            </a:r>
          </a:p>
        </p:txBody>
      </p:sp>
      <p:sp>
        <p:nvSpPr>
          <p:cNvPr id="20" name="">
            <a:extLst xmlns:a="http://schemas.openxmlformats.org/drawingml/2006/main">
              <a:ext uri="{FF2B5EF4-FFF2-40B4-BE49-F238E27FC236}">
                <a16:creationId xmlns:a16="http://schemas.microsoft.com/office/drawing/2014/main" id="{715105F5-37A6-4851-88C7-C04A126426A8}"/>
              </a:ext>
            </a:extLst>
          </p:cNvPr>
          <p:cNvSpPr>
            <a:spLocks xmlns:a="http://schemas.openxmlformats.org/drawingml/2006/main" noGrp="1"/>
          </p:cNvSpPr>
          <p:nvPr/>
        </p:nvSpPr>
        <p:spPr>
          <a:xfrm xmlns:a="http://schemas.openxmlformats.org/drawingml/2006/main">
            <a:off x="8077200" y="3714750"/>
            <a:ext cx="3238500" cy="1809750"/>
          </a:xfrm>
          <a:prstGeom xmlns:a="http://schemas.openxmlformats.org/drawingml/2006/main" prst="roundRect">
            <a:avLst>
              <a:gd name="adj" fmla="val 9474"/>
            </a:avLst>
          </a:prstGeom>
          <a:solidFill xmlns:a="http://schemas.openxmlformats.org/drawingml/2006/main">
            <a:srgbClr val="0E49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A6ED9FB-240A-4283-B848-8C862C9D6168}"/>
              </a:ext>
            </a:extLst>
          </p:cNvPr>
          <p:cNvSpPr>
            <a:spLocks xmlns:a="http://schemas.openxmlformats.org/drawingml/2006/main" noGrp="1"/>
          </p:cNvSpPr>
          <p:nvPr/>
        </p:nvSpPr>
        <p:spPr>
          <a:xfrm xmlns:a="http://schemas.openxmlformats.org/drawingml/2006/main">
            <a:off x="8305800" y="394335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68D7B3"/>
                </a:solidFill>
                <a:latin typeface="Inter"/>
                <a:ea typeface="Inter"/>
                <a:cs typeface="Inter"/>
              </a:defRPr>
            </a:pPr>
            <a:r>
              <a:rPr sz="1200" b="1">
                <a:solidFill>
                  <a:srgbClr val="68D7B3"/>
                </a:solidFill>
                <a:latin typeface="Inter"/>
                <a:ea typeface="Inter"/>
                <a:cs typeface="Inter"/>
              </a:rPr>
              <a:t>BRANCHED PATHS</a:t>
            </a:r>
          </a:p>
        </p:txBody>
      </p:sp>
      <p:sp>
        <p:nvSpPr>
          <p:cNvPr id="22" name="">
            <a:extLst xmlns:a="http://schemas.openxmlformats.org/drawingml/2006/main">
              <a:ext uri="{FF2B5EF4-FFF2-40B4-BE49-F238E27FC236}">
                <a16:creationId xmlns:a16="http://schemas.microsoft.com/office/drawing/2014/main" id="{E0EE631E-928D-435A-9215-3B901D8C2440}"/>
              </a:ext>
            </a:extLst>
          </p:cNvPr>
          <p:cNvSpPr>
            <a:spLocks xmlns:a="http://schemas.openxmlformats.org/drawingml/2006/main" noGrp="1"/>
          </p:cNvSpPr>
          <p:nvPr/>
        </p:nvSpPr>
        <p:spPr>
          <a:xfrm xmlns:a="http://schemas.openxmlformats.org/drawingml/2006/main">
            <a:off x="8305800" y="5067300"/>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different regimes under similar forcing</a:t>
            </a:r>
          </a:p>
        </p:txBody>
      </p:sp>
      <p:sp>
        <p:nvSpPr>
          <p:cNvPr id="23" name="">
            <a:extLst xmlns:a="http://schemas.openxmlformats.org/drawingml/2006/main">
              <a:ext uri="{FF2B5EF4-FFF2-40B4-BE49-F238E27FC236}">
                <a16:creationId xmlns:a16="http://schemas.microsoft.com/office/drawing/2014/main" id="{1B319B93-B2ED-4292-99B4-F6CDDB79DE25}"/>
              </a:ext>
            </a:extLst>
          </p:cNvPr>
          <p:cNvSpPr>
            <a:spLocks xmlns:a="http://schemas.openxmlformats.org/drawingml/2006/main" noGrp="1"/>
          </p:cNvSpPr>
          <p:nvPr/>
        </p:nvSpPr>
        <p:spPr>
          <a:xfrm xmlns:a="http://schemas.openxmlformats.org/drawingml/2006/main" flipH="0" flipV="1">
            <a:off x="1238250" y="4286250"/>
            <a:ext cx="476250" cy="400050"/>
          </a:xfrm>
          <a:prstGeom xmlns:a="http://schemas.openxmlformats.org/drawingml/2006/main" prst="line">
            <a:avLst/>
          </a:prstGeom>
          <a:noFill xmlns:a="http://schemas.openxmlformats.org/drawingml/2006/main"/>
          <a:ln xmlns:a="http://schemas.openxmlformats.org/drawingml/2006/main" w="28575">
            <a:solidFill>
              <a:srgbClr val="B7F23A"/>
            </a:solidFill>
            <a:prstDash val="solid"/>
          </a:ln>
        </p:spPr>
      </p:sp>
      <p:sp>
        <p:nvSpPr>
          <p:cNvPr id="24" name="">
            <a:extLst xmlns:a="http://schemas.openxmlformats.org/drawingml/2006/main">
              <a:ext uri="{FF2B5EF4-FFF2-40B4-BE49-F238E27FC236}">
                <a16:creationId xmlns:a16="http://schemas.microsoft.com/office/drawing/2014/main" id="{556A270C-42DC-4195-8A99-CB4DBA258532}"/>
              </a:ext>
            </a:extLst>
          </p:cNvPr>
          <p:cNvSpPr>
            <a:spLocks xmlns:a="http://schemas.openxmlformats.org/drawingml/2006/main" noGrp="1"/>
          </p:cNvSpPr>
          <p:nvPr/>
        </p:nvSpPr>
        <p:spPr>
          <a:xfrm xmlns:a="http://schemas.openxmlformats.org/drawingml/2006/main">
            <a:off x="1190625" y="4638675"/>
            <a:ext cx="95250" cy="952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A5EF386-3732-4253-880E-AC5A827F7A54}"/>
              </a:ext>
            </a:extLst>
          </p:cNvPr>
          <p:cNvSpPr>
            <a:spLocks xmlns:a="http://schemas.openxmlformats.org/drawingml/2006/main" noGrp="1"/>
          </p:cNvSpPr>
          <p:nvPr/>
        </p:nvSpPr>
        <p:spPr>
          <a:xfrm xmlns:a="http://schemas.openxmlformats.org/drawingml/2006/main" flipH="0" flipV="0">
            <a:off x="1714500" y="4286250"/>
            <a:ext cx="666750" cy="209550"/>
          </a:xfrm>
          <a:prstGeom xmlns:a="http://schemas.openxmlformats.org/drawingml/2006/main" prst="line">
            <a:avLst/>
          </a:prstGeom>
          <a:noFill xmlns:a="http://schemas.openxmlformats.org/drawingml/2006/main"/>
          <a:ln xmlns:a="http://schemas.openxmlformats.org/drawingml/2006/main" w="28575">
            <a:solidFill>
              <a:srgbClr val="B7F23A"/>
            </a:solidFill>
            <a:prstDash val="solid"/>
          </a:ln>
        </p:spPr>
      </p:sp>
      <p:sp>
        <p:nvSpPr>
          <p:cNvPr id="26" name="">
            <a:extLst xmlns:a="http://schemas.openxmlformats.org/drawingml/2006/main">
              <a:ext uri="{FF2B5EF4-FFF2-40B4-BE49-F238E27FC236}">
                <a16:creationId xmlns:a16="http://schemas.microsoft.com/office/drawing/2014/main" id="{723D0BA9-47B8-4908-8714-6F6474E530C4}"/>
              </a:ext>
            </a:extLst>
          </p:cNvPr>
          <p:cNvSpPr>
            <a:spLocks xmlns:a="http://schemas.openxmlformats.org/drawingml/2006/main" noGrp="1"/>
          </p:cNvSpPr>
          <p:nvPr/>
        </p:nvSpPr>
        <p:spPr>
          <a:xfrm xmlns:a="http://schemas.openxmlformats.org/drawingml/2006/main">
            <a:off x="1666875" y="4238625"/>
            <a:ext cx="95250" cy="952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AF7C8BB-A158-45A0-A092-97FBE8895F09}"/>
              </a:ext>
            </a:extLst>
          </p:cNvPr>
          <p:cNvSpPr>
            <a:spLocks xmlns:a="http://schemas.openxmlformats.org/drawingml/2006/main" noGrp="1"/>
          </p:cNvSpPr>
          <p:nvPr/>
        </p:nvSpPr>
        <p:spPr>
          <a:xfrm xmlns:a="http://schemas.openxmlformats.org/drawingml/2006/main" flipH="1" flipV="0">
            <a:off x="2143125" y="4495800"/>
            <a:ext cx="238125" cy="457200"/>
          </a:xfrm>
          <a:prstGeom xmlns:a="http://schemas.openxmlformats.org/drawingml/2006/main" prst="line">
            <a:avLst/>
          </a:prstGeom>
          <a:noFill xmlns:a="http://schemas.openxmlformats.org/drawingml/2006/main"/>
          <a:ln xmlns:a="http://schemas.openxmlformats.org/drawingml/2006/main" w="28575">
            <a:solidFill>
              <a:srgbClr val="B7F23A"/>
            </a:solidFill>
            <a:prstDash val="solid"/>
          </a:ln>
        </p:spPr>
      </p:sp>
      <p:sp>
        <p:nvSpPr>
          <p:cNvPr id="28" name="">
            <a:extLst xmlns:a="http://schemas.openxmlformats.org/drawingml/2006/main">
              <a:ext uri="{FF2B5EF4-FFF2-40B4-BE49-F238E27FC236}">
                <a16:creationId xmlns:a16="http://schemas.microsoft.com/office/drawing/2014/main" id="{823595F7-3CF7-4880-B8EE-7F63B242B76A}"/>
              </a:ext>
            </a:extLst>
          </p:cNvPr>
          <p:cNvSpPr>
            <a:spLocks xmlns:a="http://schemas.openxmlformats.org/drawingml/2006/main" noGrp="1"/>
          </p:cNvSpPr>
          <p:nvPr/>
        </p:nvSpPr>
        <p:spPr>
          <a:xfrm xmlns:a="http://schemas.openxmlformats.org/drawingml/2006/main">
            <a:off x="2333625" y="4448175"/>
            <a:ext cx="95250" cy="952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6100635-D867-4B98-8E37-8249B6BB32D5}"/>
              </a:ext>
            </a:extLst>
          </p:cNvPr>
          <p:cNvSpPr>
            <a:spLocks xmlns:a="http://schemas.openxmlformats.org/drawingml/2006/main" noGrp="1"/>
          </p:cNvSpPr>
          <p:nvPr/>
        </p:nvSpPr>
        <p:spPr>
          <a:xfrm xmlns:a="http://schemas.openxmlformats.org/drawingml/2006/main" flipH="1" flipV="0">
            <a:off x="1428750" y="4953000"/>
            <a:ext cx="714375" cy="19050"/>
          </a:xfrm>
          <a:prstGeom xmlns:a="http://schemas.openxmlformats.org/drawingml/2006/main" prst="line">
            <a:avLst/>
          </a:prstGeom>
          <a:noFill xmlns:a="http://schemas.openxmlformats.org/drawingml/2006/main"/>
          <a:ln xmlns:a="http://schemas.openxmlformats.org/drawingml/2006/main" w="28575">
            <a:solidFill>
              <a:srgbClr val="B7F23A"/>
            </a:solidFill>
            <a:prstDash val="solid"/>
          </a:ln>
        </p:spPr>
      </p:sp>
      <p:sp>
        <p:nvSpPr>
          <p:cNvPr id="30" name="">
            <a:extLst xmlns:a="http://schemas.openxmlformats.org/drawingml/2006/main">
              <a:ext uri="{FF2B5EF4-FFF2-40B4-BE49-F238E27FC236}">
                <a16:creationId xmlns:a16="http://schemas.microsoft.com/office/drawing/2014/main" id="{4758C2C4-E597-41D4-8ADB-1D40E64B5E0B}"/>
              </a:ext>
            </a:extLst>
          </p:cNvPr>
          <p:cNvSpPr>
            <a:spLocks xmlns:a="http://schemas.openxmlformats.org/drawingml/2006/main" noGrp="1"/>
          </p:cNvSpPr>
          <p:nvPr/>
        </p:nvSpPr>
        <p:spPr>
          <a:xfrm xmlns:a="http://schemas.openxmlformats.org/drawingml/2006/main">
            <a:off x="2095500" y="4905375"/>
            <a:ext cx="95250" cy="952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6D339AC-2FF2-45FD-8CAA-6DB26ECBC92E}"/>
              </a:ext>
            </a:extLst>
          </p:cNvPr>
          <p:cNvSpPr>
            <a:spLocks xmlns:a="http://schemas.openxmlformats.org/drawingml/2006/main" noGrp="1"/>
          </p:cNvSpPr>
          <p:nvPr/>
        </p:nvSpPr>
        <p:spPr>
          <a:xfrm xmlns:a="http://schemas.openxmlformats.org/drawingml/2006/main" flipH="1" flipV="1">
            <a:off x="1238250" y="4686300"/>
            <a:ext cx="190500" cy="285750"/>
          </a:xfrm>
          <a:prstGeom xmlns:a="http://schemas.openxmlformats.org/drawingml/2006/main" prst="line">
            <a:avLst/>
          </a:prstGeom>
          <a:noFill xmlns:a="http://schemas.openxmlformats.org/drawingml/2006/main"/>
          <a:ln xmlns:a="http://schemas.openxmlformats.org/drawingml/2006/main" w="28575">
            <a:solidFill>
              <a:srgbClr val="B7F23A"/>
            </a:solidFill>
            <a:prstDash val="solid"/>
          </a:ln>
        </p:spPr>
      </p:sp>
      <p:sp>
        <p:nvSpPr>
          <p:cNvPr id="32" name="">
            <a:extLst xmlns:a="http://schemas.openxmlformats.org/drawingml/2006/main">
              <a:ext uri="{FF2B5EF4-FFF2-40B4-BE49-F238E27FC236}">
                <a16:creationId xmlns:a16="http://schemas.microsoft.com/office/drawing/2014/main" id="{AD649667-0ABD-41F5-A7C9-03B3A8958A0E}"/>
              </a:ext>
            </a:extLst>
          </p:cNvPr>
          <p:cNvSpPr>
            <a:spLocks xmlns:a="http://schemas.openxmlformats.org/drawingml/2006/main" noGrp="1"/>
          </p:cNvSpPr>
          <p:nvPr/>
        </p:nvSpPr>
        <p:spPr>
          <a:xfrm xmlns:a="http://schemas.openxmlformats.org/drawingml/2006/main">
            <a:off x="1381125" y="4924425"/>
            <a:ext cx="95250" cy="952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F00024B-8D81-4130-8139-32A838101635}"/>
              </a:ext>
            </a:extLst>
          </p:cNvPr>
          <p:cNvSpPr>
            <a:spLocks xmlns:a="http://schemas.openxmlformats.org/drawingml/2006/main" noGrp="1"/>
          </p:cNvSpPr>
          <p:nvPr/>
        </p:nvSpPr>
        <p:spPr>
          <a:xfrm xmlns:a="http://schemas.openxmlformats.org/drawingml/2006/main" flipH="0" flipV="1">
            <a:off x="4905375" y="4429125"/>
            <a:ext cx="428625" cy="476250"/>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34" name="">
            <a:extLst xmlns:a="http://schemas.openxmlformats.org/drawingml/2006/main">
              <a:ext uri="{FF2B5EF4-FFF2-40B4-BE49-F238E27FC236}">
                <a16:creationId xmlns:a16="http://schemas.microsoft.com/office/drawing/2014/main" id="{538EF3AE-5C0E-46AC-9C49-1CF92D65E1E8}"/>
              </a:ext>
            </a:extLst>
          </p:cNvPr>
          <p:cNvSpPr>
            <a:spLocks xmlns:a="http://schemas.openxmlformats.org/drawingml/2006/main" noGrp="1"/>
          </p:cNvSpPr>
          <p:nvPr/>
        </p:nvSpPr>
        <p:spPr>
          <a:xfrm xmlns:a="http://schemas.openxmlformats.org/drawingml/2006/main">
            <a:off x="4857750" y="4857750"/>
            <a:ext cx="95250" cy="9525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9800082-2D3F-4AB6-880D-EC994DE696BF}"/>
              </a:ext>
            </a:extLst>
          </p:cNvPr>
          <p:cNvSpPr>
            <a:spLocks xmlns:a="http://schemas.openxmlformats.org/drawingml/2006/main" noGrp="1"/>
          </p:cNvSpPr>
          <p:nvPr/>
        </p:nvSpPr>
        <p:spPr>
          <a:xfrm xmlns:a="http://schemas.openxmlformats.org/drawingml/2006/main" flipH="0" flipV="1">
            <a:off x="5334000" y="4333875"/>
            <a:ext cx="619125" cy="95250"/>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36" name="">
            <a:extLst xmlns:a="http://schemas.openxmlformats.org/drawingml/2006/main">
              <a:ext uri="{FF2B5EF4-FFF2-40B4-BE49-F238E27FC236}">
                <a16:creationId xmlns:a16="http://schemas.microsoft.com/office/drawing/2014/main" id="{449C18F5-621C-4A12-991E-A5D96A5E63A7}"/>
              </a:ext>
            </a:extLst>
          </p:cNvPr>
          <p:cNvSpPr>
            <a:spLocks xmlns:a="http://schemas.openxmlformats.org/drawingml/2006/main" noGrp="1"/>
          </p:cNvSpPr>
          <p:nvPr/>
        </p:nvSpPr>
        <p:spPr>
          <a:xfrm xmlns:a="http://schemas.openxmlformats.org/drawingml/2006/main">
            <a:off x="5286375" y="4381500"/>
            <a:ext cx="95250" cy="9525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71591CE-F698-4E85-B817-AF08F5A9B0F9}"/>
              </a:ext>
            </a:extLst>
          </p:cNvPr>
          <p:cNvSpPr>
            <a:spLocks xmlns:a="http://schemas.openxmlformats.org/drawingml/2006/main" noGrp="1"/>
          </p:cNvSpPr>
          <p:nvPr/>
        </p:nvSpPr>
        <p:spPr>
          <a:xfrm xmlns:a="http://schemas.openxmlformats.org/drawingml/2006/main" flipH="0" flipV="0">
            <a:off x="5953125" y="4333875"/>
            <a:ext cx="714375" cy="333375"/>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38" name="">
            <a:extLst xmlns:a="http://schemas.openxmlformats.org/drawingml/2006/main">
              <a:ext uri="{FF2B5EF4-FFF2-40B4-BE49-F238E27FC236}">
                <a16:creationId xmlns:a16="http://schemas.microsoft.com/office/drawing/2014/main" id="{DD8585B8-DEC6-469B-80DA-3E961B5CC911}"/>
              </a:ext>
            </a:extLst>
          </p:cNvPr>
          <p:cNvSpPr>
            <a:spLocks xmlns:a="http://schemas.openxmlformats.org/drawingml/2006/main" noGrp="1"/>
          </p:cNvSpPr>
          <p:nvPr/>
        </p:nvSpPr>
        <p:spPr>
          <a:xfrm xmlns:a="http://schemas.openxmlformats.org/drawingml/2006/main">
            <a:off x="5905500" y="4286250"/>
            <a:ext cx="95250" cy="9525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796DE31-FA01-48FA-92EE-CA47FD49A7C4}"/>
              </a:ext>
            </a:extLst>
          </p:cNvPr>
          <p:cNvSpPr>
            <a:spLocks xmlns:a="http://schemas.openxmlformats.org/drawingml/2006/main" noGrp="1"/>
          </p:cNvSpPr>
          <p:nvPr/>
        </p:nvSpPr>
        <p:spPr>
          <a:xfrm xmlns:a="http://schemas.openxmlformats.org/drawingml/2006/main" flipH="0" flipV="0">
            <a:off x="6667500" y="4667250"/>
            <a:ext cx="333375" cy="381000"/>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40" name="">
            <a:extLst xmlns:a="http://schemas.openxmlformats.org/drawingml/2006/main">
              <a:ext uri="{FF2B5EF4-FFF2-40B4-BE49-F238E27FC236}">
                <a16:creationId xmlns:a16="http://schemas.microsoft.com/office/drawing/2014/main" id="{19748AEF-0DC7-43AD-8A2B-C7C4BFA38B8C}"/>
              </a:ext>
            </a:extLst>
          </p:cNvPr>
          <p:cNvSpPr>
            <a:spLocks xmlns:a="http://schemas.openxmlformats.org/drawingml/2006/main" noGrp="1"/>
          </p:cNvSpPr>
          <p:nvPr/>
        </p:nvSpPr>
        <p:spPr>
          <a:xfrm xmlns:a="http://schemas.openxmlformats.org/drawingml/2006/main">
            <a:off x="6619875" y="4619625"/>
            <a:ext cx="95250" cy="9525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79565F25-8F53-4DB0-8278-F8375FAAAB27}"/>
              </a:ext>
            </a:extLst>
          </p:cNvPr>
          <p:cNvSpPr>
            <a:spLocks xmlns:a="http://schemas.openxmlformats.org/drawingml/2006/main" noGrp="1"/>
          </p:cNvSpPr>
          <p:nvPr/>
        </p:nvSpPr>
        <p:spPr>
          <a:xfrm xmlns:a="http://schemas.openxmlformats.org/drawingml/2006/main">
            <a:off x="6934200" y="4981575"/>
            <a:ext cx="133350" cy="13335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3678592-EFF9-4936-9314-23B8833ABCBD}"/>
              </a:ext>
            </a:extLst>
          </p:cNvPr>
          <p:cNvSpPr>
            <a:spLocks xmlns:a="http://schemas.openxmlformats.org/drawingml/2006/main" noGrp="1"/>
          </p:cNvSpPr>
          <p:nvPr/>
        </p:nvSpPr>
        <p:spPr>
          <a:xfrm xmlns:a="http://schemas.openxmlformats.org/drawingml/2006/main" flipH="0" flipV="1">
            <a:off x="8620125" y="4572000"/>
            <a:ext cx="523875" cy="333375"/>
          </a:xfrm>
          <a:prstGeom xmlns:a="http://schemas.openxmlformats.org/drawingml/2006/main" prst="line">
            <a:avLst/>
          </a:prstGeom>
          <a:noFill xmlns:a="http://schemas.openxmlformats.org/drawingml/2006/main"/>
          <a:ln xmlns:a="http://schemas.openxmlformats.org/drawingml/2006/main" w="28575">
            <a:solidFill>
              <a:srgbClr val="68D7B3"/>
            </a:solidFill>
            <a:prstDash val="solid"/>
          </a:ln>
        </p:spPr>
      </p:sp>
      <p:sp>
        <p:nvSpPr>
          <p:cNvPr id="43" name="">
            <a:extLst xmlns:a="http://schemas.openxmlformats.org/drawingml/2006/main">
              <a:ext uri="{FF2B5EF4-FFF2-40B4-BE49-F238E27FC236}">
                <a16:creationId xmlns:a16="http://schemas.microsoft.com/office/drawing/2014/main" id="{D8CF9925-8CC2-4FFF-9530-CAEF462BA569}"/>
              </a:ext>
            </a:extLst>
          </p:cNvPr>
          <p:cNvSpPr>
            <a:spLocks xmlns:a="http://schemas.openxmlformats.org/drawingml/2006/main" noGrp="1"/>
          </p:cNvSpPr>
          <p:nvPr/>
        </p:nvSpPr>
        <p:spPr>
          <a:xfrm xmlns:a="http://schemas.openxmlformats.org/drawingml/2006/main" flipH="0" flipV="0">
            <a:off x="9144000" y="4572000"/>
            <a:ext cx="571500" cy="95250"/>
          </a:xfrm>
          <a:prstGeom xmlns:a="http://schemas.openxmlformats.org/drawingml/2006/main" prst="line">
            <a:avLst/>
          </a:prstGeom>
          <a:noFill xmlns:a="http://schemas.openxmlformats.org/drawingml/2006/main"/>
          <a:ln xmlns:a="http://schemas.openxmlformats.org/drawingml/2006/main" w="28575">
            <a:solidFill>
              <a:srgbClr val="68D7B3"/>
            </a:solidFill>
            <a:prstDash val="solid"/>
          </a:ln>
        </p:spPr>
      </p:sp>
      <p:sp>
        <p:nvSpPr>
          <p:cNvPr id="44" name="">
            <a:extLst xmlns:a="http://schemas.openxmlformats.org/drawingml/2006/main">
              <a:ext uri="{FF2B5EF4-FFF2-40B4-BE49-F238E27FC236}">
                <a16:creationId xmlns:a16="http://schemas.microsoft.com/office/drawing/2014/main" id="{F29C74FF-B0BB-4811-A9A1-87661DA455C8}"/>
              </a:ext>
            </a:extLst>
          </p:cNvPr>
          <p:cNvSpPr>
            <a:spLocks xmlns:a="http://schemas.openxmlformats.org/drawingml/2006/main" noGrp="1"/>
          </p:cNvSpPr>
          <p:nvPr/>
        </p:nvSpPr>
        <p:spPr>
          <a:xfrm xmlns:a="http://schemas.openxmlformats.org/drawingml/2006/main" flipH="0" flipV="1">
            <a:off x="9715500" y="4286250"/>
            <a:ext cx="571500" cy="381000"/>
          </a:xfrm>
          <a:prstGeom xmlns:a="http://schemas.openxmlformats.org/drawingml/2006/main" prst="line">
            <a:avLst/>
          </a:prstGeom>
          <a:noFill xmlns:a="http://schemas.openxmlformats.org/drawingml/2006/main"/>
          <a:ln xmlns:a="http://schemas.openxmlformats.org/drawingml/2006/main" w="28575">
            <a:solidFill>
              <a:srgbClr val="68D7B3"/>
            </a:solidFill>
            <a:prstDash val="solid"/>
          </a:ln>
        </p:spPr>
      </p:sp>
      <p:sp>
        <p:nvSpPr>
          <p:cNvPr id="45" name="">
            <a:extLst xmlns:a="http://schemas.openxmlformats.org/drawingml/2006/main">
              <a:ext uri="{FF2B5EF4-FFF2-40B4-BE49-F238E27FC236}">
                <a16:creationId xmlns:a16="http://schemas.microsoft.com/office/drawing/2014/main" id="{C155173D-EB4D-406F-AC41-09D77B1AFC57}"/>
              </a:ext>
            </a:extLst>
          </p:cNvPr>
          <p:cNvSpPr>
            <a:spLocks xmlns:a="http://schemas.openxmlformats.org/drawingml/2006/main" noGrp="1"/>
          </p:cNvSpPr>
          <p:nvPr/>
        </p:nvSpPr>
        <p:spPr>
          <a:xfrm xmlns:a="http://schemas.openxmlformats.org/drawingml/2006/main" flipH="1" flipV="0">
            <a:off x="9715500" y="4286250"/>
            <a:ext cx="571500" cy="381000"/>
          </a:xfrm>
          <a:prstGeom xmlns:a="http://schemas.openxmlformats.org/drawingml/2006/main" prst="line">
            <a:avLst/>
          </a:prstGeom>
          <a:noFill xmlns:a="http://schemas.openxmlformats.org/drawingml/2006/main"/>
          <a:ln xmlns:a="http://schemas.openxmlformats.org/drawingml/2006/main" w="28575">
            <a:solidFill>
              <a:srgbClr val="68D7B3"/>
            </a:solidFill>
            <a:prstDash val="solid"/>
          </a:ln>
        </p:spPr>
      </p:sp>
      <p:sp>
        <p:nvSpPr>
          <p:cNvPr id="46" name="">
            <a:extLst xmlns:a="http://schemas.openxmlformats.org/drawingml/2006/main">
              <a:ext uri="{FF2B5EF4-FFF2-40B4-BE49-F238E27FC236}">
                <a16:creationId xmlns:a16="http://schemas.microsoft.com/office/drawing/2014/main" id="{054C7379-79BE-4302-9DAE-6E0027DDA247}"/>
              </a:ext>
            </a:extLst>
          </p:cNvPr>
          <p:cNvSpPr>
            <a:spLocks xmlns:a="http://schemas.openxmlformats.org/drawingml/2006/main" noGrp="1"/>
          </p:cNvSpPr>
          <p:nvPr/>
        </p:nvSpPr>
        <p:spPr>
          <a:xfrm xmlns:a="http://schemas.openxmlformats.org/drawingml/2006/main" flipH="0" flipV="0">
            <a:off x="9715500" y="4667250"/>
            <a:ext cx="666750" cy="381000"/>
          </a:xfrm>
          <a:prstGeom xmlns:a="http://schemas.openxmlformats.org/drawingml/2006/main" prst="line">
            <a:avLst/>
          </a:prstGeom>
          <a:noFill xmlns:a="http://schemas.openxmlformats.org/drawingml/2006/main"/>
          <a:ln xmlns:a="http://schemas.openxmlformats.org/drawingml/2006/main" w="28575">
            <a:solidFill>
              <a:srgbClr val="68D7B3"/>
            </a:solidFill>
            <a:prstDash val="solid"/>
          </a:ln>
        </p:spPr>
      </p:sp>
      <p:sp>
        <p:nvSpPr>
          <p:cNvPr id="47" name="">
            <a:extLst xmlns:a="http://schemas.openxmlformats.org/drawingml/2006/main">
              <a:ext uri="{FF2B5EF4-FFF2-40B4-BE49-F238E27FC236}">
                <a16:creationId xmlns:a16="http://schemas.microsoft.com/office/drawing/2014/main" id="{42B3938E-77B2-419D-A8F5-0DD62A456BE8}"/>
              </a:ext>
            </a:extLst>
          </p:cNvPr>
          <p:cNvSpPr>
            <a:spLocks xmlns:a="http://schemas.openxmlformats.org/drawingml/2006/main" noGrp="1"/>
          </p:cNvSpPr>
          <p:nvPr/>
        </p:nvSpPr>
        <p:spPr>
          <a:xfrm xmlns:a="http://schemas.openxmlformats.org/drawingml/2006/main">
            <a:off x="9658350" y="461010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17331CC-3D5A-42DA-89FC-328C87DC3505}"/>
              </a:ext>
            </a:extLst>
          </p:cNvPr>
          <p:cNvSpPr>
            <a:spLocks xmlns:a="http://schemas.openxmlformats.org/drawingml/2006/main" noGrp="1"/>
          </p:cNvSpPr>
          <p:nvPr/>
        </p:nvSpPr>
        <p:spPr>
          <a:xfrm xmlns:a="http://schemas.openxmlformats.org/drawingml/2006/main">
            <a:off x="647700" y="57721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BBD0C8"/>
                </a:solidFill>
                <a:latin typeface="Inter"/>
                <a:ea typeface="Inter"/>
                <a:cs typeface="Inter"/>
              </a:defRPr>
            </a:pPr>
            <a:r>
              <a:rPr sz="1200" b="0">
                <a:solidFill>
                  <a:srgbClr val="BBD0C8"/>
                </a:solidFill>
                <a:latin typeface="Inter"/>
                <a:ea typeface="Inter"/>
                <a:cs typeface="Inter"/>
              </a:rPr>
              <a:t>State vector q(t): concentrations C, accepted phase differences Δφ, volumetric water content θ, temperature T and selected covariates.</a:t>
            </a:r>
          </a:p>
        </p:txBody>
      </p:sp>
    </p:spTree>
    <p:extLst>
      <p:ext uri="{BB962C8B-B14F-4D97-AF65-F5344CB8AC3E}">
        <p14:creationId xmlns:p14="http://schemas.microsoft.com/office/powerpoint/2010/main" val="1033810712"/>
      </p:ext>
    </p:extLst>
  </p:cSld>
</p:sld>
</file>

<file path=ppt/slides/slide11.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460EA68-CF8F-4256-B373-1B80FB2C8BFD}"/>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NETWORK REPRESENTATION</a:t>
            </a:r>
          </a:p>
        </p:txBody>
      </p:sp>
      <p:sp>
        <p:nvSpPr>
          <p:cNvPr id="2" name="">
            <a:extLst xmlns:a="http://schemas.openxmlformats.org/drawingml/2006/main">
              <a:ext uri="{FF2B5EF4-FFF2-40B4-BE49-F238E27FC236}">
                <a16:creationId xmlns:a16="http://schemas.microsoft.com/office/drawing/2014/main" id="{ADB544D8-939E-40B9-B03A-EE85347F1EE7}"/>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The phase-transport graph maps reliable lead–lag relationships</a:t>
            </a:r>
          </a:p>
        </p:txBody>
      </p:sp>
      <p:sp>
        <p:nvSpPr>
          <p:cNvPr id="3" name="">
            <a:extLst xmlns:a="http://schemas.openxmlformats.org/drawingml/2006/main">
              <a:ext uri="{FF2B5EF4-FFF2-40B4-BE49-F238E27FC236}">
                <a16:creationId xmlns:a16="http://schemas.microsoft.com/office/drawing/2014/main" id="{325D8C30-BBD3-41CA-BA66-E45102532901}"/>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11</a:t>
            </a:r>
          </a:p>
        </p:txBody>
      </p:sp>
      <p:sp>
        <p:nvSpPr>
          <p:cNvPr id="4" name="">
            <a:extLst xmlns:a="http://schemas.openxmlformats.org/drawingml/2006/main">
              <a:ext uri="{FF2B5EF4-FFF2-40B4-BE49-F238E27FC236}">
                <a16:creationId xmlns:a16="http://schemas.microsoft.com/office/drawing/2014/main" id="{0BB52FB6-87AC-4B23-9DE5-3305D7CE1272}"/>
              </a:ext>
            </a:extLst>
          </p:cNvPr>
          <p:cNvSpPr>
            <a:spLocks xmlns:a="http://schemas.openxmlformats.org/drawingml/2006/main" noGrp="1"/>
          </p:cNvSpPr>
          <p:nvPr/>
        </p:nvSpPr>
        <p:spPr>
          <a:xfrm xmlns:a="http://schemas.openxmlformats.org/drawingml/2006/main">
            <a:off x="2286000" y="1476375"/>
            <a:ext cx="285750" cy="285750"/>
          </a:xfrm>
          <a:prstGeom xmlns:a="http://schemas.openxmlformats.org/drawingml/2006/main" prst="ellipse">
            <a:avLst/>
          </a:prstGeom>
          <a:solidFill xmlns:a="http://schemas.openxmlformats.org/drawingml/2006/main">
            <a:srgbClr val="F7FB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5359B7-C43E-4552-BD9A-A720077FCB81}"/>
              </a:ext>
            </a:extLst>
          </p:cNvPr>
          <p:cNvSpPr>
            <a:spLocks xmlns:a="http://schemas.openxmlformats.org/drawingml/2006/main" noGrp="1"/>
          </p:cNvSpPr>
          <p:nvPr/>
        </p:nvSpPr>
        <p:spPr>
          <a:xfrm xmlns:a="http://schemas.openxmlformats.org/drawingml/2006/main">
            <a:off x="4667250" y="1476375"/>
            <a:ext cx="285750" cy="285750"/>
          </a:xfrm>
          <a:prstGeom xmlns:a="http://schemas.openxmlformats.org/drawingml/2006/main" prst="ellipse">
            <a:avLst/>
          </a:prstGeom>
          <a:solidFill xmlns:a="http://schemas.openxmlformats.org/drawingml/2006/main">
            <a:srgbClr val="F7FB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DE34FC-AE20-4F3D-8D8C-48CB0ED30E3F}"/>
              </a:ext>
            </a:extLst>
          </p:cNvPr>
          <p:cNvSpPr>
            <a:spLocks xmlns:a="http://schemas.openxmlformats.org/drawingml/2006/main" noGrp="1"/>
          </p:cNvSpPr>
          <p:nvPr/>
        </p:nvSpPr>
        <p:spPr>
          <a:xfrm xmlns:a="http://schemas.openxmlformats.org/drawingml/2006/main">
            <a:off x="781050" y="14668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r">
              <a:defRPr sz="1350" b="1">
                <a:solidFill>
                  <a:srgbClr val="F7FBF8"/>
                </a:solidFill>
                <a:latin typeface="Inter"/>
                <a:ea typeface="Inter"/>
                <a:cs typeface="Inter"/>
              </a:defRPr>
            </a:pPr>
            <a:r>
              <a:rPr sz="1350" b="1">
                <a:solidFill>
                  <a:srgbClr val="F7FBF8"/>
                </a:solidFill>
                <a:latin typeface="Inter"/>
                <a:ea typeface="Inter"/>
                <a:cs typeface="Inter"/>
              </a:rPr>
              <a:t>AIR</a:t>
            </a:r>
          </a:p>
        </p:txBody>
      </p:sp>
      <p:sp>
        <p:nvSpPr>
          <p:cNvPr id="7" name="">
            <a:extLst xmlns:a="http://schemas.openxmlformats.org/drawingml/2006/main">
              <a:ext uri="{FF2B5EF4-FFF2-40B4-BE49-F238E27FC236}">
                <a16:creationId xmlns:a16="http://schemas.microsoft.com/office/drawing/2014/main" id="{E15ECA56-F9EB-451F-8455-C72BE3E170B1}"/>
              </a:ext>
            </a:extLst>
          </p:cNvPr>
          <p:cNvSpPr>
            <a:spLocks xmlns:a="http://schemas.openxmlformats.org/drawingml/2006/main" noGrp="1"/>
          </p:cNvSpPr>
          <p:nvPr/>
        </p:nvSpPr>
        <p:spPr>
          <a:xfrm xmlns:a="http://schemas.openxmlformats.org/drawingml/2006/main">
            <a:off x="2286000" y="2571750"/>
            <a:ext cx="285750" cy="2857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3A61DDD-CC13-47DA-BD9C-0E3EB162BAA2}"/>
              </a:ext>
            </a:extLst>
          </p:cNvPr>
          <p:cNvSpPr>
            <a:spLocks xmlns:a="http://schemas.openxmlformats.org/drawingml/2006/main" noGrp="1"/>
          </p:cNvSpPr>
          <p:nvPr/>
        </p:nvSpPr>
        <p:spPr>
          <a:xfrm xmlns:a="http://schemas.openxmlformats.org/drawingml/2006/main">
            <a:off x="4667250" y="2571750"/>
            <a:ext cx="285750" cy="28575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B1EBC7-7C39-4B0B-8719-D74F210266B7}"/>
              </a:ext>
            </a:extLst>
          </p:cNvPr>
          <p:cNvSpPr>
            <a:spLocks xmlns:a="http://schemas.openxmlformats.org/drawingml/2006/main" noGrp="1"/>
          </p:cNvSpPr>
          <p:nvPr/>
        </p:nvSpPr>
        <p:spPr>
          <a:xfrm xmlns:a="http://schemas.openxmlformats.org/drawingml/2006/main">
            <a:off x="781050" y="25622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r">
              <a:defRPr sz="1350" b="1">
                <a:solidFill>
                  <a:srgbClr val="F7FBF8"/>
                </a:solidFill>
                <a:latin typeface="Inter"/>
                <a:ea typeface="Inter"/>
                <a:cs typeface="Inter"/>
              </a:defRPr>
            </a:pPr>
            <a:r>
              <a:rPr sz="1350" b="1">
                <a:solidFill>
                  <a:srgbClr val="F7FBF8"/>
                </a:solidFill>
                <a:latin typeface="Inter"/>
                <a:ea typeface="Inter"/>
                <a:cs typeface="Inter"/>
              </a:rPr>
              <a:t>5 cm</a:t>
            </a:r>
          </a:p>
        </p:txBody>
      </p:sp>
      <p:sp>
        <p:nvSpPr>
          <p:cNvPr id="10" name="">
            <a:extLst xmlns:a="http://schemas.openxmlformats.org/drawingml/2006/main">
              <a:ext uri="{FF2B5EF4-FFF2-40B4-BE49-F238E27FC236}">
                <a16:creationId xmlns:a16="http://schemas.microsoft.com/office/drawing/2014/main" id="{3D1F3488-B07D-4953-9F5A-AEFF4D22740D}"/>
              </a:ext>
            </a:extLst>
          </p:cNvPr>
          <p:cNvSpPr>
            <a:spLocks xmlns:a="http://schemas.openxmlformats.org/drawingml/2006/main" noGrp="1"/>
          </p:cNvSpPr>
          <p:nvPr/>
        </p:nvSpPr>
        <p:spPr>
          <a:xfrm xmlns:a="http://schemas.openxmlformats.org/drawingml/2006/main">
            <a:off x="2286000" y="3667125"/>
            <a:ext cx="285750" cy="2857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E959731-5AB5-4862-AA02-0144D0ED1467}"/>
              </a:ext>
            </a:extLst>
          </p:cNvPr>
          <p:cNvSpPr>
            <a:spLocks xmlns:a="http://schemas.openxmlformats.org/drawingml/2006/main" noGrp="1"/>
          </p:cNvSpPr>
          <p:nvPr/>
        </p:nvSpPr>
        <p:spPr>
          <a:xfrm xmlns:a="http://schemas.openxmlformats.org/drawingml/2006/main">
            <a:off x="4667250" y="3667125"/>
            <a:ext cx="285750" cy="28575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DBAC29B-0BE9-488F-9296-587566D7406D}"/>
              </a:ext>
            </a:extLst>
          </p:cNvPr>
          <p:cNvSpPr>
            <a:spLocks xmlns:a="http://schemas.openxmlformats.org/drawingml/2006/main" noGrp="1"/>
          </p:cNvSpPr>
          <p:nvPr/>
        </p:nvSpPr>
        <p:spPr>
          <a:xfrm xmlns:a="http://schemas.openxmlformats.org/drawingml/2006/main">
            <a:off x="781050" y="36576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r">
              <a:defRPr sz="1350" b="1">
                <a:solidFill>
                  <a:srgbClr val="F7FBF8"/>
                </a:solidFill>
                <a:latin typeface="Inter"/>
                <a:ea typeface="Inter"/>
                <a:cs typeface="Inter"/>
              </a:defRPr>
            </a:pPr>
            <a:r>
              <a:rPr sz="1350" b="1">
                <a:solidFill>
                  <a:srgbClr val="F7FBF8"/>
                </a:solidFill>
                <a:latin typeface="Inter"/>
                <a:ea typeface="Inter"/>
                <a:cs typeface="Inter"/>
              </a:rPr>
              <a:t>25 cm</a:t>
            </a:r>
          </a:p>
        </p:txBody>
      </p:sp>
      <p:sp>
        <p:nvSpPr>
          <p:cNvPr id="13" name="">
            <a:extLst xmlns:a="http://schemas.openxmlformats.org/drawingml/2006/main">
              <a:ext uri="{FF2B5EF4-FFF2-40B4-BE49-F238E27FC236}">
                <a16:creationId xmlns:a16="http://schemas.microsoft.com/office/drawing/2014/main" id="{74E0D0ED-0A3C-4F03-AC32-0D89CB08AB88}"/>
              </a:ext>
            </a:extLst>
          </p:cNvPr>
          <p:cNvSpPr>
            <a:spLocks xmlns:a="http://schemas.openxmlformats.org/drawingml/2006/main" noGrp="1"/>
          </p:cNvSpPr>
          <p:nvPr/>
        </p:nvSpPr>
        <p:spPr>
          <a:xfrm xmlns:a="http://schemas.openxmlformats.org/drawingml/2006/main">
            <a:off x="2286000" y="4762500"/>
            <a:ext cx="285750" cy="2857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BFAF945-2EE2-4F8E-BDFA-D70E15A1B17F}"/>
              </a:ext>
            </a:extLst>
          </p:cNvPr>
          <p:cNvSpPr>
            <a:spLocks xmlns:a="http://schemas.openxmlformats.org/drawingml/2006/main" noGrp="1"/>
          </p:cNvSpPr>
          <p:nvPr/>
        </p:nvSpPr>
        <p:spPr>
          <a:xfrm xmlns:a="http://schemas.openxmlformats.org/drawingml/2006/main">
            <a:off x="4667250" y="4762500"/>
            <a:ext cx="285750" cy="28575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9005508-567B-4623-93DB-A26CC3649C71}"/>
              </a:ext>
            </a:extLst>
          </p:cNvPr>
          <p:cNvSpPr>
            <a:spLocks xmlns:a="http://schemas.openxmlformats.org/drawingml/2006/main" noGrp="1"/>
          </p:cNvSpPr>
          <p:nvPr/>
        </p:nvSpPr>
        <p:spPr>
          <a:xfrm xmlns:a="http://schemas.openxmlformats.org/drawingml/2006/main">
            <a:off x="781050" y="4752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r">
              <a:defRPr sz="1350" b="1">
                <a:solidFill>
                  <a:srgbClr val="F7FBF8"/>
                </a:solidFill>
                <a:latin typeface="Inter"/>
                <a:ea typeface="Inter"/>
                <a:cs typeface="Inter"/>
              </a:defRPr>
            </a:pPr>
            <a:r>
              <a:rPr sz="1350" b="1">
                <a:solidFill>
                  <a:srgbClr val="F7FBF8"/>
                </a:solidFill>
                <a:latin typeface="Inter"/>
                <a:ea typeface="Inter"/>
                <a:cs typeface="Inter"/>
              </a:rPr>
              <a:t>50 cm</a:t>
            </a:r>
          </a:p>
        </p:txBody>
      </p:sp>
      <p:cxnSp>
        <p:nvCxnSpPr>
          <p:cNvPr id="49" name=""/>
          <p:cNvCxnSpPr>
            <a:stCxn xmlns:a="http://schemas.openxmlformats.org/drawingml/2006/main" id="7" idx="0"/>
            <a:endCxn xmlns:a="http://schemas.openxmlformats.org/drawingml/2006/main" id="4" idx="4"/>
          </p:cNvCxnSpPr>
          <p:nvPr/>
        </p:nvCxnSpPr>
        <p:spPr>
          <a:xfrm xmlns:a="http://schemas.openxmlformats.org/drawingml/2006/main" flipV="1">
            <a:off x="2428875" y="1762125"/>
            <a:ext cx="0" cy="809625"/>
          </a:xfrm>
          <a:prstGeom xmlns:a="http://schemas.openxmlformats.org/drawingml/2006/main" prst="straightConnector1">
            <a:avLst/>
          </a:prstGeom>
          <a:ln xmlns:a="http://schemas.openxmlformats.org/drawingml/2006/main" w="38100">
            <a:solidFill>
              <a:srgbClr val="B7F23A"/>
            </a:solidFill>
            <a:prstDash val="solid"/>
            <a:headEnd type="arrow" w="sm" len="sm"/>
          </a:ln>
        </p:spPr>
      </p:cxnSp>
      <p:cxnSp>
        <p:nvCxnSpPr>
          <p:cNvPr id="50" name=""/>
          <p:cNvCxnSpPr>
            <a:stCxn xmlns:a="http://schemas.openxmlformats.org/drawingml/2006/main" id="8" idx="0"/>
            <a:endCxn xmlns:a="http://schemas.openxmlformats.org/drawingml/2006/main" id="5" idx="4"/>
          </p:cNvCxnSpPr>
          <p:nvPr/>
        </p:nvCxnSpPr>
        <p:spPr>
          <a:xfrm xmlns:a="http://schemas.openxmlformats.org/drawingml/2006/main" flipV="1">
            <a:off x="4810125" y="1762125"/>
            <a:ext cx="0" cy="809625"/>
          </a:xfrm>
          <a:prstGeom xmlns:a="http://schemas.openxmlformats.org/drawingml/2006/main" prst="straightConnector1">
            <a:avLst/>
          </a:prstGeom>
          <a:ln xmlns:a="http://schemas.openxmlformats.org/drawingml/2006/main" w="28575">
            <a:solidFill>
              <a:srgbClr val="68D7B3"/>
            </a:solidFill>
            <a:prstDash val="solid"/>
            <a:headEnd type="arrow" w="sm" len="sm"/>
          </a:ln>
        </p:spPr>
      </p:cxnSp>
      <p:cxnSp>
        <p:nvCxnSpPr>
          <p:cNvPr id="51" name=""/>
          <p:cNvCxnSpPr>
            <a:stCxn xmlns:a="http://schemas.openxmlformats.org/drawingml/2006/main" id="10" idx="0"/>
            <a:endCxn xmlns:a="http://schemas.openxmlformats.org/drawingml/2006/main" id="7" idx="4"/>
          </p:cNvCxnSpPr>
          <p:nvPr/>
        </p:nvCxnSpPr>
        <p:spPr>
          <a:xfrm xmlns:a="http://schemas.openxmlformats.org/drawingml/2006/main" flipV="1">
            <a:off x="2428875" y="2857500"/>
            <a:ext cx="0" cy="809625"/>
          </a:xfrm>
          <a:prstGeom xmlns:a="http://schemas.openxmlformats.org/drawingml/2006/main" prst="straightConnector1">
            <a:avLst/>
          </a:prstGeom>
          <a:ln xmlns:a="http://schemas.openxmlformats.org/drawingml/2006/main" w="38100">
            <a:solidFill>
              <a:srgbClr val="B7F23A"/>
            </a:solidFill>
            <a:prstDash val="solid"/>
            <a:headEnd type="arrow" w="sm" len="sm"/>
          </a:ln>
        </p:spPr>
      </p:cxnSp>
      <p:cxnSp>
        <p:nvCxnSpPr>
          <p:cNvPr id="52" name=""/>
          <p:cNvCxnSpPr>
            <a:stCxn xmlns:a="http://schemas.openxmlformats.org/drawingml/2006/main" id="11" idx="0"/>
            <a:endCxn xmlns:a="http://schemas.openxmlformats.org/drawingml/2006/main" id="8" idx="4"/>
          </p:cNvCxnSpPr>
          <p:nvPr/>
        </p:nvCxnSpPr>
        <p:spPr>
          <a:xfrm xmlns:a="http://schemas.openxmlformats.org/drawingml/2006/main" flipV="1">
            <a:off x="4810125" y="2857500"/>
            <a:ext cx="0" cy="809625"/>
          </a:xfrm>
          <a:prstGeom xmlns:a="http://schemas.openxmlformats.org/drawingml/2006/main" prst="straightConnector1">
            <a:avLst/>
          </a:prstGeom>
          <a:ln xmlns:a="http://schemas.openxmlformats.org/drawingml/2006/main" w="28575">
            <a:solidFill>
              <a:srgbClr val="68D7B3"/>
            </a:solidFill>
            <a:prstDash val="solid"/>
            <a:headEnd type="arrow" w="sm" len="sm"/>
          </a:ln>
        </p:spPr>
      </p:cxnSp>
      <p:cxnSp>
        <p:nvCxnSpPr>
          <p:cNvPr id="53" name=""/>
          <p:cNvCxnSpPr>
            <a:stCxn xmlns:a="http://schemas.openxmlformats.org/drawingml/2006/main" id="13" idx="0"/>
            <a:endCxn xmlns:a="http://schemas.openxmlformats.org/drawingml/2006/main" id="10" idx="4"/>
          </p:cNvCxnSpPr>
          <p:nvPr/>
        </p:nvCxnSpPr>
        <p:spPr>
          <a:xfrm xmlns:a="http://schemas.openxmlformats.org/drawingml/2006/main" flipV="1">
            <a:off x="2428875" y="3952875"/>
            <a:ext cx="0" cy="809625"/>
          </a:xfrm>
          <a:prstGeom xmlns:a="http://schemas.openxmlformats.org/drawingml/2006/main" prst="straightConnector1">
            <a:avLst/>
          </a:prstGeom>
          <a:ln xmlns:a="http://schemas.openxmlformats.org/drawingml/2006/main" w="38100">
            <a:solidFill>
              <a:srgbClr val="B7F23A"/>
            </a:solidFill>
            <a:prstDash val="solid"/>
            <a:headEnd type="arrow" w="sm" len="sm"/>
          </a:ln>
        </p:spPr>
      </p:cxnSp>
      <p:cxnSp>
        <p:nvCxnSpPr>
          <p:cNvPr id="54" name=""/>
          <p:cNvCxnSpPr>
            <a:stCxn xmlns:a="http://schemas.openxmlformats.org/drawingml/2006/main" id="14" idx="0"/>
            <a:endCxn xmlns:a="http://schemas.openxmlformats.org/drawingml/2006/main" id="11" idx="4"/>
          </p:cNvCxnSpPr>
          <p:nvPr/>
        </p:nvCxnSpPr>
        <p:spPr>
          <a:xfrm xmlns:a="http://schemas.openxmlformats.org/drawingml/2006/main" flipV="1">
            <a:off x="4810125" y="3952875"/>
            <a:ext cx="0" cy="809625"/>
          </a:xfrm>
          <a:prstGeom xmlns:a="http://schemas.openxmlformats.org/drawingml/2006/main" prst="straightConnector1">
            <a:avLst/>
          </a:prstGeom>
          <a:ln xmlns:a="http://schemas.openxmlformats.org/drawingml/2006/main" w="28575">
            <a:solidFill>
              <a:srgbClr val="68D7B3"/>
            </a:solidFill>
            <a:prstDash val="solid"/>
            <a:headEnd type="arrow" w="sm" len="sm"/>
          </a:ln>
        </p:spPr>
      </p:cxnSp>
      <p:cxnSp>
        <p:nvCxnSpPr>
          <p:cNvPr id="55" name=""/>
          <p:cNvCxnSpPr>
            <a:stCxn xmlns:a="http://schemas.openxmlformats.org/drawingml/2006/main" id="8" idx="2"/>
            <a:endCxn xmlns:a="http://schemas.openxmlformats.org/drawingml/2006/main" id="7" idx="6"/>
          </p:cNvCxnSpPr>
          <p:nvPr/>
        </p:nvCxnSpPr>
        <p:spPr>
          <a:xfrm xmlns:a="http://schemas.openxmlformats.org/drawingml/2006/main" flipH="1">
            <a:off x="2571750" y="2714625"/>
            <a:ext cx="2095500" cy="0"/>
          </a:xfrm>
          <a:prstGeom xmlns:a="http://schemas.openxmlformats.org/drawingml/2006/main" prst="straightConnector1">
            <a:avLst/>
          </a:prstGeom>
          <a:ln xmlns:a="http://schemas.openxmlformats.org/drawingml/2006/main" w="28575">
            <a:solidFill>
              <a:srgbClr val="F6AE3E"/>
            </a:solidFill>
            <a:prstDash val="dash"/>
            <a:headEnd type="arrow" w="sm" len="sm"/>
          </a:ln>
        </p:spPr>
      </p:cxnSp>
      <p:sp>
        <p:nvSpPr>
          <p:cNvPr id="23" name="">
            <a:extLst xmlns:a="http://schemas.openxmlformats.org/drawingml/2006/main">
              <a:ext uri="{FF2B5EF4-FFF2-40B4-BE49-F238E27FC236}">
                <a16:creationId xmlns:a16="http://schemas.microsoft.com/office/drawing/2014/main" id="{75BF9905-2D96-430D-AD15-E66EE6984DA3}"/>
              </a:ext>
            </a:extLst>
          </p:cNvPr>
          <p:cNvSpPr>
            <a:spLocks xmlns:a="http://schemas.openxmlformats.org/drawingml/2006/main" noGrp="1"/>
          </p:cNvSpPr>
          <p:nvPr/>
        </p:nvSpPr>
        <p:spPr>
          <a:xfrm xmlns:a="http://schemas.openxmlformats.org/drawingml/2006/main">
            <a:off x="2000250" y="5619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ctr">
              <a:defRPr sz="1125" b="1">
                <a:solidFill>
                  <a:srgbClr val="B7F23A"/>
                </a:solidFill>
                <a:latin typeface="Inter"/>
                <a:ea typeface="Inter"/>
                <a:cs typeface="Inter"/>
              </a:defRPr>
            </a:pPr>
            <a:r>
              <a:rPr sz="1125" b="1">
                <a:solidFill>
                  <a:srgbClr val="B7F23A"/>
                </a:solidFill>
                <a:latin typeface="Inter"/>
                <a:ea typeface="Inter"/>
                <a:cs typeface="Inter"/>
              </a:rPr>
              <a:t>Location A</a:t>
            </a:r>
          </a:p>
        </p:txBody>
      </p:sp>
      <p:sp>
        <p:nvSpPr>
          <p:cNvPr id="24" name="">
            <a:extLst xmlns:a="http://schemas.openxmlformats.org/drawingml/2006/main">
              <a:ext uri="{FF2B5EF4-FFF2-40B4-BE49-F238E27FC236}">
                <a16:creationId xmlns:a16="http://schemas.microsoft.com/office/drawing/2014/main" id="{7FC4658C-3414-40EF-B85E-AA4AB7A85B07}"/>
              </a:ext>
            </a:extLst>
          </p:cNvPr>
          <p:cNvSpPr>
            <a:spLocks xmlns:a="http://schemas.openxmlformats.org/drawingml/2006/main" noGrp="1"/>
          </p:cNvSpPr>
          <p:nvPr/>
        </p:nvSpPr>
        <p:spPr>
          <a:xfrm xmlns:a="http://schemas.openxmlformats.org/drawingml/2006/main">
            <a:off x="4381500" y="56197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ctr">
              <a:defRPr sz="1125" b="1">
                <a:solidFill>
                  <a:srgbClr val="68D7B3"/>
                </a:solidFill>
                <a:latin typeface="Inter"/>
                <a:ea typeface="Inter"/>
                <a:cs typeface="Inter"/>
              </a:defRPr>
            </a:pPr>
            <a:r>
              <a:rPr sz="1125" b="1">
                <a:solidFill>
                  <a:srgbClr val="68D7B3"/>
                </a:solidFill>
                <a:latin typeface="Inter"/>
                <a:ea typeface="Inter"/>
                <a:cs typeface="Inter"/>
              </a:rPr>
              <a:t>Location B</a:t>
            </a:r>
          </a:p>
        </p:txBody>
      </p:sp>
      <p:sp>
        <p:nvSpPr>
          <p:cNvPr id="25" name="">
            <a:extLst xmlns:a="http://schemas.openxmlformats.org/drawingml/2006/main">
              <a:ext uri="{FF2B5EF4-FFF2-40B4-BE49-F238E27FC236}">
                <a16:creationId xmlns:a16="http://schemas.microsoft.com/office/drawing/2014/main" id="{F742E28E-C9E8-48B9-923D-DB5AEDE85E0F}"/>
              </a:ext>
            </a:extLst>
          </p:cNvPr>
          <p:cNvSpPr>
            <a:spLocks xmlns:a="http://schemas.openxmlformats.org/drawingml/2006/main" noGrp="1"/>
          </p:cNvSpPr>
          <p:nvPr/>
        </p:nvSpPr>
        <p:spPr>
          <a:xfrm xmlns:a="http://schemas.openxmlformats.org/drawingml/2006/main">
            <a:off x="6667500" y="1428750"/>
            <a:ext cx="4762500" cy="4000500"/>
          </a:xfrm>
          <a:prstGeom xmlns:a="http://schemas.openxmlformats.org/drawingml/2006/main" prst="roundRect">
            <a:avLst>
              <a:gd name="adj" fmla="val 4286"/>
            </a:avLst>
          </a:prstGeom>
          <a:solidFill xmlns:a="http://schemas.openxmlformats.org/drawingml/2006/main">
            <a:srgbClr val="0E49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71CF622-85F3-40AE-95FA-A454982B4B11}"/>
              </a:ext>
            </a:extLst>
          </p:cNvPr>
          <p:cNvSpPr>
            <a:spLocks xmlns:a="http://schemas.openxmlformats.org/drawingml/2006/main" noGrp="1"/>
          </p:cNvSpPr>
          <p:nvPr/>
        </p:nvSpPr>
        <p:spPr>
          <a:xfrm xmlns:a="http://schemas.openxmlformats.org/drawingml/2006/main">
            <a:off x="7048500" y="17145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A RETAINED EDGE REQUIRES</a:t>
            </a:r>
          </a:p>
        </p:txBody>
      </p:sp>
      <p:sp>
        <p:nvSpPr>
          <p:cNvPr id="27" name="">
            <a:extLst xmlns:a="http://schemas.openxmlformats.org/drawingml/2006/main">
              <a:ext uri="{FF2B5EF4-FFF2-40B4-BE49-F238E27FC236}">
                <a16:creationId xmlns:a16="http://schemas.microsoft.com/office/drawing/2014/main" id="{41E7AAA3-4874-49AC-8E30-47F6453A374D}"/>
              </a:ext>
            </a:extLst>
          </p:cNvPr>
          <p:cNvSpPr>
            <a:spLocks xmlns:a="http://schemas.openxmlformats.org/drawingml/2006/main" noGrp="1"/>
          </p:cNvSpPr>
          <p:nvPr/>
        </p:nvSpPr>
        <p:spPr>
          <a:xfrm xmlns:a="http://schemas.openxmlformats.org/drawingml/2006/main">
            <a:off x="7153275" y="2200275"/>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1284B61-C5A3-4BB5-9365-AAAFACDA4DD4}"/>
              </a:ext>
            </a:extLst>
          </p:cNvPr>
          <p:cNvSpPr>
            <a:spLocks xmlns:a="http://schemas.openxmlformats.org/drawingml/2006/main" noGrp="1"/>
          </p:cNvSpPr>
          <p:nvPr/>
        </p:nvSpPr>
        <p:spPr>
          <a:xfrm xmlns:a="http://schemas.openxmlformats.org/drawingml/2006/main">
            <a:off x="7524750" y="2114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5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Sensors are geometric or hydrologic neighbors</a:t>
            </a:r>
          </a:p>
        </p:txBody>
      </p:sp>
      <p:sp>
        <p:nvSpPr>
          <p:cNvPr id="29" name="">
            <a:extLst xmlns:a="http://schemas.openxmlformats.org/drawingml/2006/main">
              <a:ext uri="{FF2B5EF4-FFF2-40B4-BE49-F238E27FC236}">
                <a16:creationId xmlns:a16="http://schemas.microsoft.com/office/drawing/2014/main" id="{C2C92B0D-CDA4-49BC-BAB7-1C1FD0E8F78A}"/>
              </a:ext>
            </a:extLst>
          </p:cNvPr>
          <p:cNvSpPr>
            <a:spLocks xmlns:a="http://schemas.openxmlformats.org/drawingml/2006/main" noGrp="1"/>
          </p:cNvSpPr>
          <p:nvPr/>
        </p:nvSpPr>
        <p:spPr>
          <a:xfrm xmlns:a="http://schemas.openxmlformats.org/drawingml/2006/main">
            <a:off x="7153275" y="2943225"/>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91FBFDA-A0F4-411E-B9C4-8662D3BA8B58}"/>
              </a:ext>
            </a:extLst>
          </p:cNvPr>
          <p:cNvSpPr>
            <a:spLocks xmlns:a="http://schemas.openxmlformats.org/drawingml/2006/main" noGrp="1"/>
          </p:cNvSpPr>
          <p:nvPr/>
        </p:nvSpPr>
        <p:spPr>
          <a:xfrm xmlns:a="http://schemas.openxmlformats.org/drawingml/2006/main">
            <a:off x="7524750" y="285750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747"/>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Coherence exceeds a prespecified threshold</a:t>
            </a:r>
          </a:p>
        </p:txBody>
      </p:sp>
      <p:sp>
        <p:nvSpPr>
          <p:cNvPr id="31" name="">
            <a:extLst xmlns:a="http://schemas.openxmlformats.org/drawingml/2006/main">
              <a:ext uri="{FF2B5EF4-FFF2-40B4-BE49-F238E27FC236}">
                <a16:creationId xmlns:a16="http://schemas.microsoft.com/office/drawing/2014/main" id="{818F191D-5CE7-4507-AFB1-F34457B229E8}"/>
              </a:ext>
            </a:extLst>
          </p:cNvPr>
          <p:cNvSpPr>
            <a:spLocks xmlns:a="http://schemas.openxmlformats.org/drawingml/2006/main" noGrp="1"/>
          </p:cNvSpPr>
          <p:nvPr/>
        </p:nvSpPr>
        <p:spPr>
          <a:xfrm xmlns:a="http://schemas.openxmlformats.org/drawingml/2006/main">
            <a:off x="7153275" y="3686175"/>
            <a:ext cx="171450" cy="17145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5660212-38A6-48BE-81E1-B274CDE72885}"/>
              </a:ext>
            </a:extLst>
          </p:cNvPr>
          <p:cNvSpPr>
            <a:spLocks xmlns:a="http://schemas.openxmlformats.org/drawingml/2006/main" noGrp="1"/>
          </p:cNvSpPr>
          <p:nvPr/>
        </p:nvSpPr>
        <p:spPr>
          <a:xfrm xmlns:a="http://schemas.openxmlformats.org/drawingml/2006/main">
            <a:off x="7524750" y="36004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500"/>
          </a:bodyPr>
          <a:lstStyle xmlns:a="http://schemas.openxmlformats.org/drawingml/2006/main"/>
          <a:p xmlns:a="http://schemas.openxmlformats.org/drawingml/2006/main">
            <a:pPr algn="l">
              <a:defRPr sz="1500" b="0">
                <a:solidFill>
                  <a:srgbClr val="F7FBF8"/>
                </a:solidFill>
                <a:latin typeface="Inter"/>
                <a:ea typeface="Inter"/>
                <a:cs typeface="Inter"/>
              </a:defRPr>
            </a:pPr>
            <a:r>
              <a:rPr sz="1500" b="0">
                <a:solidFill>
                  <a:srgbClr val="F7FBF8"/>
                </a:solidFill>
                <a:latin typeface="Inter"/>
                <a:ea typeface="Inter"/>
                <a:cs typeface="Inter"/>
              </a:rPr>
              <a:t>Lag direction remains stable under resampling</a:t>
            </a:r>
          </a:p>
        </p:txBody>
      </p:sp>
      <p:sp>
        <p:nvSpPr>
          <p:cNvPr id="33" name="">
            <a:extLst xmlns:a="http://schemas.openxmlformats.org/drawingml/2006/main">
              <a:ext uri="{FF2B5EF4-FFF2-40B4-BE49-F238E27FC236}">
                <a16:creationId xmlns:a16="http://schemas.microsoft.com/office/drawing/2014/main" id="{8826C883-65C1-446C-88CA-C8F6CAB15609}"/>
              </a:ext>
            </a:extLst>
          </p:cNvPr>
          <p:cNvSpPr>
            <a:spLocks xmlns:a="http://schemas.openxmlformats.org/drawingml/2006/main" noGrp="1"/>
          </p:cNvSpPr>
          <p:nvPr/>
        </p:nvSpPr>
        <p:spPr>
          <a:xfrm xmlns:a="http://schemas.openxmlformats.org/drawingml/2006/main">
            <a:off x="7048500" y="4524375"/>
            <a:ext cx="390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BBD0C8"/>
                </a:solidFill>
                <a:latin typeface="Inter"/>
                <a:ea typeface="Inter"/>
                <a:cs typeface="Inter"/>
              </a:defRPr>
            </a:pPr>
            <a:r>
              <a:rPr sz="1350" b="0">
                <a:solidFill>
                  <a:srgbClr val="BBD0C8"/>
                </a:solidFill>
                <a:latin typeface="Inter"/>
                <a:ea typeface="Inter"/>
                <a:cs typeface="Inter"/>
              </a:rPr>
              <a:t>Node = sensor channel</a:t>
            </a:r>
          </a:p>
          <a:p xmlns:a="http://schemas.openxmlformats.org/drawingml/2006/main">
            <a:pPr algn="l">
              <a:defRPr sz="1350" b="0">
                <a:solidFill>
                  <a:srgbClr val="BBD0C8"/>
                </a:solidFill>
                <a:latin typeface="Inter"/>
                <a:ea typeface="Inter"/>
                <a:cs typeface="Inter"/>
              </a:defRPr>
            </a:pPr>
            <a:r>
              <a:rPr sz="1350" b="0">
                <a:solidFill>
                  <a:srgbClr val="BBD0C8"/>
                </a:solidFill>
                <a:latin typeface="Inter"/>
                <a:ea typeface="Inter"/>
                <a:cs typeface="Inter"/>
              </a:rPr>
              <a:t>Arrow = leading to lagging channel</a:t>
            </a:r>
          </a:p>
          <a:p xmlns:a="http://schemas.openxmlformats.org/drawingml/2006/main">
            <a:pPr algn="l">
              <a:defRPr sz="1350" b="0">
                <a:solidFill>
                  <a:srgbClr val="BBD0C8"/>
                </a:solidFill>
                <a:latin typeface="Inter"/>
                <a:ea typeface="Inter"/>
                <a:cs typeface="Inter"/>
              </a:defRPr>
            </a:pPr>
            <a:r>
              <a:rPr sz="1350" b="0">
                <a:solidFill>
                  <a:srgbClr val="BBD0C8"/>
                </a:solidFill>
                <a:latin typeface="Inter"/>
                <a:ea typeface="Inter"/>
                <a:cs typeface="Inter"/>
              </a:rPr>
              <a:t>Weight = reliable coupling at a selected time scale</a:t>
            </a:r>
          </a:p>
        </p:txBody>
      </p:sp>
    </p:spTree>
    <p:extLst>
      <p:ext uri="{BB962C8B-B14F-4D97-AF65-F5344CB8AC3E}">
        <p14:creationId xmlns:p14="http://schemas.microsoft.com/office/powerpoint/2010/main" val="689170084"/>
      </p:ext>
    </p:extLst>
  </p:cSld>
</p:sld>
</file>

<file path=ppt/slides/slide12.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2D5AF3B-C950-47F2-BE79-2FC142827323}"/>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TIME-SERIES UNFOLDING</a:t>
            </a:r>
          </a:p>
        </p:txBody>
      </p:sp>
      <p:sp>
        <p:nvSpPr>
          <p:cNvPr id="2" name="">
            <a:extLst xmlns:a="http://schemas.openxmlformats.org/drawingml/2006/main">
              <a:ext uri="{FF2B5EF4-FFF2-40B4-BE49-F238E27FC236}">
                <a16:creationId xmlns:a16="http://schemas.microsoft.com/office/drawing/2014/main" id="{33EA3583-6CA1-4105-9032-2DEA43D9F2B8}"/>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Buchstaber unfolding exposes the geometry hidden in a sequence</a:t>
            </a:r>
          </a:p>
        </p:txBody>
      </p:sp>
      <p:sp>
        <p:nvSpPr>
          <p:cNvPr id="3" name="">
            <a:extLst xmlns:a="http://schemas.openxmlformats.org/drawingml/2006/main">
              <a:ext uri="{FF2B5EF4-FFF2-40B4-BE49-F238E27FC236}">
                <a16:creationId xmlns:a16="http://schemas.microsoft.com/office/drawing/2014/main" id="{AB6FD1A1-1B14-4D04-9820-80F47F798469}"/>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12</a:t>
            </a:r>
          </a:p>
        </p:txBody>
      </p:sp>
      <p:sp>
        <p:nvSpPr>
          <p:cNvPr id="4" name="">
            <a:extLst xmlns:a="http://schemas.openxmlformats.org/drawingml/2006/main">
              <a:ext uri="{FF2B5EF4-FFF2-40B4-BE49-F238E27FC236}">
                <a16:creationId xmlns:a16="http://schemas.microsoft.com/office/drawing/2014/main" id="{CABD139E-892F-4F67-97F7-CCE849872437}"/>
              </a:ext>
            </a:extLst>
          </p:cNvPr>
          <p:cNvSpPr>
            <a:spLocks xmlns:a="http://schemas.openxmlformats.org/drawingml/2006/main" noGrp="1"/>
          </p:cNvSpPr>
          <p:nvPr/>
        </p:nvSpPr>
        <p:spPr>
          <a:xfrm xmlns:a="http://schemas.openxmlformats.org/drawingml/2006/main">
            <a:off x="552450" y="1485900"/>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B7F23A"/>
                </a:solidFill>
                <a:latin typeface="Inter"/>
                <a:ea typeface="Inter"/>
                <a:cs typeface="Inter"/>
              </a:defRPr>
            </a:pPr>
            <a:r>
              <a:rPr sz="1350" b="1">
                <a:solidFill>
                  <a:srgbClr val="B7F23A"/>
                </a:solidFill>
                <a:latin typeface="Inter"/>
                <a:ea typeface="Inter"/>
                <a:cs typeface="Inter"/>
              </a:rPr>
              <a:t>Scalar event sequence</a:t>
            </a:r>
          </a:p>
        </p:txBody>
      </p:sp>
      <p:sp>
        <p:nvSpPr>
          <p:cNvPr id="5" name="">
            <a:extLst xmlns:a="http://schemas.openxmlformats.org/drawingml/2006/main">
              <a:ext uri="{FF2B5EF4-FFF2-40B4-BE49-F238E27FC236}">
                <a16:creationId xmlns:a16="http://schemas.microsoft.com/office/drawing/2014/main" id="{CF3BAF8C-1DC7-4868-B14D-CC275A5EF514}"/>
              </a:ext>
            </a:extLst>
          </p:cNvPr>
          <p:cNvSpPr>
            <a:spLocks xmlns:a="http://schemas.openxmlformats.org/drawingml/2006/main" noGrp="1"/>
          </p:cNvSpPr>
          <p:nvPr/>
        </p:nvSpPr>
        <p:spPr>
          <a:xfrm xmlns:a="http://schemas.openxmlformats.org/drawingml/2006/main">
            <a:off x="552450" y="192405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F7FBF8"/>
                </a:solidFill>
                <a:latin typeface="Inter"/>
                <a:ea typeface="Inter"/>
                <a:cs typeface="Inter"/>
              </a:defRPr>
            </a:pPr>
            <a:r>
              <a:rPr sz="1875" b="1">
                <a:solidFill>
                  <a:srgbClr val="F7FBF8"/>
                </a:solidFill>
                <a:latin typeface="Inter"/>
                <a:ea typeface="Inter"/>
                <a:cs typeface="Inter"/>
              </a:rPr>
              <a:t>4.1   4.8   5.4   5.0   4.3   …</a:t>
            </a:r>
          </a:p>
        </p:txBody>
      </p:sp>
      <p:sp>
        <p:nvSpPr>
          <p:cNvPr id="6" name="">
            <a:extLst xmlns:a="http://schemas.openxmlformats.org/drawingml/2006/main">
              <a:ext uri="{FF2B5EF4-FFF2-40B4-BE49-F238E27FC236}">
                <a16:creationId xmlns:a16="http://schemas.microsoft.com/office/drawing/2014/main" id="{4C1A794B-AE81-4179-A0EF-44639AA3823D}"/>
              </a:ext>
            </a:extLst>
          </p:cNvPr>
          <p:cNvSpPr>
            <a:spLocks xmlns:a="http://schemas.openxmlformats.org/drawingml/2006/main" noGrp="1"/>
          </p:cNvSpPr>
          <p:nvPr/>
        </p:nvSpPr>
        <p:spPr>
          <a:xfrm xmlns:a="http://schemas.openxmlformats.org/drawingml/2006/main">
            <a:off x="552450" y="247650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BBD0C8"/>
                </a:solidFill>
                <a:latin typeface="Inter"/>
                <a:ea typeface="Inter"/>
                <a:cs typeface="Inter"/>
              </a:defRPr>
            </a:pPr>
            <a:r>
              <a:rPr sz="1350" b="0">
                <a:solidFill>
                  <a:srgbClr val="BBD0C8"/>
                </a:solidFill>
                <a:latin typeface="Inter"/>
                <a:ea typeface="Inter"/>
                <a:cs typeface="Inter"/>
              </a:rPr>
              <a:t>Choose a window length n from a physical time scale.</a:t>
            </a:r>
          </a:p>
        </p:txBody>
      </p:sp>
      <p:sp>
        <p:nvSpPr>
          <p:cNvPr id="7" name="">
            <a:extLst xmlns:a="http://schemas.openxmlformats.org/drawingml/2006/main">
              <a:ext uri="{FF2B5EF4-FFF2-40B4-BE49-F238E27FC236}">
                <a16:creationId xmlns:a16="http://schemas.microsoft.com/office/drawing/2014/main" id="{1E10F44E-A76B-46C3-B402-9FAEDE929743}"/>
              </a:ext>
            </a:extLst>
          </p:cNvPr>
          <p:cNvSpPr>
            <a:spLocks xmlns:a="http://schemas.openxmlformats.org/drawingml/2006/main" noGrp="1"/>
          </p:cNvSpPr>
          <p:nvPr/>
        </p:nvSpPr>
        <p:spPr>
          <a:xfrm xmlns:a="http://schemas.openxmlformats.org/drawingml/2006/main">
            <a:off x="4171950" y="1666875"/>
            <a:ext cx="1524000" cy="1143000"/>
          </a:xfrm>
          <a:prstGeom xmlns:a="http://schemas.openxmlformats.org/drawingml/2006/main" prst="roundRect">
            <a:avLst>
              <a:gd name="adj" fmla="val 11667"/>
            </a:avLst>
          </a:prstGeom>
          <a:solidFill xmlns:a="http://schemas.openxmlformats.org/drawingml/2006/main">
            <a:srgbClr val="28524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37554A-07F1-434C-8221-2D9AC599D14B}"/>
              </a:ext>
            </a:extLst>
          </p:cNvPr>
          <p:cNvSpPr>
            <a:spLocks xmlns:a="http://schemas.openxmlformats.org/drawingml/2006/main" noGrp="1"/>
          </p:cNvSpPr>
          <p:nvPr/>
        </p:nvSpPr>
        <p:spPr>
          <a:xfrm xmlns:a="http://schemas.openxmlformats.org/drawingml/2006/main">
            <a:off x="4324350" y="1809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X1</a:t>
            </a:r>
          </a:p>
        </p:txBody>
      </p:sp>
      <p:sp>
        <p:nvSpPr>
          <p:cNvPr id="9" name="">
            <a:extLst xmlns:a="http://schemas.openxmlformats.org/drawingml/2006/main">
              <a:ext uri="{FF2B5EF4-FFF2-40B4-BE49-F238E27FC236}">
                <a16:creationId xmlns:a16="http://schemas.microsoft.com/office/drawing/2014/main" id="{80EE4349-F860-4632-9D5E-E58B191EC8A0}"/>
              </a:ext>
            </a:extLst>
          </p:cNvPr>
          <p:cNvSpPr>
            <a:spLocks xmlns:a="http://schemas.openxmlformats.org/drawingml/2006/main" noGrp="1"/>
          </p:cNvSpPr>
          <p:nvPr/>
        </p:nvSpPr>
        <p:spPr>
          <a:xfrm xmlns:a="http://schemas.openxmlformats.org/drawingml/2006/main">
            <a:off x="4324350" y="220980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F7FBF8"/>
                </a:solidFill>
                <a:latin typeface="Inter"/>
                <a:ea typeface="Inter"/>
                <a:cs typeface="Inter"/>
              </a:defRPr>
            </a:pPr>
            <a:r>
              <a:rPr sz="1350" b="0">
                <a:solidFill>
                  <a:srgbClr val="F7FBF8"/>
                </a:solidFill>
                <a:latin typeface="Inter"/>
                <a:ea typeface="Inter"/>
                <a:cs typeface="Inter"/>
              </a:rPr>
              <a:t>(4.1, 4.8, 5.4)</a:t>
            </a:r>
          </a:p>
        </p:txBody>
      </p:sp>
      <p:sp>
        <p:nvSpPr>
          <p:cNvPr id="10" name="">
            <a:extLst xmlns:a="http://schemas.openxmlformats.org/drawingml/2006/main">
              <a:ext uri="{FF2B5EF4-FFF2-40B4-BE49-F238E27FC236}">
                <a16:creationId xmlns:a16="http://schemas.microsoft.com/office/drawing/2014/main" id="{52A1D991-0AE3-44EF-8783-E273000CDF8C}"/>
              </a:ext>
            </a:extLst>
          </p:cNvPr>
          <p:cNvSpPr>
            <a:spLocks xmlns:a="http://schemas.openxmlformats.org/drawingml/2006/main" noGrp="1"/>
          </p:cNvSpPr>
          <p:nvPr/>
        </p:nvSpPr>
        <p:spPr>
          <a:xfrm xmlns:a="http://schemas.openxmlformats.org/drawingml/2006/main">
            <a:off x="5962650" y="1666875"/>
            <a:ext cx="1524000" cy="1143000"/>
          </a:xfrm>
          <a:prstGeom xmlns:a="http://schemas.openxmlformats.org/drawingml/2006/main" prst="roundRect">
            <a:avLst>
              <a:gd name="adj" fmla="val 11667"/>
            </a:avLst>
          </a:prstGeom>
          <a:solidFill xmlns:a="http://schemas.openxmlformats.org/drawingml/2006/main">
            <a:srgbClr val="0E493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4BB0A20-D053-4473-829F-475D82EC8FC8}"/>
              </a:ext>
            </a:extLst>
          </p:cNvPr>
          <p:cNvSpPr>
            <a:spLocks xmlns:a="http://schemas.openxmlformats.org/drawingml/2006/main" noGrp="1"/>
          </p:cNvSpPr>
          <p:nvPr/>
        </p:nvSpPr>
        <p:spPr>
          <a:xfrm xmlns:a="http://schemas.openxmlformats.org/drawingml/2006/main">
            <a:off x="6115050" y="1809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X2</a:t>
            </a:r>
          </a:p>
        </p:txBody>
      </p:sp>
      <p:sp>
        <p:nvSpPr>
          <p:cNvPr id="12" name="">
            <a:extLst xmlns:a="http://schemas.openxmlformats.org/drawingml/2006/main">
              <a:ext uri="{FF2B5EF4-FFF2-40B4-BE49-F238E27FC236}">
                <a16:creationId xmlns:a16="http://schemas.microsoft.com/office/drawing/2014/main" id="{698C72FF-46F8-4153-B42D-244B3D065A30}"/>
              </a:ext>
            </a:extLst>
          </p:cNvPr>
          <p:cNvSpPr>
            <a:spLocks xmlns:a="http://schemas.openxmlformats.org/drawingml/2006/main" noGrp="1"/>
          </p:cNvSpPr>
          <p:nvPr/>
        </p:nvSpPr>
        <p:spPr>
          <a:xfrm xmlns:a="http://schemas.openxmlformats.org/drawingml/2006/main">
            <a:off x="6115050" y="220980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F7FBF8"/>
                </a:solidFill>
                <a:latin typeface="Inter"/>
                <a:ea typeface="Inter"/>
                <a:cs typeface="Inter"/>
              </a:defRPr>
            </a:pPr>
            <a:r>
              <a:rPr sz="1350" b="0">
                <a:solidFill>
                  <a:srgbClr val="F7FBF8"/>
                </a:solidFill>
                <a:latin typeface="Inter"/>
                <a:ea typeface="Inter"/>
                <a:cs typeface="Inter"/>
              </a:rPr>
              <a:t>(4.8, 5.4, 5.0)</a:t>
            </a:r>
          </a:p>
        </p:txBody>
      </p:sp>
      <p:sp>
        <p:nvSpPr>
          <p:cNvPr id="13" name="">
            <a:extLst xmlns:a="http://schemas.openxmlformats.org/drawingml/2006/main">
              <a:ext uri="{FF2B5EF4-FFF2-40B4-BE49-F238E27FC236}">
                <a16:creationId xmlns:a16="http://schemas.microsoft.com/office/drawing/2014/main" id="{B9C3E7EE-BCE1-4BC2-8BBC-F183626AA00C}"/>
              </a:ext>
            </a:extLst>
          </p:cNvPr>
          <p:cNvSpPr>
            <a:spLocks xmlns:a="http://schemas.openxmlformats.org/drawingml/2006/main" noGrp="1"/>
          </p:cNvSpPr>
          <p:nvPr/>
        </p:nvSpPr>
        <p:spPr>
          <a:xfrm xmlns:a="http://schemas.openxmlformats.org/drawingml/2006/main">
            <a:off x="7753350" y="1666875"/>
            <a:ext cx="1524000" cy="1143000"/>
          </a:xfrm>
          <a:prstGeom xmlns:a="http://schemas.openxmlformats.org/drawingml/2006/main" prst="roundRect">
            <a:avLst>
              <a:gd name="adj" fmla="val 11667"/>
            </a:avLst>
          </a:prstGeom>
          <a:solidFill xmlns:a="http://schemas.openxmlformats.org/drawingml/2006/main">
            <a:srgbClr val="28524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EBAB98-EB37-4608-9DCB-F18B45368F45}"/>
              </a:ext>
            </a:extLst>
          </p:cNvPr>
          <p:cNvSpPr>
            <a:spLocks xmlns:a="http://schemas.openxmlformats.org/drawingml/2006/main" noGrp="1"/>
          </p:cNvSpPr>
          <p:nvPr/>
        </p:nvSpPr>
        <p:spPr>
          <a:xfrm xmlns:a="http://schemas.openxmlformats.org/drawingml/2006/main">
            <a:off x="7905750" y="1809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X3</a:t>
            </a:r>
          </a:p>
        </p:txBody>
      </p:sp>
      <p:sp>
        <p:nvSpPr>
          <p:cNvPr id="15" name="">
            <a:extLst xmlns:a="http://schemas.openxmlformats.org/drawingml/2006/main">
              <a:ext uri="{FF2B5EF4-FFF2-40B4-BE49-F238E27FC236}">
                <a16:creationId xmlns:a16="http://schemas.microsoft.com/office/drawing/2014/main" id="{801C99B4-7EF7-4A64-852B-F99566AD117D}"/>
              </a:ext>
            </a:extLst>
          </p:cNvPr>
          <p:cNvSpPr>
            <a:spLocks xmlns:a="http://schemas.openxmlformats.org/drawingml/2006/main" noGrp="1"/>
          </p:cNvSpPr>
          <p:nvPr/>
        </p:nvSpPr>
        <p:spPr>
          <a:xfrm xmlns:a="http://schemas.openxmlformats.org/drawingml/2006/main">
            <a:off x="7905750" y="220980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F7FBF8"/>
                </a:solidFill>
                <a:latin typeface="Inter"/>
                <a:ea typeface="Inter"/>
                <a:cs typeface="Inter"/>
              </a:defRPr>
            </a:pPr>
            <a:r>
              <a:rPr sz="1350" b="0">
                <a:solidFill>
                  <a:srgbClr val="F7FBF8"/>
                </a:solidFill>
                <a:latin typeface="Inter"/>
                <a:ea typeface="Inter"/>
                <a:cs typeface="Inter"/>
              </a:rPr>
              <a:t>(5.4, 5.0, 4.3)</a:t>
            </a:r>
          </a:p>
        </p:txBody>
      </p:sp>
      <p:cxnSp>
        <p:nvCxnSpPr>
          <p:cNvPr id="42" name=""/>
          <p:cNvCxnSpPr>
            <a:stCxn xmlns:a="http://schemas.openxmlformats.org/drawingml/2006/main" id="10" idx="1"/>
            <a:endCxn xmlns:a="http://schemas.openxmlformats.org/drawingml/2006/main" id="7" idx="3"/>
          </p:cNvCxnSpPr>
          <p:nvPr/>
        </p:nvCxnSpPr>
        <p:spPr>
          <a:xfrm xmlns:a="http://schemas.openxmlformats.org/drawingml/2006/main" flipH="1">
            <a:off x="5695950" y="2238375"/>
            <a:ext cx="266700" cy="0"/>
          </a:xfrm>
          <a:prstGeom xmlns:a="http://schemas.openxmlformats.org/drawingml/2006/main" prst="straightConnector1">
            <a:avLst/>
          </a:prstGeom>
          <a:ln xmlns:a="http://schemas.openxmlformats.org/drawingml/2006/main" w="19050">
            <a:solidFill>
              <a:srgbClr val="B7F23A"/>
            </a:solidFill>
            <a:prstDash val="solid"/>
            <a:headEnd type="arrow" w="sm" len="sm"/>
          </a:ln>
        </p:spPr>
      </p:cxnSp>
      <p:cxnSp>
        <p:nvCxnSpPr>
          <p:cNvPr id="43" name=""/>
          <p:cNvCxnSpPr>
            <a:stCxn xmlns:a="http://schemas.openxmlformats.org/drawingml/2006/main" id="13" idx="1"/>
            <a:endCxn xmlns:a="http://schemas.openxmlformats.org/drawingml/2006/main" id="10" idx="3"/>
          </p:cNvCxnSpPr>
          <p:nvPr/>
        </p:nvCxnSpPr>
        <p:spPr>
          <a:xfrm xmlns:a="http://schemas.openxmlformats.org/drawingml/2006/main" flipH="1">
            <a:off x="7486650" y="2238375"/>
            <a:ext cx="266700" cy="0"/>
          </a:xfrm>
          <a:prstGeom xmlns:a="http://schemas.openxmlformats.org/drawingml/2006/main" prst="straightConnector1">
            <a:avLst/>
          </a:prstGeom>
          <a:ln xmlns:a="http://schemas.openxmlformats.org/drawingml/2006/main" w="19050">
            <a:solidFill>
              <a:srgbClr val="B7F23A"/>
            </a:solidFill>
            <a:prstDash val="solid"/>
            <a:headEnd type="arrow" w="sm" len="sm"/>
          </a:ln>
        </p:spPr>
      </p:cxnSp>
      <p:sp>
        <p:nvSpPr>
          <p:cNvPr id="18" name="">
            <a:extLst xmlns:a="http://schemas.openxmlformats.org/drawingml/2006/main">
              <a:ext uri="{FF2B5EF4-FFF2-40B4-BE49-F238E27FC236}">
                <a16:creationId xmlns:a16="http://schemas.microsoft.com/office/drawing/2014/main" id="{921A0C09-F6E9-4BA1-8EFB-399017771A44}"/>
              </a:ext>
            </a:extLst>
          </p:cNvPr>
          <p:cNvSpPr>
            <a:spLocks xmlns:a="http://schemas.openxmlformats.org/drawingml/2006/main" noGrp="1"/>
          </p:cNvSpPr>
          <p:nvPr/>
        </p:nvSpPr>
        <p:spPr>
          <a:xfrm xmlns:a="http://schemas.openxmlformats.org/drawingml/2006/main">
            <a:off x="4171950" y="3028950"/>
            <a:ext cx="5105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72"/>
          </a:bodyPr>
          <a:lstStyle xmlns:a="http://schemas.openxmlformats.org/drawingml/2006/main"/>
          <a:p xmlns:a="http://schemas.openxmlformats.org/drawingml/2006/main">
            <a:pPr algn="ctr">
              <a:defRPr sz="1500" b="1">
                <a:solidFill>
                  <a:srgbClr val="F7FBF8"/>
                </a:solidFill>
                <a:latin typeface="Inter"/>
                <a:ea typeface="Inter"/>
                <a:cs typeface="Inter"/>
              </a:defRPr>
            </a:pPr>
            <a:r>
              <a:rPr sz="1500" b="1">
                <a:solidFill>
                  <a:srgbClr val="F7FBF8"/>
                </a:solidFill>
                <a:latin typeface="Inter"/>
                <a:ea typeface="Inter"/>
                <a:cs typeface="Inter"/>
              </a:rPr>
              <a:t>Overlapping windows become consecutive points on an oriented curve in ℝⁿ.</a:t>
            </a:r>
          </a:p>
        </p:txBody>
      </p:sp>
      <p:sp>
        <p:nvSpPr>
          <p:cNvPr id="19" name="">
            <a:extLst xmlns:a="http://schemas.openxmlformats.org/drawingml/2006/main">
              <a:ext uri="{FF2B5EF4-FFF2-40B4-BE49-F238E27FC236}">
                <a16:creationId xmlns:a16="http://schemas.microsoft.com/office/drawing/2014/main" id="{61CCA9EA-78E7-4BC0-A60B-E050A53EE1D4}"/>
              </a:ext>
            </a:extLst>
          </p:cNvPr>
          <p:cNvSpPr>
            <a:spLocks xmlns:a="http://schemas.openxmlformats.org/drawingml/2006/main" noGrp="1"/>
          </p:cNvSpPr>
          <p:nvPr/>
        </p:nvSpPr>
        <p:spPr>
          <a:xfrm xmlns:a="http://schemas.openxmlformats.org/drawingml/2006/main" flipH="0" flipV="0">
            <a:off x="571500" y="3714750"/>
            <a:ext cx="10858500" cy="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20" name="">
            <a:extLst xmlns:a="http://schemas.openxmlformats.org/drawingml/2006/main">
              <a:ext uri="{FF2B5EF4-FFF2-40B4-BE49-F238E27FC236}">
                <a16:creationId xmlns:a16="http://schemas.microsoft.com/office/drawing/2014/main" id="{617501AD-B3A4-45D6-8624-999A451E0793}"/>
              </a:ext>
            </a:extLst>
          </p:cNvPr>
          <p:cNvSpPr>
            <a:spLocks xmlns:a="http://schemas.openxmlformats.org/drawingml/2006/main" noGrp="1"/>
          </p:cNvSpPr>
          <p:nvPr/>
        </p:nvSpPr>
        <p:spPr>
          <a:xfrm xmlns:a="http://schemas.openxmlformats.org/drawingml/2006/main">
            <a:off x="552450" y="409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1">
                <a:solidFill>
                  <a:srgbClr val="B7F23A"/>
                </a:solidFill>
                <a:latin typeface="Inter"/>
                <a:ea typeface="Inter"/>
                <a:cs typeface="Inter"/>
              </a:defRPr>
            </a:pPr>
            <a:r>
              <a:rPr sz="1275" b="1">
                <a:solidFill>
                  <a:srgbClr val="B7F23A"/>
                </a:solidFill>
                <a:latin typeface="Inter"/>
                <a:ea typeface="Inter"/>
                <a:cs typeface="Inter"/>
              </a:rPr>
              <a:t>EFFECTIVE RANK</a:t>
            </a:r>
          </a:p>
        </p:txBody>
      </p:sp>
      <p:sp>
        <p:nvSpPr>
          <p:cNvPr id="21" name="">
            <a:extLst xmlns:a="http://schemas.openxmlformats.org/drawingml/2006/main">
              <a:ext uri="{FF2B5EF4-FFF2-40B4-BE49-F238E27FC236}">
                <a16:creationId xmlns:a16="http://schemas.microsoft.com/office/drawing/2014/main" id="{C23D3845-5953-4055-8EC1-D141B3A3C2A5}"/>
              </a:ext>
            </a:extLst>
          </p:cNvPr>
          <p:cNvSpPr>
            <a:spLocks xmlns:a="http://schemas.openxmlformats.org/drawingml/2006/main" noGrp="1"/>
          </p:cNvSpPr>
          <p:nvPr/>
        </p:nvSpPr>
        <p:spPr>
          <a:xfrm xmlns:a="http://schemas.openxmlformats.org/drawingml/2006/main">
            <a:off x="552450" y="45529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F7FBF8"/>
                </a:solidFill>
                <a:latin typeface="Inter"/>
                <a:ea typeface="Inter"/>
                <a:cs typeface="Inter"/>
              </a:defRPr>
            </a:pPr>
            <a:r>
              <a:rPr sz="1500" b="0">
                <a:solidFill>
                  <a:srgbClr val="F7FBF8"/>
                </a:solidFill>
                <a:latin typeface="Inter"/>
                <a:ea typeface="Inter"/>
                <a:cs typeface="Inter"/>
              </a:rPr>
              <a:t>How many directions contain most of the variation</a:t>
            </a:r>
          </a:p>
        </p:txBody>
      </p:sp>
      <p:sp>
        <p:nvSpPr>
          <p:cNvPr id="22" name="">
            <a:extLst xmlns:a="http://schemas.openxmlformats.org/drawingml/2006/main">
              <a:ext uri="{FF2B5EF4-FFF2-40B4-BE49-F238E27FC236}">
                <a16:creationId xmlns:a16="http://schemas.microsoft.com/office/drawing/2014/main" id="{3089C5BB-A920-4762-8EC5-3248C1D6F120}"/>
              </a:ext>
            </a:extLst>
          </p:cNvPr>
          <p:cNvSpPr>
            <a:spLocks xmlns:a="http://schemas.openxmlformats.org/drawingml/2006/main" noGrp="1"/>
          </p:cNvSpPr>
          <p:nvPr/>
        </p:nvSpPr>
        <p:spPr>
          <a:xfrm xmlns:a="http://schemas.openxmlformats.org/drawingml/2006/main">
            <a:off x="4286250" y="409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1">
                <a:solidFill>
                  <a:srgbClr val="F6AE3E"/>
                </a:solidFill>
                <a:latin typeface="Inter"/>
                <a:ea typeface="Inter"/>
                <a:cs typeface="Inter"/>
              </a:defRPr>
            </a:pPr>
            <a:r>
              <a:rPr sz="1275" b="1">
                <a:solidFill>
                  <a:srgbClr val="F6AE3E"/>
                </a:solidFill>
                <a:latin typeface="Inter"/>
                <a:ea typeface="Inter"/>
                <a:cs typeface="Inter"/>
              </a:rPr>
              <a:t>q-WIDTH d(q)</a:t>
            </a:r>
          </a:p>
        </p:txBody>
      </p:sp>
      <p:sp>
        <p:nvSpPr>
          <p:cNvPr id="23" name="">
            <a:extLst xmlns:a="http://schemas.openxmlformats.org/drawingml/2006/main">
              <a:ext uri="{FF2B5EF4-FFF2-40B4-BE49-F238E27FC236}">
                <a16:creationId xmlns:a16="http://schemas.microsoft.com/office/drawing/2014/main" id="{EC7C13AF-55E3-4CAA-BD54-2E542D5E8658}"/>
              </a:ext>
            </a:extLst>
          </p:cNvPr>
          <p:cNvSpPr>
            <a:spLocks xmlns:a="http://schemas.openxmlformats.org/drawingml/2006/main" noGrp="1"/>
          </p:cNvSpPr>
          <p:nvPr/>
        </p:nvSpPr>
        <p:spPr>
          <a:xfrm xmlns:a="http://schemas.openxmlformats.org/drawingml/2006/main">
            <a:off x="4286250" y="45529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F7FBF8"/>
                </a:solidFill>
                <a:latin typeface="Inter"/>
                <a:ea typeface="Inter"/>
                <a:cs typeface="Inter"/>
              </a:defRPr>
            </a:pPr>
            <a:r>
              <a:rPr sz="1500" b="0">
                <a:solidFill>
                  <a:srgbClr val="F7FBF8"/>
                </a:solidFill>
                <a:latin typeface="Inter"/>
                <a:ea typeface="Inter"/>
                <a:cs typeface="Inter"/>
              </a:rPr>
              <a:t>Residual spread outside the best q-dimensional subspace</a:t>
            </a:r>
          </a:p>
        </p:txBody>
      </p:sp>
      <p:sp>
        <p:nvSpPr>
          <p:cNvPr id="24" name="">
            <a:extLst xmlns:a="http://schemas.openxmlformats.org/drawingml/2006/main">
              <a:ext uri="{FF2B5EF4-FFF2-40B4-BE49-F238E27FC236}">
                <a16:creationId xmlns:a16="http://schemas.microsoft.com/office/drawing/2014/main" id="{252D19F4-D6C4-4707-84C4-D8B3F85ED815}"/>
              </a:ext>
            </a:extLst>
          </p:cNvPr>
          <p:cNvSpPr>
            <a:spLocks xmlns:a="http://schemas.openxmlformats.org/drawingml/2006/main" noGrp="1"/>
          </p:cNvSpPr>
          <p:nvPr/>
        </p:nvSpPr>
        <p:spPr>
          <a:xfrm xmlns:a="http://schemas.openxmlformats.org/drawingml/2006/main">
            <a:off x="8020050" y="409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1">
                <a:solidFill>
                  <a:srgbClr val="B7F23A"/>
                </a:solidFill>
                <a:latin typeface="Inter"/>
                <a:ea typeface="Inter"/>
                <a:cs typeface="Inter"/>
              </a:defRPr>
            </a:pPr>
            <a:r>
              <a:rPr sz="1275" b="1">
                <a:solidFill>
                  <a:srgbClr val="B7F23A"/>
                </a:solidFill>
                <a:latin typeface="Inter"/>
                <a:ea typeface="Inter"/>
                <a:cs typeface="Inter"/>
              </a:rPr>
              <a:t>L-APPROXIMATION</a:t>
            </a:r>
          </a:p>
        </p:txBody>
      </p:sp>
      <p:sp>
        <p:nvSpPr>
          <p:cNvPr id="25" name="">
            <a:extLst xmlns:a="http://schemas.openxmlformats.org/drawingml/2006/main">
              <a:ext uri="{FF2B5EF4-FFF2-40B4-BE49-F238E27FC236}">
                <a16:creationId xmlns:a16="http://schemas.microsoft.com/office/drawing/2014/main" id="{6246C41E-A380-4402-9E16-3CBDB6D6BBE2}"/>
              </a:ext>
            </a:extLst>
          </p:cNvPr>
          <p:cNvSpPr>
            <a:spLocks xmlns:a="http://schemas.openxmlformats.org/drawingml/2006/main" noGrp="1"/>
          </p:cNvSpPr>
          <p:nvPr/>
        </p:nvSpPr>
        <p:spPr>
          <a:xfrm xmlns:a="http://schemas.openxmlformats.org/drawingml/2006/main">
            <a:off x="8020050" y="45529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F7FBF8"/>
                </a:solidFill>
                <a:latin typeface="Inter"/>
                <a:ea typeface="Inter"/>
                <a:cs typeface="Inter"/>
              </a:defRPr>
            </a:pPr>
            <a:r>
              <a:rPr sz="1500" b="0">
                <a:solidFill>
                  <a:srgbClr val="F7FBF8"/>
                </a:solidFill>
                <a:latin typeface="Inter"/>
                <a:ea typeface="Inter"/>
                <a:cs typeface="Inter"/>
              </a:rPr>
              <a:t>Reconstructed series used to verify preservation of lag and phase</a:t>
            </a:r>
          </a:p>
        </p:txBody>
      </p:sp>
      <p:sp>
        <p:nvSpPr>
          <p:cNvPr id="26" name="">
            <a:extLst xmlns:a="http://schemas.openxmlformats.org/drawingml/2006/main">
              <a:ext uri="{FF2B5EF4-FFF2-40B4-BE49-F238E27FC236}">
                <a16:creationId xmlns:a16="http://schemas.microsoft.com/office/drawing/2014/main" id="{052881E5-2609-499A-B348-B9D3AD8AA20F}"/>
              </a:ext>
            </a:extLst>
          </p:cNvPr>
          <p:cNvSpPr>
            <a:spLocks xmlns:a="http://schemas.openxmlformats.org/drawingml/2006/main" noGrp="1"/>
          </p:cNvSpPr>
          <p:nvPr/>
        </p:nvSpPr>
        <p:spPr>
          <a:xfrm xmlns:a="http://schemas.openxmlformats.org/drawingml/2006/main">
            <a:off x="1619250" y="576262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BBD0C8"/>
                </a:solidFill>
                <a:latin typeface="Inter"/>
                <a:ea typeface="Inter"/>
                <a:cs typeface="Inter"/>
              </a:defRPr>
            </a:pPr>
            <a:r>
              <a:rPr sz="1350" b="1">
                <a:solidFill>
                  <a:srgbClr val="BBD0C8"/>
                </a:solidFill>
                <a:latin typeface="Inter"/>
                <a:ea typeface="Inter"/>
                <a:cs typeface="Inter"/>
              </a:rPr>
              <a:t>Descriptor, not proof: changes in rank or curve shape require physical and independent validation.</a:t>
            </a:r>
          </a:p>
        </p:txBody>
      </p:sp>
    </p:spTree>
    <p:extLst>
      <p:ext uri="{BB962C8B-B14F-4D97-AF65-F5344CB8AC3E}">
        <p14:creationId xmlns:p14="http://schemas.microsoft.com/office/powerpoint/2010/main" val="119158567"/>
      </p:ext>
    </p:extLst>
  </p:cSld>
</p:sld>
</file>

<file path=ppt/slides/slide13.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C1F96F9E-C579-4021-9F45-FC97BBE9C3CB}"/>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PERSISTENT TOPOLOGY</a:t>
            </a:r>
          </a:p>
        </p:txBody>
      </p:sp>
      <p:sp>
        <p:nvSpPr>
          <p:cNvPr id="2" name="">
            <a:extLst xmlns:a="http://schemas.openxmlformats.org/drawingml/2006/main">
              <a:ext uri="{FF2B5EF4-FFF2-40B4-BE49-F238E27FC236}">
                <a16:creationId xmlns:a16="http://schemas.microsoft.com/office/drawing/2014/main" id="{F9D7E28C-7C2A-4E70-B6E0-E8C6D5F38B57}"/>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Topology distinguishes robust shape from scale-dependent detail</a:t>
            </a:r>
          </a:p>
        </p:txBody>
      </p:sp>
      <p:sp>
        <p:nvSpPr>
          <p:cNvPr id="3" name="">
            <a:extLst xmlns:a="http://schemas.openxmlformats.org/drawingml/2006/main">
              <a:ext uri="{FF2B5EF4-FFF2-40B4-BE49-F238E27FC236}">
                <a16:creationId xmlns:a16="http://schemas.microsoft.com/office/drawing/2014/main" id="{B7906242-C3F1-4D7A-8396-4E430AEFEB66}"/>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13</a:t>
            </a:r>
          </a:p>
        </p:txBody>
      </p:sp>
      <p:sp>
        <p:nvSpPr>
          <p:cNvPr id="4" name="">
            <a:extLst xmlns:a="http://schemas.openxmlformats.org/drawingml/2006/main">
              <a:ext uri="{FF2B5EF4-FFF2-40B4-BE49-F238E27FC236}">
                <a16:creationId xmlns:a16="http://schemas.microsoft.com/office/drawing/2014/main" id="{BB6A96E4-ACCA-4F5D-A0CE-93DC3EAF423A}"/>
              </a:ext>
            </a:extLst>
          </p:cNvPr>
          <p:cNvSpPr>
            <a:spLocks xmlns:a="http://schemas.openxmlformats.org/drawingml/2006/main" noGrp="1"/>
          </p:cNvSpPr>
          <p:nvPr/>
        </p:nvSpPr>
        <p:spPr>
          <a:xfrm xmlns:a="http://schemas.openxmlformats.org/drawingml/2006/main">
            <a:off x="571500" y="14478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B7F23A"/>
                </a:solidFill>
                <a:latin typeface="Inter"/>
                <a:ea typeface="Inter"/>
                <a:cs typeface="Inter"/>
              </a:defRPr>
            </a:pPr>
            <a:r>
              <a:rPr sz="1575" b="1">
                <a:solidFill>
                  <a:srgbClr val="B7F23A"/>
                </a:solidFill>
                <a:latin typeface="Inter"/>
                <a:ea typeface="Inter"/>
                <a:cs typeface="Inter"/>
              </a:rPr>
              <a:t>H₀: connected components</a:t>
            </a:r>
          </a:p>
        </p:txBody>
      </p:sp>
      <p:sp>
        <p:nvSpPr>
          <p:cNvPr id="5" name="">
            <a:extLst xmlns:a="http://schemas.openxmlformats.org/drawingml/2006/main">
              <a:ext uri="{FF2B5EF4-FFF2-40B4-BE49-F238E27FC236}">
                <a16:creationId xmlns:a16="http://schemas.microsoft.com/office/drawing/2014/main" id="{26A2E47D-99CB-4F5D-9D9C-A75FB22504BE}"/>
              </a:ext>
            </a:extLst>
          </p:cNvPr>
          <p:cNvSpPr>
            <a:spLocks xmlns:a="http://schemas.openxmlformats.org/drawingml/2006/main" noGrp="1"/>
          </p:cNvSpPr>
          <p:nvPr/>
        </p:nvSpPr>
        <p:spPr>
          <a:xfrm xmlns:a="http://schemas.openxmlformats.org/drawingml/2006/main">
            <a:off x="4476750" y="14478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F6AE3E"/>
                </a:solidFill>
                <a:latin typeface="Inter"/>
                <a:ea typeface="Inter"/>
                <a:cs typeface="Inter"/>
              </a:defRPr>
            </a:pPr>
            <a:r>
              <a:rPr sz="1575" b="1">
                <a:solidFill>
                  <a:srgbClr val="F6AE3E"/>
                </a:solidFill>
                <a:latin typeface="Inter"/>
                <a:ea typeface="Inter"/>
                <a:cs typeface="Inter"/>
              </a:rPr>
              <a:t>H₁: loop-like structure</a:t>
            </a:r>
          </a:p>
        </p:txBody>
      </p:sp>
      <p:sp>
        <p:nvSpPr>
          <p:cNvPr id="6" name="">
            <a:extLst xmlns:a="http://schemas.openxmlformats.org/drawingml/2006/main">
              <a:ext uri="{FF2B5EF4-FFF2-40B4-BE49-F238E27FC236}">
                <a16:creationId xmlns:a16="http://schemas.microsoft.com/office/drawing/2014/main" id="{DC800D77-1F9F-44E0-8B3C-1DACD9CFA99A}"/>
              </a:ext>
            </a:extLst>
          </p:cNvPr>
          <p:cNvSpPr>
            <a:spLocks xmlns:a="http://schemas.openxmlformats.org/drawingml/2006/main" noGrp="1"/>
          </p:cNvSpPr>
          <p:nvPr/>
        </p:nvSpPr>
        <p:spPr>
          <a:xfrm xmlns:a="http://schemas.openxmlformats.org/drawingml/2006/main">
            <a:off x="8286750" y="14478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68D7B3"/>
                </a:solidFill>
                <a:latin typeface="Inter"/>
                <a:ea typeface="Inter"/>
                <a:cs typeface="Inter"/>
              </a:defRPr>
            </a:pPr>
            <a:r>
              <a:rPr sz="1500" b="1">
                <a:solidFill>
                  <a:srgbClr val="68D7B3"/>
                </a:solidFill>
                <a:latin typeface="Inter"/>
                <a:ea typeface="Inter"/>
                <a:cs typeface="Inter"/>
              </a:rPr>
              <a:t>Persistence: threshold range over which a feature survives</a:t>
            </a:r>
          </a:p>
        </p:txBody>
      </p:sp>
      <p:sp>
        <p:nvSpPr>
          <p:cNvPr id="7" name="">
            <a:extLst xmlns:a="http://schemas.openxmlformats.org/drawingml/2006/main">
              <a:ext uri="{FF2B5EF4-FFF2-40B4-BE49-F238E27FC236}">
                <a16:creationId xmlns:a16="http://schemas.microsoft.com/office/drawing/2014/main" id="{FE68047A-9704-4157-9535-39B1F5BF4324}"/>
              </a:ext>
            </a:extLst>
          </p:cNvPr>
          <p:cNvSpPr>
            <a:spLocks xmlns:a="http://schemas.openxmlformats.org/drawingml/2006/main" noGrp="1"/>
          </p:cNvSpPr>
          <p:nvPr/>
        </p:nvSpPr>
        <p:spPr>
          <a:xfrm xmlns:a="http://schemas.openxmlformats.org/drawingml/2006/main">
            <a:off x="1009650" y="2628900"/>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9EE281F-358B-4321-88D4-444D82B31FC9}"/>
              </a:ext>
            </a:extLst>
          </p:cNvPr>
          <p:cNvSpPr>
            <a:spLocks xmlns:a="http://schemas.openxmlformats.org/drawingml/2006/main" noGrp="1"/>
          </p:cNvSpPr>
          <p:nvPr/>
        </p:nvSpPr>
        <p:spPr>
          <a:xfrm xmlns:a="http://schemas.openxmlformats.org/drawingml/2006/main">
            <a:off x="1485900" y="2390775"/>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45177BA-4792-47F0-82C5-15613146FF32}"/>
              </a:ext>
            </a:extLst>
          </p:cNvPr>
          <p:cNvSpPr>
            <a:spLocks xmlns:a="http://schemas.openxmlformats.org/drawingml/2006/main" noGrp="1"/>
          </p:cNvSpPr>
          <p:nvPr/>
        </p:nvSpPr>
        <p:spPr>
          <a:xfrm xmlns:a="http://schemas.openxmlformats.org/drawingml/2006/main">
            <a:off x="1771650" y="2914650"/>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3CD58ED-21F9-4468-8734-BAA445E3649F}"/>
              </a:ext>
            </a:extLst>
          </p:cNvPr>
          <p:cNvSpPr>
            <a:spLocks xmlns:a="http://schemas.openxmlformats.org/drawingml/2006/main" noGrp="1"/>
          </p:cNvSpPr>
          <p:nvPr/>
        </p:nvSpPr>
        <p:spPr>
          <a:xfrm xmlns:a="http://schemas.openxmlformats.org/drawingml/2006/main">
            <a:off x="2771775" y="2581275"/>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CC3838-9E46-40A0-A52D-C2EDCE80E30C}"/>
              </a:ext>
            </a:extLst>
          </p:cNvPr>
          <p:cNvSpPr>
            <a:spLocks xmlns:a="http://schemas.openxmlformats.org/drawingml/2006/main" noGrp="1"/>
          </p:cNvSpPr>
          <p:nvPr/>
        </p:nvSpPr>
        <p:spPr>
          <a:xfrm xmlns:a="http://schemas.openxmlformats.org/drawingml/2006/main">
            <a:off x="3057525" y="3009900"/>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2BEA0A-16F0-42F7-BBFB-252F5095BF6A}"/>
              </a:ext>
            </a:extLst>
          </p:cNvPr>
          <p:cNvSpPr>
            <a:spLocks xmlns:a="http://schemas.openxmlformats.org/drawingml/2006/main" noGrp="1"/>
          </p:cNvSpPr>
          <p:nvPr/>
        </p:nvSpPr>
        <p:spPr>
          <a:xfrm xmlns:a="http://schemas.openxmlformats.org/drawingml/2006/main">
            <a:off x="3343275" y="2343150"/>
            <a:ext cx="171450" cy="1714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67115B1-0EFC-4CBF-87E6-B220C82F26B9}"/>
              </a:ext>
            </a:extLst>
          </p:cNvPr>
          <p:cNvSpPr>
            <a:spLocks xmlns:a="http://schemas.openxmlformats.org/drawingml/2006/main" noGrp="1"/>
          </p:cNvSpPr>
          <p:nvPr/>
        </p:nvSpPr>
        <p:spPr>
          <a:xfrm xmlns:a="http://schemas.openxmlformats.org/drawingml/2006/main" flipH="0" flipV="0">
            <a:off x="1095375" y="2714625"/>
            <a:ext cx="762000" cy="285750"/>
          </a:xfrm>
          <a:prstGeom xmlns:a="http://schemas.openxmlformats.org/drawingml/2006/main" prst="line">
            <a:avLst/>
          </a:prstGeom>
          <a:noFill xmlns:a="http://schemas.openxmlformats.org/drawingml/2006/main"/>
          <a:ln xmlns:a="http://schemas.openxmlformats.org/drawingml/2006/main" w="19050">
            <a:solidFill>
              <a:srgbClr val="B7F23A"/>
            </a:solidFill>
            <a:prstDash val="solid"/>
          </a:ln>
        </p:spPr>
      </p:sp>
      <p:sp>
        <p:nvSpPr>
          <p:cNvPr id="14" name="">
            <a:extLst xmlns:a="http://schemas.openxmlformats.org/drawingml/2006/main">
              <a:ext uri="{FF2B5EF4-FFF2-40B4-BE49-F238E27FC236}">
                <a16:creationId xmlns:a16="http://schemas.microsoft.com/office/drawing/2014/main" id="{A643467B-A55C-46B7-9DD6-6C4F908464AE}"/>
              </a:ext>
            </a:extLst>
          </p:cNvPr>
          <p:cNvSpPr>
            <a:spLocks xmlns:a="http://schemas.openxmlformats.org/drawingml/2006/main" noGrp="1"/>
          </p:cNvSpPr>
          <p:nvPr/>
        </p:nvSpPr>
        <p:spPr>
          <a:xfrm xmlns:a="http://schemas.openxmlformats.org/drawingml/2006/main" flipH="0" flipV="1">
            <a:off x="2857500" y="2428875"/>
            <a:ext cx="571500" cy="238125"/>
          </a:xfrm>
          <a:prstGeom xmlns:a="http://schemas.openxmlformats.org/drawingml/2006/main" prst="line">
            <a:avLst/>
          </a:prstGeom>
          <a:noFill xmlns:a="http://schemas.openxmlformats.org/drawingml/2006/main"/>
          <a:ln xmlns:a="http://schemas.openxmlformats.org/drawingml/2006/main" w="19050">
            <a:solidFill>
              <a:srgbClr val="B7F23A"/>
            </a:solidFill>
            <a:prstDash val="solid"/>
          </a:ln>
        </p:spPr>
      </p:sp>
      <p:sp>
        <p:nvSpPr>
          <p:cNvPr id="15" name="">
            <a:extLst xmlns:a="http://schemas.openxmlformats.org/drawingml/2006/main">
              <a:ext uri="{FF2B5EF4-FFF2-40B4-BE49-F238E27FC236}">
                <a16:creationId xmlns:a16="http://schemas.microsoft.com/office/drawing/2014/main" id="{C39E9197-A19F-4C8F-9964-2395B48F1A86}"/>
              </a:ext>
            </a:extLst>
          </p:cNvPr>
          <p:cNvSpPr>
            <a:spLocks xmlns:a="http://schemas.openxmlformats.org/drawingml/2006/main" noGrp="1"/>
          </p:cNvSpPr>
          <p:nvPr/>
        </p:nvSpPr>
        <p:spPr>
          <a:xfrm xmlns:a="http://schemas.openxmlformats.org/drawingml/2006/main" flipH="0" flipV="0">
            <a:off x="2857500" y="2667000"/>
            <a:ext cx="285750" cy="428625"/>
          </a:xfrm>
          <a:prstGeom xmlns:a="http://schemas.openxmlformats.org/drawingml/2006/main" prst="line">
            <a:avLst/>
          </a:prstGeom>
          <a:noFill xmlns:a="http://schemas.openxmlformats.org/drawingml/2006/main"/>
          <a:ln xmlns:a="http://schemas.openxmlformats.org/drawingml/2006/main" w="19050">
            <a:solidFill>
              <a:srgbClr val="B7F23A"/>
            </a:solidFill>
            <a:prstDash val="solid"/>
          </a:ln>
        </p:spPr>
      </p:sp>
      <p:sp>
        <p:nvSpPr>
          <p:cNvPr id="16" name="">
            <a:extLst xmlns:a="http://schemas.openxmlformats.org/drawingml/2006/main">
              <a:ext uri="{FF2B5EF4-FFF2-40B4-BE49-F238E27FC236}">
                <a16:creationId xmlns:a16="http://schemas.microsoft.com/office/drawing/2014/main" id="{BE0A8841-1B1A-4AED-800C-2CC26AA77F7B}"/>
              </a:ext>
            </a:extLst>
          </p:cNvPr>
          <p:cNvSpPr>
            <a:spLocks xmlns:a="http://schemas.openxmlformats.org/drawingml/2006/main" noGrp="1"/>
          </p:cNvSpPr>
          <p:nvPr/>
        </p:nvSpPr>
        <p:spPr>
          <a:xfrm xmlns:a="http://schemas.openxmlformats.org/drawingml/2006/main" flipH="0" flipV="1">
            <a:off x="5000625" y="2333625"/>
            <a:ext cx="476250" cy="523875"/>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17" name="">
            <a:extLst xmlns:a="http://schemas.openxmlformats.org/drawingml/2006/main">
              <a:ext uri="{FF2B5EF4-FFF2-40B4-BE49-F238E27FC236}">
                <a16:creationId xmlns:a16="http://schemas.microsoft.com/office/drawing/2014/main" id="{250925AA-1998-4550-ABF6-203E1840C2FD}"/>
              </a:ext>
            </a:extLst>
          </p:cNvPr>
          <p:cNvSpPr>
            <a:spLocks xmlns:a="http://schemas.openxmlformats.org/drawingml/2006/main" noGrp="1"/>
          </p:cNvSpPr>
          <p:nvPr/>
        </p:nvSpPr>
        <p:spPr>
          <a:xfrm xmlns:a="http://schemas.openxmlformats.org/drawingml/2006/main">
            <a:off x="4943475" y="2800350"/>
            <a:ext cx="114300" cy="11430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333E422-1835-4106-B312-FEAE43CDBD6A}"/>
              </a:ext>
            </a:extLst>
          </p:cNvPr>
          <p:cNvSpPr>
            <a:spLocks xmlns:a="http://schemas.openxmlformats.org/drawingml/2006/main" noGrp="1"/>
          </p:cNvSpPr>
          <p:nvPr/>
        </p:nvSpPr>
        <p:spPr>
          <a:xfrm xmlns:a="http://schemas.openxmlformats.org/drawingml/2006/main" flipH="0" flipV="0">
            <a:off x="5476875" y="2333625"/>
            <a:ext cx="714375" cy="0"/>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19" name="">
            <a:extLst xmlns:a="http://schemas.openxmlformats.org/drawingml/2006/main">
              <a:ext uri="{FF2B5EF4-FFF2-40B4-BE49-F238E27FC236}">
                <a16:creationId xmlns:a16="http://schemas.microsoft.com/office/drawing/2014/main" id="{517D4F72-7E32-4749-83FC-88A7E56C5AEA}"/>
              </a:ext>
            </a:extLst>
          </p:cNvPr>
          <p:cNvSpPr>
            <a:spLocks xmlns:a="http://schemas.openxmlformats.org/drawingml/2006/main" noGrp="1"/>
          </p:cNvSpPr>
          <p:nvPr/>
        </p:nvSpPr>
        <p:spPr>
          <a:xfrm xmlns:a="http://schemas.openxmlformats.org/drawingml/2006/main">
            <a:off x="5419725" y="2276475"/>
            <a:ext cx="114300" cy="11430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57C1B21-B584-4BD5-9426-7F70C838B508}"/>
              </a:ext>
            </a:extLst>
          </p:cNvPr>
          <p:cNvSpPr>
            <a:spLocks xmlns:a="http://schemas.openxmlformats.org/drawingml/2006/main" noGrp="1"/>
          </p:cNvSpPr>
          <p:nvPr/>
        </p:nvSpPr>
        <p:spPr>
          <a:xfrm xmlns:a="http://schemas.openxmlformats.org/drawingml/2006/main" flipH="0" flipV="0">
            <a:off x="6191250" y="2333625"/>
            <a:ext cx="571500" cy="523875"/>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21" name="">
            <a:extLst xmlns:a="http://schemas.openxmlformats.org/drawingml/2006/main">
              <a:ext uri="{FF2B5EF4-FFF2-40B4-BE49-F238E27FC236}">
                <a16:creationId xmlns:a16="http://schemas.microsoft.com/office/drawing/2014/main" id="{B8A54B2B-D947-4E0E-B4A8-A2AEE6F1DDF0}"/>
              </a:ext>
            </a:extLst>
          </p:cNvPr>
          <p:cNvSpPr>
            <a:spLocks xmlns:a="http://schemas.openxmlformats.org/drawingml/2006/main" noGrp="1"/>
          </p:cNvSpPr>
          <p:nvPr/>
        </p:nvSpPr>
        <p:spPr>
          <a:xfrm xmlns:a="http://schemas.openxmlformats.org/drawingml/2006/main">
            <a:off x="6134100" y="2276475"/>
            <a:ext cx="114300" cy="11430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50BD521-6D1E-4245-97F3-7B06FC3A40A9}"/>
              </a:ext>
            </a:extLst>
          </p:cNvPr>
          <p:cNvSpPr>
            <a:spLocks xmlns:a="http://schemas.openxmlformats.org/drawingml/2006/main" noGrp="1"/>
          </p:cNvSpPr>
          <p:nvPr/>
        </p:nvSpPr>
        <p:spPr>
          <a:xfrm xmlns:a="http://schemas.openxmlformats.org/drawingml/2006/main" flipH="1" flipV="0">
            <a:off x="6191250" y="2857500"/>
            <a:ext cx="571500" cy="523875"/>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23" name="">
            <a:extLst xmlns:a="http://schemas.openxmlformats.org/drawingml/2006/main">
              <a:ext uri="{FF2B5EF4-FFF2-40B4-BE49-F238E27FC236}">
                <a16:creationId xmlns:a16="http://schemas.microsoft.com/office/drawing/2014/main" id="{B97BACA9-207B-4183-AB58-2C430A50F896}"/>
              </a:ext>
            </a:extLst>
          </p:cNvPr>
          <p:cNvSpPr>
            <a:spLocks xmlns:a="http://schemas.openxmlformats.org/drawingml/2006/main" noGrp="1"/>
          </p:cNvSpPr>
          <p:nvPr/>
        </p:nvSpPr>
        <p:spPr>
          <a:xfrm xmlns:a="http://schemas.openxmlformats.org/drawingml/2006/main">
            <a:off x="6705600" y="2800350"/>
            <a:ext cx="114300" cy="11430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683CEDA-C0A1-4AE2-9058-8527E180EC4E}"/>
              </a:ext>
            </a:extLst>
          </p:cNvPr>
          <p:cNvSpPr>
            <a:spLocks xmlns:a="http://schemas.openxmlformats.org/drawingml/2006/main" noGrp="1"/>
          </p:cNvSpPr>
          <p:nvPr/>
        </p:nvSpPr>
        <p:spPr>
          <a:xfrm xmlns:a="http://schemas.openxmlformats.org/drawingml/2006/main" flipH="1" flipV="0">
            <a:off x="5476875" y="3381375"/>
            <a:ext cx="714375" cy="0"/>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25" name="">
            <a:extLst xmlns:a="http://schemas.openxmlformats.org/drawingml/2006/main">
              <a:ext uri="{FF2B5EF4-FFF2-40B4-BE49-F238E27FC236}">
                <a16:creationId xmlns:a16="http://schemas.microsoft.com/office/drawing/2014/main" id="{41F7252C-7B21-4C0C-8909-5D220611EF5E}"/>
              </a:ext>
            </a:extLst>
          </p:cNvPr>
          <p:cNvSpPr>
            <a:spLocks xmlns:a="http://schemas.openxmlformats.org/drawingml/2006/main" noGrp="1"/>
          </p:cNvSpPr>
          <p:nvPr/>
        </p:nvSpPr>
        <p:spPr>
          <a:xfrm xmlns:a="http://schemas.openxmlformats.org/drawingml/2006/main">
            <a:off x="6134100" y="3324225"/>
            <a:ext cx="114300" cy="11430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E0415FF-55FA-4C59-97B2-220AA9421A6D}"/>
              </a:ext>
            </a:extLst>
          </p:cNvPr>
          <p:cNvSpPr>
            <a:spLocks xmlns:a="http://schemas.openxmlformats.org/drawingml/2006/main" noGrp="1"/>
          </p:cNvSpPr>
          <p:nvPr/>
        </p:nvSpPr>
        <p:spPr>
          <a:xfrm xmlns:a="http://schemas.openxmlformats.org/drawingml/2006/main" flipH="1" flipV="1">
            <a:off x="5000625" y="2857500"/>
            <a:ext cx="476250" cy="523875"/>
          </a:xfrm>
          <a:prstGeom xmlns:a="http://schemas.openxmlformats.org/drawingml/2006/main" prst="line">
            <a:avLst/>
          </a:prstGeom>
          <a:noFill xmlns:a="http://schemas.openxmlformats.org/drawingml/2006/main"/>
          <a:ln xmlns:a="http://schemas.openxmlformats.org/drawingml/2006/main" w="28575">
            <a:solidFill>
              <a:srgbClr val="F6AE3E"/>
            </a:solidFill>
            <a:prstDash val="solid"/>
          </a:ln>
        </p:spPr>
      </p:sp>
      <p:sp>
        <p:nvSpPr>
          <p:cNvPr id="27" name="">
            <a:extLst xmlns:a="http://schemas.openxmlformats.org/drawingml/2006/main">
              <a:ext uri="{FF2B5EF4-FFF2-40B4-BE49-F238E27FC236}">
                <a16:creationId xmlns:a16="http://schemas.microsoft.com/office/drawing/2014/main" id="{6E971D46-76A2-44FF-AC62-812193B398B0}"/>
              </a:ext>
            </a:extLst>
          </p:cNvPr>
          <p:cNvSpPr>
            <a:spLocks xmlns:a="http://schemas.openxmlformats.org/drawingml/2006/main" noGrp="1"/>
          </p:cNvSpPr>
          <p:nvPr/>
        </p:nvSpPr>
        <p:spPr>
          <a:xfrm xmlns:a="http://schemas.openxmlformats.org/drawingml/2006/main">
            <a:off x="5419725" y="3324225"/>
            <a:ext cx="114300" cy="11430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EF7A96C-59F1-4EA8-B044-69DC4A1B14B1}"/>
              </a:ext>
            </a:extLst>
          </p:cNvPr>
          <p:cNvSpPr>
            <a:spLocks xmlns:a="http://schemas.openxmlformats.org/drawingml/2006/main" noGrp="1"/>
          </p:cNvSpPr>
          <p:nvPr/>
        </p:nvSpPr>
        <p:spPr>
          <a:xfrm xmlns:a="http://schemas.openxmlformats.org/drawingml/2006/main" flipH="0" flipV="0">
            <a:off x="8763000" y="2381250"/>
            <a:ext cx="2190750" cy="0"/>
          </a:xfrm>
          <a:prstGeom xmlns:a="http://schemas.openxmlformats.org/drawingml/2006/main" prst="line">
            <a:avLst/>
          </a:prstGeom>
          <a:noFill xmlns:a="http://schemas.openxmlformats.org/drawingml/2006/main"/>
          <a:ln xmlns:a="http://schemas.openxmlformats.org/drawingml/2006/main" w="85725">
            <a:solidFill>
              <a:srgbClr val="68D7B3"/>
            </a:solidFill>
            <a:prstDash val="solid"/>
          </a:ln>
        </p:spPr>
      </p:sp>
      <p:sp>
        <p:nvSpPr>
          <p:cNvPr id="29" name="">
            <a:extLst xmlns:a="http://schemas.openxmlformats.org/drawingml/2006/main">
              <a:ext uri="{FF2B5EF4-FFF2-40B4-BE49-F238E27FC236}">
                <a16:creationId xmlns:a16="http://schemas.microsoft.com/office/drawing/2014/main" id="{5ECC5FA5-3F2C-4729-9850-620F4CD1B36D}"/>
              </a:ext>
            </a:extLst>
          </p:cNvPr>
          <p:cNvSpPr>
            <a:spLocks xmlns:a="http://schemas.openxmlformats.org/drawingml/2006/main" noGrp="1"/>
          </p:cNvSpPr>
          <p:nvPr/>
        </p:nvSpPr>
        <p:spPr>
          <a:xfrm xmlns:a="http://schemas.openxmlformats.org/drawingml/2006/main">
            <a:off x="8705850" y="232410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CDF1943-B471-4A0F-9AA5-BA28DBAAA697}"/>
              </a:ext>
            </a:extLst>
          </p:cNvPr>
          <p:cNvSpPr>
            <a:spLocks xmlns:a="http://schemas.openxmlformats.org/drawingml/2006/main" noGrp="1"/>
          </p:cNvSpPr>
          <p:nvPr/>
        </p:nvSpPr>
        <p:spPr>
          <a:xfrm xmlns:a="http://schemas.openxmlformats.org/drawingml/2006/main">
            <a:off x="10896600" y="232410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7C9C365-9E30-438C-80E8-B54B18E45746}"/>
              </a:ext>
            </a:extLst>
          </p:cNvPr>
          <p:cNvSpPr>
            <a:spLocks xmlns:a="http://schemas.openxmlformats.org/drawingml/2006/main" noGrp="1"/>
          </p:cNvSpPr>
          <p:nvPr/>
        </p:nvSpPr>
        <p:spPr>
          <a:xfrm xmlns:a="http://schemas.openxmlformats.org/drawingml/2006/main" flipH="0" flipV="0">
            <a:off x="8953500" y="2781300"/>
            <a:ext cx="1524000" cy="0"/>
          </a:xfrm>
          <a:prstGeom xmlns:a="http://schemas.openxmlformats.org/drawingml/2006/main" prst="line">
            <a:avLst/>
          </a:prstGeom>
          <a:noFill xmlns:a="http://schemas.openxmlformats.org/drawingml/2006/main"/>
          <a:ln xmlns:a="http://schemas.openxmlformats.org/drawingml/2006/main" w="85725">
            <a:solidFill>
              <a:srgbClr val="68D7B3"/>
            </a:solidFill>
            <a:prstDash val="solid"/>
          </a:ln>
        </p:spPr>
      </p:sp>
      <p:sp>
        <p:nvSpPr>
          <p:cNvPr id="32" name="">
            <a:extLst xmlns:a="http://schemas.openxmlformats.org/drawingml/2006/main">
              <a:ext uri="{FF2B5EF4-FFF2-40B4-BE49-F238E27FC236}">
                <a16:creationId xmlns:a16="http://schemas.microsoft.com/office/drawing/2014/main" id="{6B988D55-6394-42C7-B265-038CCB9B940B}"/>
              </a:ext>
            </a:extLst>
          </p:cNvPr>
          <p:cNvSpPr>
            <a:spLocks xmlns:a="http://schemas.openxmlformats.org/drawingml/2006/main" noGrp="1"/>
          </p:cNvSpPr>
          <p:nvPr/>
        </p:nvSpPr>
        <p:spPr>
          <a:xfrm xmlns:a="http://schemas.openxmlformats.org/drawingml/2006/main">
            <a:off x="8896350" y="272415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72DDD7D-20ED-4A2B-BCB9-E8E3DB5295EE}"/>
              </a:ext>
            </a:extLst>
          </p:cNvPr>
          <p:cNvSpPr>
            <a:spLocks xmlns:a="http://schemas.openxmlformats.org/drawingml/2006/main" noGrp="1"/>
          </p:cNvSpPr>
          <p:nvPr/>
        </p:nvSpPr>
        <p:spPr>
          <a:xfrm xmlns:a="http://schemas.openxmlformats.org/drawingml/2006/main">
            <a:off x="10420350" y="272415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A73410F-50D9-4E79-8497-B37043D5C77D}"/>
              </a:ext>
            </a:extLst>
          </p:cNvPr>
          <p:cNvSpPr>
            <a:spLocks xmlns:a="http://schemas.openxmlformats.org/drawingml/2006/main" noGrp="1"/>
          </p:cNvSpPr>
          <p:nvPr/>
        </p:nvSpPr>
        <p:spPr>
          <a:xfrm xmlns:a="http://schemas.openxmlformats.org/drawingml/2006/main" flipH="0" flipV="0">
            <a:off x="9334500" y="3181350"/>
            <a:ext cx="1047750" cy="0"/>
          </a:xfrm>
          <a:prstGeom xmlns:a="http://schemas.openxmlformats.org/drawingml/2006/main" prst="line">
            <a:avLst/>
          </a:prstGeom>
          <a:noFill xmlns:a="http://schemas.openxmlformats.org/drawingml/2006/main"/>
          <a:ln xmlns:a="http://schemas.openxmlformats.org/drawingml/2006/main" w="85725">
            <a:solidFill>
              <a:srgbClr val="68D7B3"/>
            </a:solidFill>
            <a:prstDash val="solid"/>
          </a:ln>
        </p:spPr>
      </p:sp>
      <p:sp>
        <p:nvSpPr>
          <p:cNvPr id="35" name="">
            <a:extLst xmlns:a="http://schemas.openxmlformats.org/drawingml/2006/main">
              <a:ext uri="{FF2B5EF4-FFF2-40B4-BE49-F238E27FC236}">
                <a16:creationId xmlns:a16="http://schemas.microsoft.com/office/drawing/2014/main" id="{978572D9-3453-4167-ADB8-943A104502FC}"/>
              </a:ext>
            </a:extLst>
          </p:cNvPr>
          <p:cNvSpPr>
            <a:spLocks xmlns:a="http://schemas.openxmlformats.org/drawingml/2006/main" noGrp="1"/>
          </p:cNvSpPr>
          <p:nvPr/>
        </p:nvSpPr>
        <p:spPr>
          <a:xfrm xmlns:a="http://schemas.openxmlformats.org/drawingml/2006/main">
            <a:off x="9277350" y="312420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35367A1-E816-42AF-B458-572203EE582D}"/>
              </a:ext>
            </a:extLst>
          </p:cNvPr>
          <p:cNvSpPr>
            <a:spLocks xmlns:a="http://schemas.openxmlformats.org/drawingml/2006/main" noGrp="1"/>
          </p:cNvSpPr>
          <p:nvPr/>
        </p:nvSpPr>
        <p:spPr>
          <a:xfrm xmlns:a="http://schemas.openxmlformats.org/drawingml/2006/main">
            <a:off x="10325100" y="312420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B605F12-5443-4B3D-B31B-92A24EB4B0EF}"/>
              </a:ext>
            </a:extLst>
          </p:cNvPr>
          <p:cNvSpPr>
            <a:spLocks xmlns:a="http://schemas.openxmlformats.org/drawingml/2006/main" noGrp="1"/>
          </p:cNvSpPr>
          <p:nvPr/>
        </p:nvSpPr>
        <p:spPr>
          <a:xfrm xmlns:a="http://schemas.openxmlformats.org/drawingml/2006/main" flipH="0" flipV="0">
            <a:off x="9810750" y="3581400"/>
            <a:ext cx="666750" cy="0"/>
          </a:xfrm>
          <a:prstGeom xmlns:a="http://schemas.openxmlformats.org/drawingml/2006/main" prst="line">
            <a:avLst/>
          </a:prstGeom>
          <a:noFill xmlns:a="http://schemas.openxmlformats.org/drawingml/2006/main"/>
          <a:ln xmlns:a="http://schemas.openxmlformats.org/drawingml/2006/main" w="85725">
            <a:solidFill>
              <a:srgbClr val="68D7B3"/>
            </a:solidFill>
            <a:prstDash val="solid"/>
          </a:ln>
        </p:spPr>
      </p:sp>
      <p:sp>
        <p:nvSpPr>
          <p:cNvPr id="38" name="">
            <a:extLst xmlns:a="http://schemas.openxmlformats.org/drawingml/2006/main">
              <a:ext uri="{FF2B5EF4-FFF2-40B4-BE49-F238E27FC236}">
                <a16:creationId xmlns:a16="http://schemas.microsoft.com/office/drawing/2014/main" id="{5646A9ED-3BF9-46C8-8832-8E3A527F927A}"/>
              </a:ext>
            </a:extLst>
          </p:cNvPr>
          <p:cNvSpPr>
            <a:spLocks xmlns:a="http://schemas.openxmlformats.org/drawingml/2006/main" noGrp="1"/>
          </p:cNvSpPr>
          <p:nvPr/>
        </p:nvSpPr>
        <p:spPr>
          <a:xfrm xmlns:a="http://schemas.openxmlformats.org/drawingml/2006/main">
            <a:off x="9753600" y="352425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2E83B3D-9003-4510-B419-CF6C7278D40C}"/>
              </a:ext>
            </a:extLst>
          </p:cNvPr>
          <p:cNvSpPr>
            <a:spLocks xmlns:a="http://schemas.openxmlformats.org/drawingml/2006/main" noGrp="1"/>
          </p:cNvSpPr>
          <p:nvPr/>
        </p:nvSpPr>
        <p:spPr>
          <a:xfrm xmlns:a="http://schemas.openxmlformats.org/drawingml/2006/main">
            <a:off x="10420350" y="3524250"/>
            <a:ext cx="114300" cy="114300"/>
          </a:xfrm>
          <a:prstGeom xmlns:a="http://schemas.openxmlformats.org/drawingml/2006/main" prst="ellipse">
            <a:avLst/>
          </a:prstGeom>
          <a:solidFill xmlns:a="http://schemas.openxmlformats.org/drawingml/2006/main">
            <a:srgbClr val="68D7B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CF06D69-ACD2-4FB5-9946-219C6774FC0B}"/>
              </a:ext>
            </a:extLst>
          </p:cNvPr>
          <p:cNvSpPr>
            <a:spLocks xmlns:a="http://schemas.openxmlformats.org/drawingml/2006/main" noGrp="1"/>
          </p:cNvSpPr>
          <p:nvPr/>
        </p:nvSpPr>
        <p:spPr>
          <a:xfrm xmlns:a="http://schemas.openxmlformats.org/drawingml/2006/main">
            <a:off x="571500" y="4238625"/>
            <a:ext cx="10953750" cy="1314450"/>
          </a:xfrm>
          <a:prstGeom xmlns:a="http://schemas.openxmlformats.org/drawingml/2006/main" prst="roundRect">
            <a:avLst>
              <a:gd name="adj" fmla="val 13043"/>
            </a:avLst>
          </a:prstGeom>
          <a:solidFill xmlns:a="http://schemas.openxmlformats.org/drawingml/2006/main">
            <a:srgbClr val="0E493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E546D4E-FAF2-413F-8BCE-CB9ABCD9E4F7}"/>
              </a:ext>
            </a:extLst>
          </p:cNvPr>
          <p:cNvSpPr>
            <a:spLocks xmlns:a="http://schemas.openxmlformats.org/drawingml/2006/main" noGrp="1"/>
          </p:cNvSpPr>
          <p:nvPr/>
        </p:nvSpPr>
        <p:spPr>
          <a:xfrm xmlns:a="http://schemas.openxmlformats.org/drawingml/2006/main">
            <a:off x="857250" y="44767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PHYSICAL INTERPRETATION</a:t>
            </a:r>
          </a:p>
        </p:txBody>
      </p:sp>
      <p:sp>
        <p:nvSpPr>
          <p:cNvPr id="42" name="">
            <a:extLst xmlns:a="http://schemas.openxmlformats.org/drawingml/2006/main">
              <a:ext uri="{FF2B5EF4-FFF2-40B4-BE49-F238E27FC236}">
                <a16:creationId xmlns:a16="http://schemas.microsoft.com/office/drawing/2014/main" id="{C45F2460-97B8-49FD-BE29-987AA3A391EB}"/>
              </a:ext>
            </a:extLst>
          </p:cNvPr>
          <p:cNvSpPr>
            <a:spLocks xmlns:a="http://schemas.openxmlformats.org/drawingml/2006/main" noGrp="1"/>
          </p:cNvSpPr>
          <p:nvPr/>
        </p:nvSpPr>
        <p:spPr>
          <a:xfrm xmlns:a="http://schemas.openxmlformats.org/drawingml/2006/main">
            <a:off x="857250" y="48577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1650" b="0">
                <a:solidFill>
                  <a:srgbClr val="F7FBF8"/>
                </a:solidFill>
                <a:latin typeface="Inter"/>
                <a:ea typeface="Inter"/>
                <a:cs typeface="Inter"/>
              </a:defRPr>
            </a:pPr>
            <a:r>
              <a:rPr sz="1650" b="0">
                <a:solidFill>
                  <a:srgbClr val="F7FBF8"/>
                </a:solidFill>
                <a:latin typeface="Inter"/>
                <a:ea typeface="Inter"/>
                <a:cs typeface="Inter"/>
              </a:rPr>
              <a:t>Spatial H₀ can track separated CO₂-rich domains. Temporal H₁ can flag a loop-like event trajectory. Neither feature identifies a process without time order, covariates, null models and independent evidence.</a:t>
            </a:r>
          </a:p>
        </p:txBody>
      </p:sp>
      <p:sp>
        <p:nvSpPr>
          <p:cNvPr id="43" name="">
            <a:extLst xmlns:a="http://schemas.openxmlformats.org/drawingml/2006/main">
              <a:ext uri="{FF2B5EF4-FFF2-40B4-BE49-F238E27FC236}">
                <a16:creationId xmlns:a16="http://schemas.microsoft.com/office/drawing/2014/main" id="{A24073F6-4624-4822-9747-8D9F3F0940F4}"/>
              </a:ext>
            </a:extLst>
          </p:cNvPr>
          <p:cNvSpPr>
            <a:spLocks xmlns:a="http://schemas.openxmlformats.org/drawingml/2006/main" noGrp="1"/>
          </p:cNvSpPr>
          <p:nvPr/>
        </p:nvSpPr>
        <p:spPr>
          <a:xfrm xmlns:a="http://schemas.openxmlformats.org/drawingml/2006/main">
            <a:off x="1428750" y="58102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BBD0C8"/>
                </a:solidFill>
                <a:latin typeface="Inter"/>
                <a:ea typeface="Inter"/>
                <a:cs typeface="Inter"/>
              </a:defRPr>
            </a:pPr>
            <a:r>
              <a:rPr sz="1200" b="1">
                <a:solidFill>
                  <a:srgbClr val="BBD0C8"/>
                </a:solidFill>
                <a:latin typeface="Inter"/>
                <a:ea typeface="Inter"/>
                <a:cs typeface="Inter"/>
              </a:rPr>
              <a:t>Caution: dimension reduction, interpolation and sampling density can create or remove apparent features.</a:t>
            </a:r>
          </a:p>
        </p:txBody>
      </p:sp>
    </p:spTree>
    <p:extLst>
      <p:ext uri="{BB962C8B-B14F-4D97-AF65-F5344CB8AC3E}">
        <p14:creationId xmlns:p14="http://schemas.microsoft.com/office/powerpoint/2010/main" val="1111797720"/>
      </p:ext>
    </p:extLst>
  </p:cSld>
</p:sld>
</file>

<file path=ppt/slides/slide14.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281CF8F-2662-424D-8FF1-E7CCCF9DD86D}"/>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INTEGRATION</a:t>
            </a:r>
          </a:p>
        </p:txBody>
      </p:sp>
      <p:sp>
        <p:nvSpPr>
          <p:cNvPr id="2" name="">
            <a:extLst xmlns:a="http://schemas.openxmlformats.org/drawingml/2006/main">
              <a:ext uri="{FF2B5EF4-FFF2-40B4-BE49-F238E27FC236}">
                <a16:creationId xmlns:a16="http://schemas.microsoft.com/office/drawing/2014/main" id="{44319914-9226-4024-8CAF-A9680AD00D2F}"/>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One event yields a structured fingerprint, not a single score</a:t>
            </a:r>
          </a:p>
        </p:txBody>
      </p:sp>
      <p:sp>
        <p:nvSpPr>
          <p:cNvPr id="3" name="">
            <a:extLst xmlns:a="http://schemas.openxmlformats.org/drawingml/2006/main">
              <a:ext uri="{FF2B5EF4-FFF2-40B4-BE49-F238E27FC236}">
                <a16:creationId xmlns:a16="http://schemas.microsoft.com/office/drawing/2014/main" id="{378F5FCC-A76D-40B7-85D9-251AC1454E18}"/>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14</a:t>
            </a:r>
          </a:p>
        </p:txBody>
      </p:sp>
      <p:sp>
        <p:nvSpPr>
          <p:cNvPr id="4" name="">
            <a:extLst xmlns:a="http://schemas.openxmlformats.org/drawingml/2006/main">
              <a:ext uri="{FF2B5EF4-FFF2-40B4-BE49-F238E27FC236}">
                <a16:creationId xmlns:a16="http://schemas.microsoft.com/office/drawing/2014/main" id="{45B36469-48E4-4116-BFA7-A9D63FAAD338}"/>
              </a:ext>
            </a:extLst>
          </p:cNvPr>
          <p:cNvSpPr>
            <a:spLocks xmlns:a="http://schemas.openxmlformats.org/drawingml/2006/main" noGrp="1"/>
          </p:cNvSpPr>
          <p:nvPr/>
        </p:nvSpPr>
        <p:spPr>
          <a:xfrm xmlns:a="http://schemas.openxmlformats.org/drawingml/2006/main">
            <a:off x="428625" y="1809750"/>
            <a:ext cx="2047875" cy="1524000"/>
          </a:xfrm>
          <a:prstGeom xmlns:a="http://schemas.openxmlformats.org/drawingml/2006/main" prst="roundRect">
            <a:avLst>
              <a:gd name="adj" fmla="val 11250"/>
            </a:avLst>
          </a:prstGeom>
          <a:solidFill xmlns:a="http://schemas.openxmlformats.org/drawingml/2006/main">
            <a:srgbClr val="0E49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1918842-1E73-4B55-89C8-59DDECEDD1DE}"/>
              </a:ext>
            </a:extLst>
          </p:cNvPr>
          <p:cNvSpPr>
            <a:spLocks xmlns:a="http://schemas.openxmlformats.org/drawingml/2006/main" noGrp="1"/>
          </p:cNvSpPr>
          <p:nvPr/>
        </p:nvSpPr>
        <p:spPr>
          <a:xfrm xmlns:a="http://schemas.openxmlformats.org/drawingml/2006/main">
            <a:off x="581025" y="2076450"/>
            <a:ext cx="1743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B7F23A"/>
                </a:solidFill>
                <a:latin typeface="Inter"/>
                <a:ea typeface="Inter"/>
                <a:cs typeface="Inter"/>
              </a:defRPr>
            </a:pPr>
            <a:r>
              <a:rPr sz="1200" b="1">
                <a:solidFill>
                  <a:srgbClr val="B7F23A"/>
                </a:solidFill>
                <a:latin typeface="Inter"/>
                <a:ea typeface="Inter"/>
                <a:cs typeface="Inter"/>
              </a:rPr>
              <a:t>TRANSPORT</a:t>
            </a:r>
          </a:p>
        </p:txBody>
      </p:sp>
      <p:sp>
        <p:nvSpPr>
          <p:cNvPr id="6" name="">
            <a:extLst xmlns:a="http://schemas.openxmlformats.org/drawingml/2006/main">
              <a:ext uri="{FF2B5EF4-FFF2-40B4-BE49-F238E27FC236}">
                <a16:creationId xmlns:a16="http://schemas.microsoft.com/office/drawing/2014/main" id="{FF99A6F2-B896-46F6-ACEC-AEEE23E9307F}"/>
              </a:ext>
            </a:extLst>
          </p:cNvPr>
          <p:cNvSpPr>
            <a:spLocks xmlns:a="http://schemas.openxmlformats.org/drawingml/2006/main" noGrp="1"/>
          </p:cNvSpPr>
          <p:nvPr/>
        </p:nvSpPr>
        <p:spPr>
          <a:xfrm xmlns:a="http://schemas.openxmlformats.org/drawingml/2006/main">
            <a:off x="600075" y="2590800"/>
            <a:ext cx="1704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lgn="ctr">
              <a:defRPr sz="1425" b="0">
                <a:solidFill>
                  <a:srgbClr val="F7FBF8"/>
                </a:solidFill>
                <a:latin typeface="Inter"/>
                <a:ea typeface="Inter"/>
                <a:cs typeface="Inter"/>
              </a:defRPr>
            </a:pPr>
            <a:r>
              <a:rPr sz="1425" b="0">
                <a:solidFill>
                  <a:srgbClr val="F7FBF8"/>
                </a:solidFill>
                <a:latin typeface="Inter"/>
                <a:ea typeface="Inter"/>
                <a:cs typeface="Inter"/>
              </a:rPr>
              <a:t>lag τ, attenuation, Dₑff</a:t>
            </a:r>
          </a:p>
        </p:txBody>
      </p:sp>
      <p:sp>
        <p:nvSpPr>
          <p:cNvPr id="7" name="">
            <a:extLst xmlns:a="http://schemas.openxmlformats.org/drawingml/2006/main">
              <a:ext uri="{FF2B5EF4-FFF2-40B4-BE49-F238E27FC236}">
                <a16:creationId xmlns:a16="http://schemas.microsoft.com/office/drawing/2014/main" id="{E659002D-1234-40E6-BA99-442D9D016A61}"/>
              </a:ext>
            </a:extLst>
          </p:cNvPr>
          <p:cNvSpPr>
            <a:spLocks xmlns:a="http://schemas.openxmlformats.org/drawingml/2006/main" noGrp="1"/>
          </p:cNvSpPr>
          <p:nvPr/>
        </p:nvSpPr>
        <p:spPr>
          <a:xfrm xmlns:a="http://schemas.openxmlformats.org/drawingml/2006/main">
            <a:off x="2762250" y="1809750"/>
            <a:ext cx="2047875" cy="1524000"/>
          </a:xfrm>
          <a:prstGeom xmlns:a="http://schemas.openxmlformats.org/drawingml/2006/main" prst="roundRect">
            <a:avLst>
              <a:gd name="adj" fmla="val 11250"/>
            </a:avLst>
          </a:prstGeom>
          <a:solidFill xmlns:a="http://schemas.openxmlformats.org/drawingml/2006/main">
            <a:srgbClr val="28524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69C83B4-1547-4817-9AC4-FA47157B818D}"/>
              </a:ext>
            </a:extLst>
          </p:cNvPr>
          <p:cNvSpPr>
            <a:spLocks xmlns:a="http://schemas.openxmlformats.org/drawingml/2006/main" noGrp="1"/>
          </p:cNvSpPr>
          <p:nvPr/>
        </p:nvSpPr>
        <p:spPr>
          <a:xfrm xmlns:a="http://schemas.openxmlformats.org/drawingml/2006/main">
            <a:off x="2914650" y="2076450"/>
            <a:ext cx="1743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B7F23A"/>
                </a:solidFill>
                <a:latin typeface="Inter"/>
                <a:ea typeface="Inter"/>
                <a:cs typeface="Inter"/>
              </a:defRPr>
            </a:pPr>
            <a:r>
              <a:rPr sz="1200" b="1">
                <a:solidFill>
                  <a:srgbClr val="B7F23A"/>
                </a:solidFill>
                <a:latin typeface="Inter"/>
                <a:ea typeface="Inter"/>
                <a:cs typeface="Inter"/>
              </a:rPr>
              <a:t>PHASE GRAPH</a:t>
            </a:r>
          </a:p>
        </p:txBody>
      </p:sp>
      <p:sp>
        <p:nvSpPr>
          <p:cNvPr id="9" name="">
            <a:extLst xmlns:a="http://schemas.openxmlformats.org/drawingml/2006/main">
              <a:ext uri="{FF2B5EF4-FFF2-40B4-BE49-F238E27FC236}">
                <a16:creationId xmlns:a16="http://schemas.microsoft.com/office/drawing/2014/main" id="{76F47E95-A211-4CEB-AC4E-27D75C741FCC}"/>
              </a:ext>
            </a:extLst>
          </p:cNvPr>
          <p:cNvSpPr>
            <a:spLocks xmlns:a="http://schemas.openxmlformats.org/drawingml/2006/main" noGrp="1"/>
          </p:cNvSpPr>
          <p:nvPr/>
        </p:nvSpPr>
        <p:spPr>
          <a:xfrm xmlns:a="http://schemas.openxmlformats.org/drawingml/2006/main">
            <a:off x="2933700" y="2590800"/>
            <a:ext cx="1704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lgn="ctr">
              <a:defRPr sz="1425" b="0">
                <a:solidFill>
                  <a:srgbClr val="F7FBF8"/>
                </a:solidFill>
                <a:latin typeface="Inter"/>
                <a:ea typeface="Inter"/>
                <a:cs typeface="Inter"/>
              </a:defRPr>
            </a:pPr>
            <a:r>
              <a:rPr sz="1425" b="0">
                <a:solidFill>
                  <a:srgbClr val="F7FBF8"/>
                </a:solidFill>
                <a:latin typeface="Inter"/>
                <a:ea typeface="Inter"/>
                <a:cs typeface="Inter"/>
              </a:rPr>
              <a:t>coherence γ², directed edges</a:t>
            </a:r>
          </a:p>
        </p:txBody>
      </p:sp>
      <p:sp>
        <p:nvSpPr>
          <p:cNvPr id="10" name="">
            <a:extLst xmlns:a="http://schemas.openxmlformats.org/drawingml/2006/main">
              <a:ext uri="{FF2B5EF4-FFF2-40B4-BE49-F238E27FC236}">
                <a16:creationId xmlns:a16="http://schemas.microsoft.com/office/drawing/2014/main" id="{E82C9E88-406D-4FFD-85FE-F0784E0D8EB2}"/>
              </a:ext>
            </a:extLst>
          </p:cNvPr>
          <p:cNvSpPr>
            <a:spLocks xmlns:a="http://schemas.openxmlformats.org/drawingml/2006/main" noGrp="1"/>
          </p:cNvSpPr>
          <p:nvPr/>
        </p:nvSpPr>
        <p:spPr>
          <a:xfrm xmlns:a="http://schemas.openxmlformats.org/drawingml/2006/main">
            <a:off x="5095875" y="1809750"/>
            <a:ext cx="2047875" cy="1524000"/>
          </a:xfrm>
          <a:prstGeom xmlns:a="http://schemas.openxmlformats.org/drawingml/2006/main" prst="roundRect">
            <a:avLst>
              <a:gd name="adj" fmla="val 11250"/>
            </a:avLst>
          </a:prstGeom>
          <a:solidFill xmlns:a="http://schemas.openxmlformats.org/drawingml/2006/main">
            <a:srgbClr val="0E493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6E7D4EC-B0D0-44AE-AF59-3316CB17B57C}"/>
              </a:ext>
            </a:extLst>
          </p:cNvPr>
          <p:cNvSpPr>
            <a:spLocks xmlns:a="http://schemas.openxmlformats.org/drawingml/2006/main" noGrp="1"/>
          </p:cNvSpPr>
          <p:nvPr/>
        </p:nvSpPr>
        <p:spPr>
          <a:xfrm xmlns:a="http://schemas.openxmlformats.org/drawingml/2006/main">
            <a:off x="5248275" y="2076450"/>
            <a:ext cx="1743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B7F23A"/>
                </a:solidFill>
                <a:latin typeface="Inter"/>
                <a:ea typeface="Inter"/>
                <a:cs typeface="Inter"/>
              </a:defRPr>
            </a:pPr>
            <a:r>
              <a:rPr sz="1200" b="1">
                <a:solidFill>
                  <a:srgbClr val="B7F23A"/>
                </a:solidFill>
                <a:latin typeface="Inter"/>
                <a:ea typeface="Inter"/>
                <a:cs typeface="Inter"/>
              </a:rPr>
              <a:t>UNFOLDING</a:t>
            </a:r>
          </a:p>
        </p:txBody>
      </p:sp>
      <p:sp>
        <p:nvSpPr>
          <p:cNvPr id="12" name="">
            <a:extLst xmlns:a="http://schemas.openxmlformats.org/drawingml/2006/main">
              <a:ext uri="{FF2B5EF4-FFF2-40B4-BE49-F238E27FC236}">
                <a16:creationId xmlns:a16="http://schemas.microsoft.com/office/drawing/2014/main" id="{978A1860-CB07-45D4-85A9-2D847ECC43E6}"/>
              </a:ext>
            </a:extLst>
          </p:cNvPr>
          <p:cNvSpPr>
            <a:spLocks xmlns:a="http://schemas.openxmlformats.org/drawingml/2006/main" noGrp="1"/>
          </p:cNvSpPr>
          <p:nvPr/>
        </p:nvSpPr>
        <p:spPr>
          <a:xfrm xmlns:a="http://schemas.openxmlformats.org/drawingml/2006/main">
            <a:off x="5267325" y="2590800"/>
            <a:ext cx="1704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lgn="ctr">
              <a:defRPr sz="1425" b="0">
                <a:solidFill>
                  <a:srgbClr val="F7FBF8"/>
                </a:solidFill>
                <a:latin typeface="Inter"/>
                <a:ea typeface="Inter"/>
                <a:cs typeface="Inter"/>
              </a:defRPr>
            </a:pPr>
            <a:r>
              <a:rPr sz="1425" b="0">
                <a:solidFill>
                  <a:srgbClr val="F7FBF8"/>
                </a:solidFill>
                <a:latin typeface="Inter"/>
                <a:ea typeface="Inter"/>
                <a:cs typeface="Inter"/>
              </a:rPr>
              <a:t>rank, q-width, subspace distance</a:t>
            </a:r>
          </a:p>
        </p:txBody>
      </p:sp>
      <p:sp>
        <p:nvSpPr>
          <p:cNvPr id="13" name="">
            <a:extLst xmlns:a="http://schemas.openxmlformats.org/drawingml/2006/main">
              <a:ext uri="{FF2B5EF4-FFF2-40B4-BE49-F238E27FC236}">
                <a16:creationId xmlns:a16="http://schemas.microsoft.com/office/drawing/2014/main" id="{4C88AF64-4E5F-481C-882A-EC1097B1BD16}"/>
              </a:ext>
            </a:extLst>
          </p:cNvPr>
          <p:cNvSpPr>
            <a:spLocks xmlns:a="http://schemas.openxmlformats.org/drawingml/2006/main" noGrp="1"/>
          </p:cNvSpPr>
          <p:nvPr/>
        </p:nvSpPr>
        <p:spPr>
          <a:xfrm xmlns:a="http://schemas.openxmlformats.org/drawingml/2006/main">
            <a:off x="7429500" y="1809750"/>
            <a:ext cx="2047875" cy="1524000"/>
          </a:xfrm>
          <a:prstGeom xmlns:a="http://schemas.openxmlformats.org/drawingml/2006/main" prst="roundRect">
            <a:avLst>
              <a:gd name="adj" fmla="val 11250"/>
            </a:avLst>
          </a:prstGeom>
          <a:solidFill xmlns:a="http://schemas.openxmlformats.org/drawingml/2006/main">
            <a:srgbClr val="28524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50DFDA-1D21-4F4D-B89E-9BCE4A7B0FEC}"/>
              </a:ext>
            </a:extLst>
          </p:cNvPr>
          <p:cNvSpPr>
            <a:spLocks xmlns:a="http://schemas.openxmlformats.org/drawingml/2006/main" noGrp="1"/>
          </p:cNvSpPr>
          <p:nvPr/>
        </p:nvSpPr>
        <p:spPr>
          <a:xfrm xmlns:a="http://schemas.openxmlformats.org/drawingml/2006/main">
            <a:off x="7581900" y="2076450"/>
            <a:ext cx="1743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B7F23A"/>
                </a:solidFill>
                <a:latin typeface="Inter"/>
                <a:ea typeface="Inter"/>
                <a:cs typeface="Inter"/>
              </a:defRPr>
            </a:pPr>
            <a:r>
              <a:rPr sz="1200" b="1">
                <a:solidFill>
                  <a:srgbClr val="B7F23A"/>
                </a:solidFill>
                <a:latin typeface="Inter"/>
                <a:ea typeface="Inter"/>
                <a:cs typeface="Inter"/>
              </a:rPr>
              <a:t>EVENT GEOMETRY</a:t>
            </a:r>
          </a:p>
        </p:txBody>
      </p:sp>
      <p:sp>
        <p:nvSpPr>
          <p:cNvPr id="15" name="">
            <a:extLst xmlns:a="http://schemas.openxmlformats.org/drawingml/2006/main">
              <a:ext uri="{FF2B5EF4-FFF2-40B4-BE49-F238E27FC236}">
                <a16:creationId xmlns:a16="http://schemas.microsoft.com/office/drawing/2014/main" id="{C7CF946F-1690-4A70-98DD-040BE6499861}"/>
              </a:ext>
            </a:extLst>
          </p:cNvPr>
          <p:cNvSpPr>
            <a:spLocks xmlns:a="http://schemas.openxmlformats.org/drawingml/2006/main" noGrp="1"/>
          </p:cNvSpPr>
          <p:nvPr/>
        </p:nvSpPr>
        <p:spPr>
          <a:xfrm xmlns:a="http://schemas.openxmlformats.org/drawingml/2006/main">
            <a:off x="7600950" y="2590800"/>
            <a:ext cx="1704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lgn="ctr">
              <a:defRPr sz="1425" b="0">
                <a:solidFill>
                  <a:srgbClr val="F7FBF8"/>
                </a:solidFill>
                <a:latin typeface="Inter"/>
                <a:ea typeface="Inter"/>
                <a:cs typeface="Inter"/>
              </a:defRPr>
            </a:pPr>
            <a:r>
              <a:rPr sz="1425" b="0">
                <a:solidFill>
                  <a:srgbClr val="F7FBF8"/>
                </a:solidFill>
                <a:latin typeface="Inter"/>
                <a:ea typeface="Inter"/>
                <a:cs typeface="Inter"/>
              </a:rPr>
              <a:t>closure error, loop measure</a:t>
            </a:r>
          </a:p>
        </p:txBody>
      </p:sp>
      <p:sp>
        <p:nvSpPr>
          <p:cNvPr id="16" name="">
            <a:extLst xmlns:a="http://schemas.openxmlformats.org/drawingml/2006/main">
              <a:ext uri="{FF2B5EF4-FFF2-40B4-BE49-F238E27FC236}">
                <a16:creationId xmlns:a16="http://schemas.microsoft.com/office/drawing/2014/main" id="{2303D1F6-C18D-4176-A0A5-94F8C7C88266}"/>
              </a:ext>
            </a:extLst>
          </p:cNvPr>
          <p:cNvSpPr>
            <a:spLocks xmlns:a="http://schemas.openxmlformats.org/drawingml/2006/main" noGrp="1"/>
          </p:cNvSpPr>
          <p:nvPr/>
        </p:nvSpPr>
        <p:spPr>
          <a:xfrm xmlns:a="http://schemas.openxmlformats.org/drawingml/2006/main">
            <a:off x="9763125" y="1809750"/>
            <a:ext cx="2047875" cy="1524000"/>
          </a:xfrm>
          <a:prstGeom xmlns:a="http://schemas.openxmlformats.org/drawingml/2006/main" prst="roundRect">
            <a:avLst>
              <a:gd name="adj" fmla="val 11250"/>
            </a:avLst>
          </a:prstGeom>
          <a:solidFill xmlns:a="http://schemas.openxmlformats.org/drawingml/2006/main">
            <a:srgbClr val="0E493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61DF0A0-9936-4E49-95C2-26B612E3D283}"/>
              </a:ext>
            </a:extLst>
          </p:cNvPr>
          <p:cNvSpPr>
            <a:spLocks xmlns:a="http://schemas.openxmlformats.org/drawingml/2006/main" noGrp="1"/>
          </p:cNvSpPr>
          <p:nvPr/>
        </p:nvSpPr>
        <p:spPr>
          <a:xfrm xmlns:a="http://schemas.openxmlformats.org/drawingml/2006/main">
            <a:off x="9915525" y="2076450"/>
            <a:ext cx="1743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B7F23A"/>
                </a:solidFill>
                <a:latin typeface="Inter"/>
                <a:ea typeface="Inter"/>
                <a:cs typeface="Inter"/>
              </a:defRPr>
            </a:pPr>
            <a:r>
              <a:rPr sz="1200" b="1">
                <a:solidFill>
                  <a:srgbClr val="B7F23A"/>
                </a:solidFill>
                <a:latin typeface="Inter"/>
                <a:ea typeface="Inter"/>
                <a:cs typeface="Inter"/>
              </a:rPr>
              <a:t>PERSISTENCE</a:t>
            </a:r>
          </a:p>
        </p:txBody>
      </p:sp>
      <p:sp>
        <p:nvSpPr>
          <p:cNvPr id="18" name="">
            <a:extLst xmlns:a="http://schemas.openxmlformats.org/drawingml/2006/main">
              <a:ext uri="{FF2B5EF4-FFF2-40B4-BE49-F238E27FC236}">
                <a16:creationId xmlns:a16="http://schemas.microsoft.com/office/drawing/2014/main" id="{00BEB16E-A4E9-4C7B-BDE6-F21934B07C04}"/>
              </a:ext>
            </a:extLst>
          </p:cNvPr>
          <p:cNvSpPr>
            <a:spLocks xmlns:a="http://schemas.openxmlformats.org/drawingml/2006/main" noGrp="1"/>
          </p:cNvSpPr>
          <p:nvPr/>
        </p:nvSpPr>
        <p:spPr>
          <a:xfrm xmlns:a="http://schemas.openxmlformats.org/drawingml/2006/main">
            <a:off x="9934575" y="2590800"/>
            <a:ext cx="1704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F7FBF8"/>
                </a:solidFill>
                <a:latin typeface="Inter"/>
                <a:ea typeface="Inter"/>
                <a:cs typeface="Inter"/>
              </a:defRPr>
            </a:pPr>
            <a:r>
              <a:rPr sz="1425" b="0">
                <a:solidFill>
                  <a:srgbClr val="F7FBF8"/>
                </a:solidFill>
                <a:latin typeface="Inter"/>
                <a:ea typeface="Inter"/>
                <a:cs typeface="Inter"/>
              </a:rPr>
              <a:t>H₀ and H₁ intervals</a:t>
            </a:r>
          </a:p>
        </p:txBody>
      </p:sp>
      <p:cxnSp>
        <p:nvCxnSpPr>
          <p:cNvPr id="47" name=""/>
          <p:cNvCxnSpPr>
            <a:stCxn xmlns:a="http://schemas.openxmlformats.org/drawingml/2006/main" id="7" idx="1"/>
            <a:endCxn xmlns:a="http://schemas.openxmlformats.org/drawingml/2006/main" id="4" idx="3"/>
          </p:cNvCxnSpPr>
          <p:nvPr/>
        </p:nvCxnSpPr>
        <p:spPr>
          <a:xfrm xmlns:a="http://schemas.openxmlformats.org/drawingml/2006/main" flipH="1">
            <a:off x="2476500" y="2571750"/>
            <a:ext cx="285750" cy="0"/>
          </a:xfrm>
          <a:prstGeom xmlns:a="http://schemas.openxmlformats.org/drawingml/2006/main" prst="straightConnector1">
            <a:avLst/>
          </a:prstGeom>
          <a:ln xmlns:a="http://schemas.openxmlformats.org/drawingml/2006/main" w="19050">
            <a:solidFill>
              <a:srgbClr val="BBD0C8"/>
            </a:solidFill>
            <a:prstDash val="solid"/>
            <a:headEnd type="arrow" w="sm" len="sm"/>
          </a:ln>
        </p:spPr>
      </p:cxnSp>
      <p:cxnSp>
        <p:nvCxnSpPr>
          <p:cNvPr id="48" name=""/>
          <p:cNvCxnSpPr>
            <a:stCxn xmlns:a="http://schemas.openxmlformats.org/drawingml/2006/main" id="10" idx="1"/>
            <a:endCxn xmlns:a="http://schemas.openxmlformats.org/drawingml/2006/main" id="7" idx="3"/>
          </p:cNvCxnSpPr>
          <p:nvPr/>
        </p:nvCxnSpPr>
        <p:spPr>
          <a:xfrm xmlns:a="http://schemas.openxmlformats.org/drawingml/2006/main" flipH="1">
            <a:off x="4810125" y="2571750"/>
            <a:ext cx="285750" cy="0"/>
          </a:xfrm>
          <a:prstGeom xmlns:a="http://schemas.openxmlformats.org/drawingml/2006/main" prst="straightConnector1">
            <a:avLst/>
          </a:prstGeom>
          <a:ln xmlns:a="http://schemas.openxmlformats.org/drawingml/2006/main" w="19050">
            <a:solidFill>
              <a:srgbClr val="BBD0C8"/>
            </a:solidFill>
            <a:prstDash val="solid"/>
            <a:headEnd type="arrow" w="sm" len="sm"/>
          </a:ln>
        </p:spPr>
      </p:cxnSp>
      <p:cxnSp>
        <p:nvCxnSpPr>
          <p:cNvPr id="49" name=""/>
          <p:cNvCxnSpPr>
            <a:stCxn xmlns:a="http://schemas.openxmlformats.org/drawingml/2006/main" id="13" idx="1"/>
            <a:endCxn xmlns:a="http://schemas.openxmlformats.org/drawingml/2006/main" id="10" idx="3"/>
          </p:cNvCxnSpPr>
          <p:nvPr/>
        </p:nvCxnSpPr>
        <p:spPr>
          <a:xfrm xmlns:a="http://schemas.openxmlformats.org/drawingml/2006/main" flipH="1">
            <a:off x="7143750" y="2571750"/>
            <a:ext cx="285750" cy="0"/>
          </a:xfrm>
          <a:prstGeom xmlns:a="http://schemas.openxmlformats.org/drawingml/2006/main" prst="straightConnector1">
            <a:avLst/>
          </a:prstGeom>
          <a:ln xmlns:a="http://schemas.openxmlformats.org/drawingml/2006/main" w="19050">
            <a:solidFill>
              <a:srgbClr val="BBD0C8"/>
            </a:solidFill>
            <a:prstDash val="solid"/>
            <a:headEnd type="arrow" w="sm" len="sm"/>
          </a:ln>
        </p:spPr>
      </p:cxnSp>
      <p:cxnSp>
        <p:nvCxnSpPr>
          <p:cNvPr id="50" name=""/>
          <p:cNvCxnSpPr>
            <a:stCxn xmlns:a="http://schemas.openxmlformats.org/drawingml/2006/main" id="16" idx="1"/>
            <a:endCxn xmlns:a="http://schemas.openxmlformats.org/drawingml/2006/main" id="13" idx="3"/>
          </p:cNvCxnSpPr>
          <p:nvPr/>
        </p:nvCxnSpPr>
        <p:spPr>
          <a:xfrm xmlns:a="http://schemas.openxmlformats.org/drawingml/2006/main" flipH="1">
            <a:off x="9477375" y="2571750"/>
            <a:ext cx="285750" cy="0"/>
          </a:xfrm>
          <a:prstGeom xmlns:a="http://schemas.openxmlformats.org/drawingml/2006/main" prst="straightConnector1">
            <a:avLst/>
          </a:prstGeom>
          <a:ln xmlns:a="http://schemas.openxmlformats.org/drawingml/2006/main" w="19050">
            <a:solidFill>
              <a:srgbClr val="BBD0C8"/>
            </a:solidFill>
            <a:prstDash val="solid"/>
            <a:headEnd type="arrow" w="sm" len="sm"/>
          </a:ln>
        </p:spPr>
      </p:cxnSp>
      <p:sp>
        <p:nvSpPr>
          <p:cNvPr id="23" name="">
            <a:extLst xmlns:a="http://schemas.openxmlformats.org/drawingml/2006/main">
              <a:ext uri="{FF2B5EF4-FFF2-40B4-BE49-F238E27FC236}">
                <a16:creationId xmlns:a16="http://schemas.microsoft.com/office/drawing/2014/main" id="{38557E89-5FF4-4CDD-A358-BE3FBE1007E3}"/>
              </a:ext>
            </a:extLst>
          </p:cNvPr>
          <p:cNvSpPr>
            <a:spLocks xmlns:a="http://schemas.openxmlformats.org/drawingml/2006/main" noGrp="1"/>
          </p:cNvSpPr>
          <p:nvPr/>
        </p:nvSpPr>
        <p:spPr>
          <a:xfrm xmlns:a="http://schemas.openxmlformats.org/drawingml/2006/main" flipH="0" flipV="0">
            <a:off x="6096000" y="3333750"/>
            <a:ext cx="0" cy="619125"/>
          </a:xfrm>
          <a:prstGeom xmlns:a="http://schemas.openxmlformats.org/drawingml/2006/main" prst="line">
            <a:avLst/>
          </a:prstGeom>
          <a:noFill xmlns:a="http://schemas.openxmlformats.org/drawingml/2006/main"/>
          <a:ln xmlns:a="http://schemas.openxmlformats.org/drawingml/2006/main" w="28575">
            <a:solidFill>
              <a:srgbClr val="397061"/>
            </a:solidFill>
            <a:prstDash val="solid"/>
          </a:ln>
        </p:spPr>
      </p:sp>
      <p:sp>
        <p:nvSpPr>
          <p:cNvPr id="24" name="">
            <a:extLst xmlns:a="http://schemas.openxmlformats.org/drawingml/2006/main">
              <a:ext uri="{FF2B5EF4-FFF2-40B4-BE49-F238E27FC236}">
                <a16:creationId xmlns:a16="http://schemas.microsoft.com/office/drawing/2014/main" id="{A413ECBE-A4FF-45F3-904E-0F4DE32F9A3B}"/>
              </a:ext>
            </a:extLst>
          </p:cNvPr>
          <p:cNvSpPr>
            <a:spLocks xmlns:a="http://schemas.openxmlformats.org/drawingml/2006/main" noGrp="1"/>
          </p:cNvSpPr>
          <p:nvPr/>
        </p:nvSpPr>
        <p:spPr>
          <a:xfrm xmlns:a="http://schemas.openxmlformats.org/drawingml/2006/main">
            <a:off x="5991225" y="3838575"/>
            <a:ext cx="209550" cy="20955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5FB364B-9CE8-4F0B-B1D6-4DB8BDFC8007}"/>
              </a:ext>
            </a:extLst>
          </p:cNvPr>
          <p:cNvSpPr>
            <a:spLocks xmlns:a="http://schemas.openxmlformats.org/drawingml/2006/main" noGrp="1"/>
          </p:cNvSpPr>
          <p:nvPr/>
        </p:nvSpPr>
        <p:spPr>
          <a:xfrm xmlns:a="http://schemas.openxmlformats.org/drawingml/2006/main">
            <a:off x="1619250" y="4191000"/>
            <a:ext cx="8953500" cy="1285875"/>
          </a:xfrm>
          <a:prstGeom xmlns:a="http://schemas.openxmlformats.org/drawingml/2006/main" prst="roundRect">
            <a:avLst>
              <a:gd name="adj" fmla="val 13333"/>
            </a:avLst>
          </a:prstGeom>
          <a:solidFill xmlns:a="http://schemas.openxmlformats.org/drawingml/2006/main">
            <a:srgbClr val="28524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5E67DE2-D97D-41FE-BB4F-4624BD64F928}"/>
              </a:ext>
            </a:extLst>
          </p:cNvPr>
          <p:cNvSpPr>
            <a:spLocks xmlns:a="http://schemas.openxmlformats.org/drawingml/2006/main" noGrp="1"/>
          </p:cNvSpPr>
          <p:nvPr/>
        </p:nvSpPr>
        <p:spPr>
          <a:xfrm xmlns:a="http://schemas.openxmlformats.org/drawingml/2006/main">
            <a:off x="200025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F6AE3E"/>
                </a:solidFill>
                <a:latin typeface="Inter"/>
                <a:ea typeface="Inter"/>
                <a:cs typeface="Inter"/>
              </a:defRPr>
            </a:pPr>
            <a:r>
              <a:rPr sz="1275" b="1">
                <a:solidFill>
                  <a:srgbClr val="F6AE3E"/>
                </a:solidFill>
                <a:latin typeface="Inter"/>
                <a:ea typeface="Inter"/>
                <a:cs typeface="Inter"/>
              </a:rPr>
              <a:t>EVENT FINGERPRINT</a:t>
            </a:r>
          </a:p>
        </p:txBody>
      </p:sp>
      <p:sp>
        <p:nvSpPr>
          <p:cNvPr id="27" name="">
            <a:extLst xmlns:a="http://schemas.openxmlformats.org/drawingml/2006/main">
              <a:ext uri="{FF2B5EF4-FFF2-40B4-BE49-F238E27FC236}">
                <a16:creationId xmlns:a16="http://schemas.microsoft.com/office/drawing/2014/main" id="{D707EC91-6446-4D9F-BCF6-C53D9092936B}"/>
              </a:ext>
            </a:extLst>
          </p:cNvPr>
          <p:cNvSpPr>
            <a:spLocks xmlns:a="http://schemas.openxmlformats.org/drawingml/2006/main" noGrp="1"/>
          </p:cNvSpPr>
          <p:nvPr/>
        </p:nvSpPr>
        <p:spPr>
          <a:xfrm xmlns:a="http://schemas.openxmlformats.org/drawingml/2006/main">
            <a:off x="2000250" y="485775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850"/>
          </a:bodyPr>
          <a:lstStyle xmlns:a="http://schemas.openxmlformats.org/drawingml/2006/main"/>
          <a:p xmlns:a="http://schemas.openxmlformats.org/drawingml/2006/main">
            <a:pPr algn="l">
              <a:defRPr sz="1875" b="1">
                <a:solidFill>
                  <a:srgbClr val="F7FBF8"/>
                </a:solidFill>
                <a:latin typeface="Inter"/>
                <a:ea typeface="Inter"/>
                <a:cs typeface="Inter"/>
              </a:defRPr>
            </a:pPr>
            <a:r>
              <a:rPr sz="1875" b="1">
                <a:solidFill>
                  <a:srgbClr val="F7FBF8"/>
                </a:solidFill>
                <a:latin typeface="Inter"/>
                <a:ea typeface="Inter"/>
                <a:cs typeface="Inter"/>
              </a:rPr>
              <a:t>Estimates + uncertainty + quality flags + comparison with physical and surrogate nulls</a:t>
            </a:r>
          </a:p>
        </p:txBody>
      </p:sp>
      <p:sp>
        <p:nvSpPr>
          <p:cNvPr id="28" name="">
            <a:extLst xmlns:a="http://schemas.openxmlformats.org/drawingml/2006/main">
              <a:ext uri="{FF2B5EF4-FFF2-40B4-BE49-F238E27FC236}">
                <a16:creationId xmlns:a16="http://schemas.microsoft.com/office/drawing/2014/main" id="{628F5B64-105F-4B6E-B188-394C82D6184E}"/>
              </a:ext>
            </a:extLst>
          </p:cNvPr>
          <p:cNvSpPr>
            <a:spLocks xmlns:a="http://schemas.openxmlformats.org/drawingml/2006/main" noGrp="1"/>
          </p:cNvSpPr>
          <p:nvPr/>
        </p:nvSpPr>
        <p:spPr>
          <a:xfrm xmlns:a="http://schemas.openxmlformats.org/drawingml/2006/main">
            <a:off x="2000250" y="5657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0">
                <a:solidFill>
                  <a:srgbClr val="BBD0C8"/>
                </a:solidFill>
                <a:latin typeface="Inter"/>
                <a:ea typeface="Inter"/>
                <a:cs typeface="Inter"/>
              </a:defRPr>
            </a:pPr>
            <a:r>
              <a:rPr sz="1275" b="0">
                <a:solidFill>
                  <a:srgbClr val="BBD0C8"/>
                </a:solidFill>
                <a:latin typeface="Inter"/>
                <a:ea typeface="Inter"/>
                <a:cs typeface="Inter"/>
              </a:rPr>
              <a:t>Keep the components separate until validation shows which ones add independent information.</a:t>
            </a:r>
          </a:p>
        </p:txBody>
      </p:sp>
    </p:spTree>
    <p:extLst>
      <p:ext uri="{BB962C8B-B14F-4D97-AF65-F5344CB8AC3E}">
        <p14:creationId xmlns:p14="http://schemas.microsoft.com/office/powerpoint/2010/main" val="1405582892"/>
      </p:ext>
    </p:extLst>
  </p:cSld>
</p:sld>
</file>

<file path=ppt/slides/slide15.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D7C1EF4-E0A0-4C4B-A07A-0F10A68690EB}"/>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EVIDENCE LADDER</a:t>
            </a:r>
          </a:p>
        </p:txBody>
      </p:sp>
      <p:sp>
        <p:nvSpPr>
          <p:cNvPr id="2" name="">
            <a:extLst xmlns:a="http://schemas.openxmlformats.org/drawingml/2006/main">
              <a:ext uri="{FF2B5EF4-FFF2-40B4-BE49-F238E27FC236}">
                <a16:creationId xmlns:a16="http://schemas.microsoft.com/office/drawing/2014/main" id="{4B350059-EDB7-4F80-8345-5F00D7CEF54B}"/>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Claims advance only after four validation gates</a:t>
            </a:r>
          </a:p>
        </p:txBody>
      </p:sp>
      <p:sp>
        <p:nvSpPr>
          <p:cNvPr id="3" name="">
            <a:extLst xmlns:a="http://schemas.openxmlformats.org/drawingml/2006/main">
              <a:ext uri="{FF2B5EF4-FFF2-40B4-BE49-F238E27FC236}">
                <a16:creationId xmlns:a16="http://schemas.microsoft.com/office/drawing/2014/main" id="{07E59FFA-A6EF-4A5A-AC16-9CA00C9FA940}"/>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15</a:t>
            </a:r>
          </a:p>
        </p:txBody>
      </p:sp>
      <p:sp>
        <p:nvSpPr>
          <p:cNvPr id="4" name="">
            <a:extLst xmlns:a="http://schemas.openxmlformats.org/drawingml/2006/main">
              <a:ext uri="{FF2B5EF4-FFF2-40B4-BE49-F238E27FC236}">
                <a16:creationId xmlns:a16="http://schemas.microsoft.com/office/drawing/2014/main" id="{C07B796E-39D6-4ECE-8DFF-234AE58F738B}"/>
              </a:ext>
            </a:extLst>
          </p:cNvPr>
          <p:cNvSpPr>
            <a:spLocks xmlns:a="http://schemas.openxmlformats.org/drawingml/2006/main" noGrp="1"/>
          </p:cNvSpPr>
          <p:nvPr/>
        </p:nvSpPr>
        <p:spPr>
          <a:xfrm xmlns:a="http://schemas.openxmlformats.org/drawingml/2006/main">
            <a:off x="400050" y="135255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B7F23A"/>
                </a:solidFill>
                <a:latin typeface="Inter"/>
                <a:ea typeface="Inter"/>
                <a:cs typeface="Inter"/>
              </a:defRPr>
            </a:pPr>
            <a:r>
              <a:rPr sz="1125" b="1">
                <a:solidFill>
                  <a:srgbClr val="B7F23A"/>
                </a:solidFill>
                <a:latin typeface="Inter"/>
                <a:ea typeface="Inter"/>
                <a:cs typeface="Inter"/>
              </a:rPr>
              <a:t>CLAIM</a:t>
            </a:r>
          </a:p>
        </p:txBody>
      </p:sp>
      <p:sp>
        <p:nvSpPr>
          <p:cNvPr id="5" name="">
            <a:extLst xmlns:a="http://schemas.openxmlformats.org/drawingml/2006/main">
              <a:ext uri="{FF2B5EF4-FFF2-40B4-BE49-F238E27FC236}">
                <a16:creationId xmlns:a16="http://schemas.microsoft.com/office/drawing/2014/main" id="{C2E6456B-55C2-4993-AA4F-6181A6297BBD}"/>
              </a:ext>
            </a:extLst>
          </p:cNvPr>
          <p:cNvSpPr>
            <a:spLocks xmlns:a="http://schemas.openxmlformats.org/drawingml/2006/main" noGrp="1"/>
          </p:cNvSpPr>
          <p:nvPr/>
        </p:nvSpPr>
        <p:spPr>
          <a:xfrm xmlns:a="http://schemas.openxmlformats.org/drawingml/2006/main">
            <a:off x="2400300" y="13525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B7F23A"/>
                </a:solidFill>
                <a:latin typeface="Inter"/>
                <a:ea typeface="Inter"/>
                <a:cs typeface="Inter"/>
              </a:defRPr>
            </a:pPr>
            <a:r>
              <a:rPr sz="1125" b="1">
                <a:solidFill>
                  <a:srgbClr val="B7F23A"/>
                </a:solidFill>
                <a:latin typeface="Inter"/>
                <a:ea typeface="Inter"/>
                <a:cs typeface="Inter"/>
              </a:rPr>
              <a:t>PHYSICAL BASELINE</a:t>
            </a:r>
          </a:p>
        </p:txBody>
      </p:sp>
      <p:sp>
        <p:nvSpPr>
          <p:cNvPr id="6" name="">
            <a:extLst xmlns:a="http://schemas.openxmlformats.org/drawingml/2006/main">
              <a:ext uri="{FF2B5EF4-FFF2-40B4-BE49-F238E27FC236}">
                <a16:creationId xmlns:a16="http://schemas.microsoft.com/office/drawing/2014/main" id="{1C6EC087-F3BC-445F-A020-3350015E9F36}"/>
              </a:ext>
            </a:extLst>
          </p:cNvPr>
          <p:cNvSpPr>
            <a:spLocks xmlns:a="http://schemas.openxmlformats.org/drawingml/2006/main" noGrp="1"/>
          </p:cNvSpPr>
          <p:nvPr/>
        </p:nvSpPr>
        <p:spPr>
          <a:xfrm xmlns:a="http://schemas.openxmlformats.org/drawingml/2006/main">
            <a:off x="4667250" y="13525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B7F23A"/>
                </a:solidFill>
                <a:latin typeface="Inter"/>
                <a:ea typeface="Inter"/>
                <a:cs typeface="Inter"/>
              </a:defRPr>
            </a:pPr>
            <a:r>
              <a:rPr sz="1125" b="1">
                <a:solidFill>
                  <a:srgbClr val="B7F23A"/>
                </a:solidFill>
                <a:latin typeface="Inter"/>
                <a:ea typeface="Inter"/>
                <a:cs typeface="Inter"/>
              </a:rPr>
              <a:t>NULL TEST</a:t>
            </a:r>
          </a:p>
        </p:txBody>
      </p:sp>
      <p:sp>
        <p:nvSpPr>
          <p:cNvPr id="7" name="">
            <a:extLst xmlns:a="http://schemas.openxmlformats.org/drawingml/2006/main">
              <a:ext uri="{FF2B5EF4-FFF2-40B4-BE49-F238E27FC236}">
                <a16:creationId xmlns:a16="http://schemas.microsoft.com/office/drawing/2014/main" id="{B39AC964-9724-4D84-9E69-940C057EFC4A}"/>
              </a:ext>
            </a:extLst>
          </p:cNvPr>
          <p:cNvSpPr>
            <a:spLocks xmlns:a="http://schemas.openxmlformats.org/drawingml/2006/main" noGrp="1"/>
          </p:cNvSpPr>
          <p:nvPr/>
        </p:nvSpPr>
        <p:spPr>
          <a:xfrm xmlns:a="http://schemas.openxmlformats.org/drawingml/2006/main">
            <a:off x="6934200" y="13525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B7F23A"/>
                </a:solidFill>
                <a:latin typeface="Inter"/>
                <a:ea typeface="Inter"/>
                <a:cs typeface="Inter"/>
              </a:defRPr>
            </a:pPr>
            <a:r>
              <a:rPr sz="1125" b="1">
                <a:solidFill>
                  <a:srgbClr val="B7F23A"/>
                </a:solidFill>
                <a:latin typeface="Inter"/>
                <a:ea typeface="Inter"/>
                <a:cs typeface="Inter"/>
              </a:rPr>
              <a:t>INDEPENDENT CHECK</a:t>
            </a:r>
          </a:p>
        </p:txBody>
      </p:sp>
      <p:sp>
        <p:nvSpPr>
          <p:cNvPr id="8" name="">
            <a:extLst xmlns:a="http://schemas.openxmlformats.org/drawingml/2006/main">
              <a:ext uri="{FF2B5EF4-FFF2-40B4-BE49-F238E27FC236}">
                <a16:creationId xmlns:a16="http://schemas.microsoft.com/office/drawing/2014/main" id="{A21E9617-A199-41B9-A0DE-719DAB1C5DE7}"/>
              </a:ext>
            </a:extLst>
          </p:cNvPr>
          <p:cNvSpPr>
            <a:spLocks xmlns:a="http://schemas.openxmlformats.org/drawingml/2006/main" noGrp="1"/>
          </p:cNvSpPr>
          <p:nvPr/>
        </p:nvSpPr>
        <p:spPr>
          <a:xfrm xmlns:a="http://schemas.openxmlformats.org/drawingml/2006/main">
            <a:off x="9201150" y="13525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B7F23A"/>
                </a:solidFill>
                <a:latin typeface="Inter"/>
                <a:ea typeface="Inter"/>
                <a:cs typeface="Inter"/>
              </a:defRPr>
            </a:pPr>
            <a:r>
              <a:rPr sz="1125" b="1">
                <a:solidFill>
                  <a:srgbClr val="B7F23A"/>
                </a:solidFill>
                <a:latin typeface="Inter"/>
                <a:ea typeface="Inter"/>
                <a:cs typeface="Inter"/>
              </a:rPr>
              <a:t>PASS RULE</a:t>
            </a:r>
          </a:p>
        </p:txBody>
      </p:sp>
      <p:sp>
        <p:nvSpPr>
          <p:cNvPr id="9" name="">
            <a:extLst xmlns:a="http://schemas.openxmlformats.org/drawingml/2006/main">
              <a:ext uri="{FF2B5EF4-FFF2-40B4-BE49-F238E27FC236}">
                <a16:creationId xmlns:a16="http://schemas.microsoft.com/office/drawing/2014/main" id="{ECF13B51-F858-4ECA-B1FB-9DCF74050C50}"/>
              </a:ext>
            </a:extLst>
          </p:cNvPr>
          <p:cNvSpPr>
            <a:spLocks xmlns:a="http://schemas.openxmlformats.org/drawingml/2006/main" noGrp="1"/>
          </p:cNvSpPr>
          <p:nvPr/>
        </p:nvSpPr>
        <p:spPr>
          <a:xfrm xmlns:a="http://schemas.openxmlformats.org/drawingml/2006/main">
            <a:off x="476250" y="18097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B7F23A"/>
                </a:solidFill>
                <a:latin typeface="Inter"/>
                <a:ea typeface="Inter"/>
                <a:cs typeface="Inter"/>
              </a:defRPr>
            </a:pPr>
            <a:r>
              <a:rPr sz="1275" b="1">
                <a:solidFill>
                  <a:srgbClr val="B7F23A"/>
                </a:solidFill>
                <a:latin typeface="Inter"/>
                <a:ea typeface="Inter"/>
                <a:cs typeface="Inter"/>
              </a:rPr>
              <a:t>TRANSPORT</a:t>
            </a:r>
          </a:p>
        </p:txBody>
      </p:sp>
      <p:sp>
        <p:nvSpPr>
          <p:cNvPr id="10" name="">
            <a:extLst xmlns:a="http://schemas.openxmlformats.org/drawingml/2006/main">
              <a:ext uri="{FF2B5EF4-FFF2-40B4-BE49-F238E27FC236}">
                <a16:creationId xmlns:a16="http://schemas.microsoft.com/office/drawing/2014/main" id="{2A5708BB-BEE2-437E-B149-A2EF41837C06}"/>
              </a:ext>
            </a:extLst>
          </p:cNvPr>
          <p:cNvSpPr>
            <a:spLocks xmlns:a="http://schemas.openxmlformats.org/drawingml/2006/main" noGrp="1"/>
          </p:cNvSpPr>
          <p:nvPr/>
        </p:nvSpPr>
        <p:spPr>
          <a:xfrm xmlns:a="http://schemas.openxmlformats.org/drawingml/2006/main">
            <a:off x="2476500" y="18097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Fit diffusion–reaction</a:t>
            </a:r>
          </a:p>
        </p:txBody>
      </p:sp>
      <p:sp>
        <p:nvSpPr>
          <p:cNvPr id="11" name="">
            <a:extLst xmlns:a="http://schemas.openxmlformats.org/drawingml/2006/main">
              <a:ext uri="{FF2B5EF4-FFF2-40B4-BE49-F238E27FC236}">
                <a16:creationId xmlns:a16="http://schemas.microsoft.com/office/drawing/2014/main" id="{10DDDF76-E784-44E3-ACB9-B136452CC23F}"/>
              </a:ext>
            </a:extLst>
          </p:cNvPr>
          <p:cNvSpPr>
            <a:spLocks xmlns:a="http://schemas.openxmlformats.org/drawingml/2006/main" noGrp="1"/>
          </p:cNvSpPr>
          <p:nvPr/>
        </p:nvSpPr>
        <p:spPr>
          <a:xfrm xmlns:a="http://schemas.openxmlformats.org/drawingml/2006/main">
            <a:off x="4743450" y="18097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Recover synthetic lag</a:t>
            </a:r>
          </a:p>
        </p:txBody>
      </p:sp>
      <p:sp>
        <p:nvSpPr>
          <p:cNvPr id="12" name="">
            <a:extLst xmlns:a="http://schemas.openxmlformats.org/drawingml/2006/main">
              <a:ext uri="{FF2B5EF4-FFF2-40B4-BE49-F238E27FC236}">
                <a16:creationId xmlns:a16="http://schemas.microsoft.com/office/drawing/2014/main" id="{1153C618-8012-4EEA-89E0-3EBA7FE41D55}"/>
              </a:ext>
            </a:extLst>
          </p:cNvPr>
          <p:cNvSpPr>
            <a:spLocks xmlns:a="http://schemas.openxmlformats.org/drawingml/2006/main" noGrp="1"/>
          </p:cNvSpPr>
          <p:nvPr/>
        </p:nvSpPr>
        <p:spPr>
          <a:xfrm xmlns:a="http://schemas.openxmlformats.org/drawingml/2006/main">
            <a:off x="7010400" y="18097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Check moisture and pressure</a:t>
            </a:r>
          </a:p>
        </p:txBody>
      </p:sp>
      <p:sp>
        <p:nvSpPr>
          <p:cNvPr id="13" name="">
            <a:extLst xmlns:a="http://schemas.openxmlformats.org/drawingml/2006/main">
              <a:ext uri="{FF2B5EF4-FFF2-40B4-BE49-F238E27FC236}">
                <a16:creationId xmlns:a16="http://schemas.microsoft.com/office/drawing/2014/main" id="{D6C5FE87-E162-43FD-B491-10007CAADC45}"/>
              </a:ext>
            </a:extLst>
          </p:cNvPr>
          <p:cNvSpPr>
            <a:spLocks xmlns:a="http://schemas.openxmlformats.org/drawingml/2006/main" noGrp="1"/>
          </p:cNvSpPr>
          <p:nvPr/>
        </p:nvSpPr>
        <p:spPr>
          <a:xfrm xmlns:a="http://schemas.openxmlformats.org/drawingml/2006/main">
            <a:off x="9277350" y="1809750"/>
            <a:ext cx="2419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Reproducible Dₑff</a:t>
            </a:r>
          </a:p>
        </p:txBody>
      </p:sp>
      <p:sp>
        <p:nvSpPr>
          <p:cNvPr id="14" name="">
            <a:extLst xmlns:a="http://schemas.openxmlformats.org/drawingml/2006/main">
              <a:ext uri="{FF2B5EF4-FFF2-40B4-BE49-F238E27FC236}">
                <a16:creationId xmlns:a16="http://schemas.microsoft.com/office/drawing/2014/main" id="{F9989370-8D7D-44E1-82D3-AAFB824B5917}"/>
              </a:ext>
            </a:extLst>
          </p:cNvPr>
          <p:cNvSpPr>
            <a:spLocks xmlns:a="http://schemas.openxmlformats.org/drawingml/2006/main" noGrp="1"/>
          </p:cNvSpPr>
          <p:nvPr/>
        </p:nvSpPr>
        <p:spPr>
          <a:xfrm xmlns:a="http://schemas.openxmlformats.org/drawingml/2006/main" flipH="0" flipV="0">
            <a:off x="428625" y="2571750"/>
            <a:ext cx="11239500" cy="0"/>
          </a:xfrm>
          <a:prstGeom xmlns:a="http://schemas.openxmlformats.org/drawingml/2006/main" prst="line">
            <a:avLst/>
          </a:prstGeom>
          <a:noFill xmlns:a="http://schemas.openxmlformats.org/drawingml/2006/main"/>
          <a:ln xmlns:a="http://schemas.openxmlformats.org/drawingml/2006/main" w="9525">
            <a:solidFill>
              <a:srgbClr val="397061"/>
            </a:solidFill>
            <a:prstDash val="solid"/>
          </a:ln>
        </p:spPr>
      </p:sp>
      <p:sp>
        <p:nvSpPr>
          <p:cNvPr id="15" name="">
            <a:extLst xmlns:a="http://schemas.openxmlformats.org/drawingml/2006/main">
              <a:ext uri="{FF2B5EF4-FFF2-40B4-BE49-F238E27FC236}">
                <a16:creationId xmlns:a16="http://schemas.microsoft.com/office/drawing/2014/main" id="{76695E7D-D4CB-4DB5-B893-1CF4A2E237C0}"/>
              </a:ext>
            </a:extLst>
          </p:cNvPr>
          <p:cNvSpPr>
            <a:spLocks xmlns:a="http://schemas.openxmlformats.org/drawingml/2006/main" noGrp="1"/>
          </p:cNvSpPr>
          <p:nvPr/>
        </p:nvSpPr>
        <p:spPr>
          <a:xfrm xmlns:a="http://schemas.openxmlformats.org/drawingml/2006/main">
            <a:off x="476250" y="278130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B7F23A"/>
                </a:solidFill>
                <a:latin typeface="Inter"/>
                <a:ea typeface="Inter"/>
                <a:cs typeface="Inter"/>
              </a:defRPr>
            </a:pPr>
            <a:r>
              <a:rPr sz="1275" b="1">
                <a:solidFill>
                  <a:srgbClr val="B7F23A"/>
                </a:solidFill>
                <a:latin typeface="Inter"/>
                <a:ea typeface="Inter"/>
                <a:cs typeface="Inter"/>
              </a:rPr>
              <a:t>PHASE NETWORK</a:t>
            </a:r>
          </a:p>
        </p:txBody>
      </p:sp>
      <p:sp>
        <p:nvSpPr>
          <p:cNvPr id="16" name="">
            <a:extLst xmlns:a="http://schemas.openxmlformats.org/drawingml/2006/main">
              <a:ext uri="{FF2B5EF4-FFF2-40B4-BE49-F238E27FC236}">
                <a16:creationId xmlns:a16="http://schemas.microsoft.com/office/drawing/2014/main" id="{976C45BE-8B15-42F3-AF96-FDBB68EBF677}"/>
              </a:ext>
            </a:extLst>
          </p:cNvPr>
          <p:cNvSpPr>
            <a:spLocks xmlns:a="http://schemas.openxmlformats.org/drawingml/2006/main" noGrp="1"/>
          </p:cNvSpPr>
          <p:nvPr/>
        </p:nvSpPr>
        <p:spPr>
          <a:xfrm xmlns:a="http://schemas.openxmlformats.org/drawingml/2006/main">
            <a:off x="2476500" y="278130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Test pairwise depth order</a:t>
            </a:r>
          </a:p>
        </p:txBody>
      </p:sp>
      <p:sp>
        <p:nvSpPr>
          <p:cNvPr id="17" name="">
            <a:extLst xmlns:a="http://schemas.openxmlformats.org/drawingml/2006/main">
              <a:ext uri="{FF2B5EF4-FFF2-40B4-BE49-F238E27FC236}">
                <a16:creationId xmlns:a16="http://schemas.microsoft.com/office/drawing/2014/main" id="{466CC5B3-622A-4F3E-BE6C-E4E2F6C32225}"/>
              </a:ext>
            </a:extLst>
          </p:cNvPr>
          <p:cNvSpPr>
            <a:spLocks xmlns:a="http://schemas.openxmlformats.org/drawingml/2006/main" noGrp="1"/>
          </p:cNvSpPr>
          <p:nvPr/>
        </p:nvSpPr>
        <p:spPr>
          <a:xfrm xmlns:a="http://schemas.openxmlformats.org/drawingml/2006/main">
            <a:off x="4743450" y="278130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Randomize cross-signal phase</a:t>
            </a:r>
          </a:p>
        </p:txBody>
      </p:sp>
      <p:sp>
        <p:nvSpPr>
          <p:cNvPr id="18" name="">
            <a:extLst xmlns:a="http://schemas.openxmlformats.org/drawingml/2006/main">
              <a:ext uri="{FF2B5EF4-FFF2-40B4-BE49-F238E27FC236}">
                <a16:creationId xmlns:a16="http://schemas.microsoft.com/office/drawing/2014/main" id="{7DBD3951-9F11-4D37-A5A4-6609DDF06526}"/>
              </a:ext>
            </a:extLst>
          </p:cNvPr>
          <p:cNvSpPr>
            <a:spLocks xmlns:a="http://schemas.openxmlformats.org/drawingml/2006/main" noGrp="1"/>
          </p:cNvSpPr>
          <p:nvPr/>
        </p:nvSpPr>
        <p:spPr>
          <a:xfrm xmlns:a="http://schemas.openxmlformats.org/drawingml/2006/main">
            <a:off x="7010400" y="278130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Check sensor geometry</a:t>
            </a:r>
          </a:p>
        </p:txBody>
      </p:sp>
      <p:sp>
        <p:nvSpPr>
          <p:cNvPr id="19" name="">
            <a:extLst xmlns:a="http://schemas.openxmlformats.org/drawingml/2006/main">
              <a:ext uri="{FF2B5EF4-FFF2-40B4-BE49-F238E27FC236}">
                <a16:creationId xmlns:a16="http://schemas.microsoft.com/office/drawing/2014/main" id="{5F146AF2-40C9-4C9A-A63D-FFE47F08D3FC}"/>
              </a:ext>
            </a:extLst>
          </p:cNvPr>
          <p:cNvSpPr>
            <a:spLocks xmlns:a="http://schemas.openxmlformats.org/drawingml/2006/main" noGrp="1"/>
          </p:cNvSpPr>
          <p:nvPr/>
        </p:nvSpPr>
        <p:spPr>
          <a:xfrm xmlns:a="http://schemas.openxmlformats.org/drawingml/2006/main">
            <a:off x="9277350" y="2781300"/>
            <a:ext cx="2419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Edges repeat by event</a:t>
            </a:r>
          </a:p>
        </p:txBody>
      </p:sp>
      <p:sp>
        <p:nvSpPr>
          <p:cNvPr id="20" name="">
            <a:extLst xmlns:a="http://schemas.openxmlformats.org/drawingml/2006/main">
              <a:ext uri="{FF2B5EF4-FFF2-40B4-BE49-F238E27FC236}">
                <a16:creationId xmlns:a16="http://schemas.microsoft.com/office/drawing/2014/main" id="{19C8A4F9-BBC8-44D6-B81B-2A1EC5AD8C00}"/>
              </a:ext>
            </a:extLst>
          </p:cNvPr>
          <p:cNvSpPr>
            <a:spLocks xmlns:a="http://schemas.openxmlformats.org/drawingml/2006/main" noGrp="1"/>
          </p:cNvSpPr>
          <p:nvPr/>
        </p:nvSpPr>
        <p:spPr>
          <a:xfrm xmlns:a="http://schemas.openxmlformats.org/drawingml/2006/main" flipH="0" flipV="0">
            <a:off x="428625" y="3543300"/>
            <a:ext cx="11239500" cy="0"/>
          </a:xfrm>
          <a:prstGeom xmlns:a="http://schemas.openxmlformats.org/drawingml/2006/main" prst="line">
            <a:avLst/>
          </a:prstGeom>
          <a:noFill xmlns:a="http://schemas.openxmlformats.org/drawingml/2006/main"/>
          <a:ln xmlns:a="http://schemas.openxmlformats.org/drawingml/2006/main" w="9525">
            <a:solidFill>
              <a:srgbClr val="397061"/>
            </a:solidFill>
            <a:prstDash val="solid"/>
          </a:ln>
        </p:spPr>
      </p:sp>
      <p:sp>
        <p:nvSpPr>
          <p:cNvPr id="21" name="">
            <a:extLst xmlns:a="http://schemas.openxmlformats.org/drawingml/2006/main">
              <a:ext uri="{FF2B5EF4-FFF2-40B4-BE49-F238E27FC236}">
                <a16:creationId xmlns:a16="http://schemas.microsoft.com/office/drawing/2014/main" id="{759048A9-6679-480C-ABD5-CBB840F5F716}"/>
              </a:ext>
            </a:extLst>
          </p:cNvPr>
          <p:cNvSpPr>
            <a:spLocks xmlns:a="http://schemas.openxmlformats.org/drawingml/2006/main" noGrp="1"/>
          </p:cNvSpPr>
          <p:nvPr/>
        </p:nvSpPr>
        <p:spPr>
          <a:xfrm xmlns:a="http://schemas.openxmlformats.org/drawingml/2006/main">
            <a:off x="476250" y="37528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B7F23A"/>
                </a:solidFill>
                <a:latin typeface="Inter"/>
                <a:ea typeface="Inter"/>
                <a:cs typeface="Inter"/>
              </a:defRPr>
            </a:pPr>
            <a:r>
              <a:rPr sz="1275" b="1">
                <a:solidFill>
                  <a:srgbClr val="B7F23A"/>
                </a:solidFill>
                <a:latin typeface="Inter"/>
                <a:ea typeface="Inter"/>
                <a:cs typeface="Inter"/>
              </a:rPr>
              <a:t>TOPOLOGY</a:t>
            </a:r>
          </a:p>
        </p:txBody>
      </p:sp>
      <p:sp>
        <p:nvSpPr>
          <p:cNvPr id="22" name="">
            <a:extLst xmlns:a="http://schemas.openxmlformats.org/drawingml/2006/main">
              <a:ext uri="{FF2B5EF4-FFF2-40B4-BE49-F238E27FC236}">
                <a16:creationId xmlns:a16="http://schemas.microsoft.com/office/drawing/2014/main" id="{9745D271-02DD-46A3-83C1-C50F330B8EA2}"/>
              </a:ext>
            </a:extLst>
          </p:cNvPr>
          <p:cNvSpPr>
            <a:spLocks xmlns:a="http://schemas.openxmlformats.org/drawingml/2006/main" noGrp="1"/>
          </p:cNvSpPr>
          <p:nvPr/>
        </p:nvSpPr>
        <p:spPr>
          <a:xfrm xmlns:a="http://schemas.openxmlformats.org/drawingml/2006/main">
            <a:off x="2476500" y="37528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Compare field statistics</a:t>
            </a:r>
          </a:p>
        </p:txBody>
      </p:sp>
      <p:sp>
        <p:nvSpPr>
          <p:cNvPr id="23" name="">
            <a:extLst xmlns:a="http://schemas.openxmlformats.org/drawingml/2006/main">
              <a:ext uri="{FF2B5EF4-FFF2-40B4-BE49-F238E27FC236}">
                <a16:creationId xmlns:a16="http://schemas.microsoft.com/office/drawing/2014/main" id="{9EB7D4A6-F9F6-4E31-A9DA-BBE817630C98}"/>
              </a:ext>
            </a:extLst>
          </p:cNvPr>
          <p:cNvSpPr>
            <a:spLocks xmlns:a="http://schemas.openxmlformats.org/drawingml/2006/main" noGrp="1"/>
          </p:cNvSpPr>
          <p:nvPr/>
        </p:nvSpPr>
        <p:spPr>
          <a:xfrm xmlns:a="http://schemas.openxmlformats.org/drawingml/2006/main">
            <a:off x="4743450" y="37528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Permute feature locations</a:t>
            </a:r>
          </a:p>
        </p:txBody>
      </p:sp>
      <p:sp>
        <p:nvSpPr>
          <p:cNvPr id="24" name="">
            <a:extLst xmlns:a="http://schemas.openxmlformats.org/drawingml/2006/main">
              <a:ext uri="{FF2B5EF4-FFF2-40B4-BE49-F238E27FC236}">
                <a16:creationId xmlns:a16="http://schemas.microsoft.com/office/drawing/2014/main" id="{C22AFC17-B865-4328-AFFF-145FADD74EB8}"/>
              </a:ext>
            </a:extLst>
          </p:cNvPr>
          <p:cNvSpPr>
            <a:spLocks xmlns:a="http://schemas.openxmlformats.org/drawingml/2006/main" noGrp="1"/>
          </p:cNvSpPr>
          <p:nvPr/>
        </p:nvSpPr>
        <p:spPr>
          <a:xfrm xmlns:a="http://schemas.openxmlformats.org/drawingml/2006/main">
            <a:off x="7010400" y="37528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Compare ERT and chemistry</a:t>
            </a:r>
          </a:p>
        </p:txBody>
      </p:sp>
      <p:sp>
        <p:nvSpPr>
          <p:cNvPr id="25" name="">
            <a:extLst xmlns:a="http://schemas.openxmlformats.org/drawingml/2006/main">
              <a:ext uri="{FF2B5EF4-FFF2-40B4-BE49-F238E27FC236}">
                <a16:creationId xmlns:a16="http://schemas.microsoft.com/office/drawing/2014/main" id="{7BAFD4EC-3DB7-415B-9AE5-610D831947FD}"/>
              </a:ext>
            </a:extLst>
          </p:cNvPr>
          <p:cNvSpPr>
            <a:spLocks xmlns:a="http://schemas.openxmlformats.org/drawingml/2006/main" noGrp="1"/>
          </p:cNvSpPr>
          <p:nvPr/>
        </p:nvSpPr>
        <p:spPr>
          <a:xfrm xmlns:a="http://schemas.openxmlformats.org/drawingml/2006/main">
            <a:off x="9277350" y="3752850"/>
            <a:ext cx="2419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Stable to interpolation</a:t>
            </a:r>
          </a:p>
        </p:txBody>
      </p:sp>
      <p:sp>
        <p:nvSpPr>
          <p:cNvPr id="26" name="">
            <a:extLst xmlns:a="http://schemas.openxmlformats.org/drawingml/2006/main">
              <a:ext uri="{FF2B5EF4-FFF2-40B4-BE49-F238E27FC236}">
                <a16:creationId xmlns:a16="http://schemas.microsoft.com/office/drawing/2014/main" id="{91821473-2013-4598-980F-26437D166524}"/>
              </a:ext>
            </a:extLst>
          </p:cNvPr>
          <p:cNvSpPr>
            <a:spLocks xmlns:a="http://schemas.openxmlformats.org/drawingml/2006/main" noGrp="1"/>
          </p:cNvSpPr>
          <p:nvPr/>
        </p:nvSpPr>
        <p:spPr>
          <a:xfrm xmlns:a="http://schemas.openxmlformats.org/drawingml/2006/main" flipH="0" flipV="0">
            <a:off x="428625" y="4514850"/>
            <a:ext cx="11239500" cy="0"/>
          </a:xfrm>
          <a:prstGeom xmlns:a="http://schemas.openxmlformats.org/drawingml/2006/main" prst="line">
            <a:avLst/>
          </a:prstGeom>
          <a:noFill xmlns:a="http://schemas.openxmlformats.org/drawingml/2006/main"/>
          <a:ln xmlns:a="http://schemas.openxmlformats.org/drawingml/2006/main" w="9525">
            <a:solidFill>
              <a:srgbClr val="397061"/>
            </a:solidFill>
            <a:prstDash val="solid"/>
          </a:ln>
        </p:spPr>
      </p:sp>
      <p:sp>
        <p:nvSpPr>
          <p:cNvPr id="27" name="">
            <a:extLst xmlns:a="http://schemas.openxmlformats.org/drawingml/2006/main">
              <a:ext uri="{FF2B5EF4-FFF2-40B4-BE49-F238E27FC236}">
                <a16:creationId xmlns:a16="http://schemas.microsoft.com/office/drawing/2014/main" id="{D430C361-002E-4200-A9B5-EE8348B93BD6}"/>
              </a:ext>
            </a:extLst>
          </p:cNvPr>
          <p:cNvSpPr>
            <a:spLocks xmlns:a="http://schemas.openxmlformats.org/drawingml/2006/main" noGrp="1"/>
          </p:cNvSpPr>
          <p:nvPr/>
        </p:nvSpPr>
        <p:spPr>
          <a:xfrm xmlns:a="http://schemas.openxmlformats.org/drawingml/2006/main">
            <a:off x="333375" y="4648200"/>
            <a:ext cx="11477625" cy="857250"/>
          </a:xfrm>
          <a:prstGeom xmlns:a="http://schemas.openxmlformats.org/drawingml/2006/main" prst="roundRect">
            <a:avLst>
              <a:gd name="adj" fmla="val 11111"/>
            </a:avLst>
          </a:prstGeom>
          <a:solidFill xmlns:a="http://schemas.openxmlformats.org/drawingml/2006/main">
            <a:srgbClr val="0E49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4E5190F-256F-48EF-B4C4-12FA7B1CEEBB}"/>
              </a:ext>
            </a:extLst>
          </p:cNvPr>
          <p:cNvSpPr>
            <a:spLocks xmlns:a="http://schemas.openxmlformats.org/drawingml/2006/main" noGrp="1"/>
          </p:cNvSpPr>
          <p:nvPr/>
        </p:nvSpPr>
        <p:spPr>
          <a:xfrm xmlns:a="http://schemas.openxmlformats.org/drawingml/2006/main">
            <a:off x="476250" y="472440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F6AE3E"/>
                </a:solidFill>
                <a:latin typeface="Inter"/>
                <a:ea typeface="Inter"/>
                <a:cs typeface="Inter"/>
              </a:defRPr>
            </a:pPr>
            <a:r>
              <a:rPr sz="1275" b="1">
                <a:solidFill>
                  <a:srgbClr val="F6AE3E"/>
                </a:solidFill>
                <a:latin typeface="Inter"/>
                <a:ea typeface="Inter"/>
                <a:cs typeface="Inter"/>
              </a:rPr>
              <a:t>SOIL DEVELOPMENT</a:t>
            </a:r>
          </a:p>
        </p:txBody>
      </p:sp>
      <p:sp>
        <p:nvSpPr>
          <p:cNvPr id="29" name="">
            <a:extLst xmlns:a="http://schemas.openxmlformats.org/drawingml/2006/main">
              <a:ext uri="{FF2B5EF4-FFF2-40B4-BE49-F238E27FC236}">
                <a16:creationId xmlns:a16="http://schemas.microsoft.com/office/drawing/2014/main" id="{CE9225F3-6F59-42B5-919C-692BC08CCB05}"/>
              </a:ext>
            </a:extLst>
          </p:cNvPr>
          <p:cNvSpPr>
            <a:spLocks xmlns:a="http://schemas.openxmlformats.org/drawingml/2006/main" noGrp="1"/>
          </p:cNvSpPr>
          <p:nvPr/>
        </p:nvSpPr>
        <p:spPr>
          <a:xfrm xmlns:a="http://schemas.openxmlformats.org/drawingml/2006/main">
            <a:off x="2476500" y="472440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Match dry states</a:t>
            </a:r>
          </a:p>
        </p:txBody>
      </p:sp>
      <p:sp>
        <p:nvSpPr>
          <p:cNvPr id="30" name="">
            <a:extLst xmlns:a="http://schemas.openxmlformats.org/drawingml/2006/main">
              <a:ext uri="{FF2B5EF4-FFF2-40B4-BE49-F238E27FC236}">
                <a16:creationId xmlns:a16="http://schemas.microsoft.com/office/drawing/2014/main" id="{21AFE707-91DE-4B04-A356-7914BB254845}"/>
              </a:ext>
            </a:extLst>
          </p:cNvPr>
          <p:cNvSpPr>
            <a:spLocks xmlns:a="http://schemas.openxmlformats.org/drawingml/2006/main" noGrp="1"/>
          </p:cNvSpPr>
          <p:nvPr/>
        </p:nvSpPr>
        <p:spPr>
          <a:xfrm xmlns:a="http://schemas.openxmlformats.org/drawingml/2006/main">
            <a:off x="4743450" y="472440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Control drift and recovery</a:t>
            </a:r>
          </a:p>
        </p:txBody>
      </p:sp>
      <p:sp>
        <p:nvSpPr>
          <p:cNvPr id="31" name="">
            <a:extLst xmlns:a="http://schemas.openxmlformats.org/drawingml/2006/main">
              <a:ext uri="{FF2B5EF4-FFF2-40B4-BE49-F238E27FC236}">
                <a16:creationId xmlns:a16="http://schemas.microsoft.com/office/drawing/2014/main" id="{167B6A36-3090-41F2-B828-C90CB1633E99}"/>
              </a:ext>
            </a:extLst>
          </p:cNvPr>
          <p:cNvSpPr>
            <a:spLocks xmlns:a="http://schemas.openxmlformats.org/drawingml/2006/main" noGrp="1"/>
          </p:cNvSpPr>
          <p:nvPr/>
        </p:nvSpPr>
        <p:spPr>
          <a:xfrm xmlns:a="http://schemas.openxmlformats.org/drawingml/2006/main">
            <a:off x="7010400" y="472440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Require ≥2 evidence classes</a:t>
            </a:r>
          </a:p>
        </p:txBody>
      </p:sp>
      <p:sp>
        <p:nvSpPr>
          <p:cNvPr id="32" name="">
            <a:extLst xmlns:a="http://schemas.openxmlformats.org/drawingml/2006/main">
              <a:ext uri="{FF2B5EF4-FFF2-40B4-BE49-F238E27FC236}">
                <a16:creationId xmlns:a16="http://schemas.microsoft.com/office/drawing/2014/main" id="{F33FCC35-1BD1-427C-A79D-608130C72237}"/>
              </a:ext>
            </a:extLst>
          </p:cNvPr>
          <p:cNvSpPr>
            <a:spLocks xmlns:a="http://schemas.openxmlformats.org/drawingml/2006/main" noGrp="1"/>
          </p:cNvSpPr>
          <p:nvPr/>
        </p:nvSpPr>
        <p:spPr>
          <a:xfrm xmlns:a="http://schemas.openxmlformats.org/drawingml/2006/main">
            <a:off x="9277350" y="4724400"/>
            <a:ext cx="2419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0">
                <a:solidFill>
                  <a:srgbClr val="F7FBF8"/>
                </a:solidFill>
                <a:latin typeface="Inter"/>
                <a:ea typeface="Inter"/>
                <a:cs typeface="Inter"/>
              </a:defRPr>
            </a:pPr>
            <a:r>
              <a:rPr sz="1200" b="0">
                <a:solidFill>
                  <a:srgbClr val="F7FBF8"/>
                </a:solidFill>
                <a:latin typeface="Inter"/>
                <a:ea typeface="Inter"/>
                <a:cs typeface="Inter"/>
              </a:rPr>
              <a:t>Replicate across slopes</a:t>
            </a:r>
          </a:p>
        </p:txBody>
      </p:sp>
      <p:sp>
        <p:nvSpPr>
          <p:cNvPr id="33" name="">
            <a:extLst xmlns:a="http://schemas.openxmlformats.org/drawingml/2006/main">
              <a:ext uri="{FF2B5EF4-FFF2-40B4-BE49-F238E27FC236}">
                <a16:creationId xmlns:a16="http://schemas.microsoft.com/office/drawing/2014/main" id="{88ECEA7C-9F20-47BE-AC4C-C5FE96988FD9}"/>
              </a:ext>
            </a:extLst>
          </p:cNvPr>
          <p:cNvSpPr>
            <a:spLocks xmlns:a="http://schemas.openxmlformats.org/drawingml/2006/main" noGrp="1"/>
          </p:cNvSpPr>
          <p:nvPr/>
        </p:nvSpPr>
        <p:spPr>
          <a:xfrm xmlns:a="http://schemas.openxmlformats.org/drawingml/2006/main">
            <a:off x="904875" y="58102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BBD0C8"/>
                </a:solidFill>
                <a:latin typeface="Inter"/>
                <a:ea typeface="Inter"/>
                <a:cs typeface="Inter"/>
              </a:defRPr>
            </a:pPr>
            <a:r>
              <a:rPr sz="1350" b="1">
                <a:solidFill>
                  <a:srgbClr val="BBD0C8"/>
                </a:solidFill>
                <a:latin typeface="Inter"/>
                <a:ea typeface="Inter"/>
                <a:cs typeface="Inter"/>
              </a:rPr>
              <a:t>Defensible boundary: without these gates, report a change in the CO₂ field or its dynamics, not direct observation of basalt becoming soil.</a:t>
            </a:r>
          </a:p>
        </p:txBody>
      </p:sp>
    </p:spTree>
    <p:extLst>
      <p:ext uri="{BB962C8B-B14F-4D97-AF65-F5344CB8AC3E}">
        <p14:creationId xmlns:p14="http://schemas.microsoft.com/office/powerpoint/2010/main" val="1828271098"/>
      </p:ext>
    </p:extLst>
  </p:cSld>
</p:sld>
</file>

<file path=ppt/slides/slide16.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5E0F922-7EC2-4829-8F8E-9A2D0A25077E}"/>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BIOSPHERE 2 IMPLEMENTATION</a:t>
            </a:r>
          </a:p>
        </p:txBody>
      </p:sp>
      <p:sp>
        <p:nvSpPr>
          <p:cNvPr id="2" name="">
            <a:extLst xmlns:a="http://schemas.openxmlformats.org/drawingml/2006/main">
              <a:ext uri="{FF2B5EF4-FFF2-40B4-BE49-F238E27FC236}">
                <a16:creationId xmlns:a16="http://schemas.microsoft.com/office/drawing/2014/main" id="{F780810A-37B8-4B22-8E35-6F83AEF698F1}"/>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A staged pilot limits burden while testing feasibility</a:t>
            </a:r>
          </a:p>
        </p:txBody>
      </p:sp>
      <p:sp>
        <p:nvSpPr>
          <p:cNvPr id="3" name="">
            <a:extLst xmlns:a="http://schemas.openxmlformats.org/drawingml/2006/main">
              <a:ext uri="{FF2B5EF4-FFF2-40B4-BE49-F238E27FC236}">
                <a16:creationId xmlns:a16="http://schemas.microsoft.com/office/drawing/2014/main" id="{5B9E69AF-A76A-4B0E-B494-6B0332583DC7}"/>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16</a:t>
            </a:r>
          </a:p>
        </p:txBody>
      </p:sp>
      <p:sp>
        <p:nvSpPr>
          <p:cNvPr id="4" name="">
            <a:extLst xmlns:a="http://schemas.openxmlformats.org/drawingml/2006/main">
              <a:ext uri="{FF2B5EF4-FFF2-40B4-BE49-F238E27FC236}">
                <a16:creationId xmlns:a16="http://schemas.microsoft.com/office/drawing/2014/main" id="{37A3304F-2B41-4124-A56E-82AD46D22584}"/>
              </a:ext>
            </a:extLst>
          </p:cNvPr>
          <p:cNvSpPr>
            <a:spLocks xmlns:a="http://schemas.openxmlformats.org/drawingml/2006/main" noGrp="1"/>
          </p:cNvSpPr>
          <p:nvPr/>
        </p:nvSpPr>
        <p:spPr>
          <a:xfrm xmlns:a="http://schemas.openxmlformats.org/drawingml/2006/main">
            <a:off x="523875" y="1657350"/>
            <a:ext cx="3524250" cy="2324100"/>
          </a:xfrm>
          <a:prstGeom xmlns:a="http://schemas.openxmlformats.org/drawingml/2006/main" prst="roundRect">
            <a:avLst>
              <a:gd name="adj" fmla="val 7377"/>
            </a:avLst>
          </a:prstGeom>
          <a:solidFill xmlns:a="http://schemas.openxmlformats.org/drawingml/2006/main">
            <a:srgbClr val="28524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56EA4BC-46B4-43AC-89C3-BBBB58363F09}"/>
              </a:ext>
            </a:extLst>
          </p:cNvPr>
          <p:cNvSpPr>
            <a:spLocks xmlns:a="http://schemas.openxmlformats.org/drawingml/2006/main" noGrp="1"/>
          </p:cNvSpPr>
          <p:nvPr/>
        </p:nvSpPr>
        <p:spPr>
          <a:xfrm xmlns:a="http://schemas.openxmlformats.org/drawingml/2006/main">
            <a:off x="771525" y="1952625"/>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B7F23A"/>
                </a:solidFill>
                <a:latin typeface="Inter"/>
                <a:ea typeface="Inter"/>
                <a:cs typeface="Inter"/>
              </a:defRPr>
            </a:pPr>
            <a:r>
              <a:rPr sz="1350" b="1">
                <a:solidFill>
                  <a:srgbClr val="B7F23A"/>
                </a:solidFill>
                <a:latin typeface="Inter"/>
                <a:ea typeface="Inter"/>
                <a:cs typeface="Inter"/>
              </a:rPr>
              <a:t>1 · DESIGN REVIEW</a:t>
            </a:r>
          </a:p>
        </p:txBody>
      </p:sp>
      <p:sp>
        <p:nvSpPr>
          <p:cNvPr id="6" name="">
            <a:extLst xmlns:a="http://schemas.openxmlformats.org/drawingml/2006/main">
              <a:ext uri="{FF2B5EF4-FFF2-40B4-BE49-F238E27FC236}">
                <a16:creationId xmlns:a16="http://schemas.microsoft.com/office/drawing/2014/main" id="{2C3A70A0-CE06-43DF-807B-0A907CAC7730}"/>
              </a:ext>
            </a:extLst>
          </p:cNvPr>
          <p:cNvSpPr>
            <a:spLocks xmlns:a="http://schemas.openxmlformats.org/drawingml/2006/main" noGrp="1"/>
          </p:cNvSpPr>
          <p:nvPr/>
        </p:nvSpPr>
        <p:spPr>
          <a:xfrm xmlns:a="http://schemas.openxmlformats.org/drawingml/2006/main">
            <a:off x="790575" y="2533650"/>
            <a:ext cx="299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0">
                <a:solidFill>
                  <a:srgbClr val="F7FBF8"/>
                </a:solidFill>
                <a:latin typeface="Inter"/>
                <a:ea typeface="Inter"/>
                <a:cs typeface="Inter"/>
              </a:defRPr>
            </a:pPr>
            <a:r>
              <a:rPr sz="1650" b="0">
                <a:solidFill>
                  <a:srgbClr val="F7FBF8"/>
                </a:solidFill>
                <a:latin typeface="Inter"/>
                <a:ea typeface="Inter"/>
                <a:cs typeface="Inter"/>
              </a:rPr>
              <a:t>Confirm existing data, sensor compatibility, access constraints and candidate locations.</a:t>
            </a:r>
          </a:p>
        </p:txBody>
      </p:sp>
      <p:sp>
        <p:nvSpPr>
          <p:cNvPr id="7" name="">
            <a:extLst xmlns:a="http://schemas.openxmlformats.org/drawingml/2006/main">
              <a:ext uri="{FF2B5EF4-FFF2-40B4-BE49-F238E27FC236}">
                <a16:creationId xmlns:a16="http://schemas.microsoft.com/office/drawing/2014/main" id="{8B40A309-218B-4ADA-8803-F4ADEAD01726}"/>
              </a:ext>
            </a:extLst>
          </p:cNvPr>
          <p:cNvSpPr>
            <a:spLocks xmlns:a="http://schemas.openxmlformats.org/drawingml/2006/main" noGrp="1"/>
          </p:cNvSpPr>
          <p:nvPr/>
        </p:nvSpPr>
        <p:spPr>
          <a:xfrm xmlns:a="http://schemas.openxmlformats.org/drawingml/2006/main">
            <a:off x="4381500" y="1657350"/>
            <a:ext cx="3524250" cy="2324100"/>
          </a:xfrm>
          <a:prstGeom xmlns:a="http://schemas.openxmlformats.org/drawingml/2006/main" prst="roundRect">
            <a:avLst>
              <a:gd name="adj" fmla="val 7377"/>
            </a:avLst>
          </a:prstGeom>
          <a:solidFill xmlns:a="http://schemas.openxmlformats.org/drawingml/2006/main">
            <a:srgbClr val="0E49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EBB9BA-4974-4905-AB21-4BAE7D58E181}"/>
              </a:ext>
            </a:extLst>
          </p:cNvPr>
          <p:cNvSpPr>
            <a:spLocks xmlns:a="http://schemas.openxmlformats.org/drawingml/2006/main" noGrp="1"/>
          </p:cNvSpPr>
          <p:nvPr/>
        </p:nvSpPr>
        <p:spPr>
          <a:xfrm xmlns:a="http://schemas.openxmlformats.org/drawingml/2006/main">
            <a:off x="4629150" y="1952625"/>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F6AE3E"/>
                </a:solidFill>
                <a:latin typeface="Inter"/>
                <a:ea typeface="Inter"/>
                <a:cs typeface="Inter"/>
              </a:defRPr>
            </a:pPr>
            <a:r>
              <a:rPr sz="1350" b="1">
                <a:solidFill>
                  <a:srgbClr val="F6AE3E"/>
                </a:solidFill>
                <a:latin typeface="Inter"/>
                <a:ea typeface="Inter"/>
                <a:cs typeface="Inter"/>
              </a:rPr>
              <a:t>2 · EVENT PILOT</a:t>
            </a:r>
          </a:p>
        </p:txBody>
      </p:sp>
      <p:sp>
        <p:nvSpPr>
          <p:cNvPr id="9" name="">
            <a:extLst xmlns:a="http://schemas.openxmlformats.org/drawingml/2006/main">
              <a:ext uri="{FF2B5EF4-FFF2-40B4-BE49-F238E27FC236}">
                <a16:creationId xmlns:a16="http://schemas.microsoft.com/office/drawing/2014/main" id="{73133817-48C7-4643-85A7-6E8FDB4B8A43}"/>
              </a:ext>
            </a:extLst>
          </p:cNvPr>
          <p:cNvSpPr>
            <a:spLocks xmlns:a="http://schemas.openxmlformats.org/drawingml/2006/main" noGrp="1"/>
          </p:cNvSpPr>
          <p:nvPr/>
        </p:nvSpPr>
        <p:spPr>
          <a:xfrm xmlns:a="http://schemas.openxmlformats.org/drawingml/2006/main">
            <a:off x="4648200" y="2533650"/>
            <a:ext cx="299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0">
                <a:solidFill>
                  <a:srgbClr val="F7FBF8"/>
                </a:solidFill>
                <a:latin typeface="Inter"/>
                <a:ea typeface="Inter"/>
                <a:cs typeface="Inter"/>
              </a:defRPr>
            </a:pPr>
            <a:r>
              <a:rPr sz="1650" b="0">
                <a:solidFill>
                  <a:srgbClr val="F7FBF8"/>
                </a:solidFill>
                <a:latin typeface="Inter"/>
                <a:ea typeface="Inter"/>
                <a:cs typeface="Inter"/>
              </a:rPr>
              <a:t>Collect synchronized CO₂ and covariates across a small set of controlled or natural rain events.</a:t>
            </a:r>
          </a:p>
        </p:txBody>
      </p:sp>
      <p:sp>
        <p:nvSpPr>
          <p:cNvPr id="10" name="">
            <a:extLst xmlns:a="http://schemas.openxmlformats.org/drawingml/2006/main">
              <a:ext uri="{FF2B5EF4-FFF2-40B4-BE49-F238E27FC236}">
                <a16:creationId xmlns:a16="http://schemas.microsoft.com/office/drawing/2014/main" id="{A9B42309-30FF-46C6-9D7E-8C67886D92F6}"/>
              </a:ext>
            </a:extLst>
          </p:cNvPr>
          <p:cNvSpPr>
            <a:spLocks xmlns:a="http://schemas.openxmlformats.org/drawingml/2006/main" noGrp="1"/>
          </p:cNvSpPr>
          <p:nvPr/>
        </p:nvSpPr>
        <p:spPr>
          <a:xfrm xmlns:a="http://schemas.openxmlformats.org/drawingml/2006/main">
            <a:off x="8239125" y="1657350"/>
            <a:ext cx="3524250" cy="2324100"/>
          </a:xfrm>
          <a:prstGeom xmlns:a="http://schemas.openxmlformats.org/drawingml/2006/main" prst="roundRect">
            <a:avLst>
              <a:gd name="adj" fmla="val 7377"/>
            </a:avLst>
          </a:prstGeom>
          <a:solidFill xmlns:a="http://schemas.openxmlformats.org/drawingml/2006/main">
            <a:srgbClr val="28524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809CB96-676A-47E7-B7A6-32A814AB198B}"/>
              </a:ext>
            </a:extLst>
          </p:cNvPr>
          <p:cNvSpPr>
            <a:spLocks xmlns:a="http://schemas.openxmlformats.org/drawingml/2006/main" noGrp="1"/>
          </p:cNvSpPr>
          <p:nvPr/>
        </p:nvSpPr>
        <p:spPr>
          <a:xfrm xmlns:a="http://schemas.openxmlformats.org/drawingml/2006/main">
            <a:off x="8486775" y="1952625"/>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68D7B3"/>
                </a:solidFill>
                <a:latin typeface="Inter"/>
                <a:ea typeface="Inter"/>
                <a:cs typeface="Inter"/>
              </a:defRPr>
            </a:pPr>
            <a:r>
              <a:rPr sz="1350" b="1">
                <a:solidFill>
                  <a:srgbClr val="68D7B3"/>
                </a:solidFill>
                <a:latin typeface="Inter"/>
                <a:ea typeface="Inter"/>
                <a:cs typeface="Inter"/>
              </a:rPr>
              <a:t>3 · DECISION REVIEW</a:t>
            </a:r>
          </a:p>
        </p:txBody>
      </p:sp>
      <p:sp>
        <p:nvSpPr>
          <p:cNvPr id="12" name="">
            <a:extLst xmlns:a="http://schemas.openxmlformats.org/drawingml/2006/main">
              <a:ext uri="{FF2B5EF4-FFF2-40B4-BE49-F238E27FC236}">
                <a16:creationId xmlns:a16="http://schemas.microsoft.com/office/drawing/2014/main" id="{C8ABE895-A4EF-4476-B334-59CBA1D2FAAD}"/>
              </a:ext>
            </a:extLst>
          </p:cNvPr>
          <p:cNvSpPr>
            <a:spLocks xmlns:a="http://schemas.openxmlformats.org/drawingml/2006/main" noGrp="1"/>
          </p:cNvSpPr>
          <p:nvPr/>
        </p:nvSpPr>
        <p:spPr>
          <a:xfrm xmlns:a="http://schemas.openxmlformats.org/drawingml/2006/main">
            <a:off x="8505825" y="2533650"/>
            <a:ext cx="299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0">
                <a:solidFill>
                  <a:srgbClr val="F7FBF8"/>
                </a:solidFill>
                <a:latin typeface="Inter"/>
                <a:ea typeface="Inter"/>
                <a:cs typeface="Inter"/>
              </a:defRPr>
            </a:pPr>
            <a:r>
              <a:rPr sz="1650" b="0">
                <a:solidFill>
                  <a:srgbClr val="F7FBF8"/>
                </a:solidFill>
                <a:latin typeface="Inter"/>
                <a:ea typeface="Inter"/>
                <a:cs typeface="Inter"/>
              </a:rPr>
              <a:t>Assess data quality, identifiable time scales, model residuals and the value of wider deployment.</a:t>
            </a:r>
          </a:p>
        </p:txBody>
      </p:sp>
      <p:sp>
        <p:nvSpPr>
          <p:cNvPr id="13" name="">
            <a:extLst xmlns:a="http://schemas.openxmlformats.org/drawingml/2006/main">
              <a:ext uri="{FF2B5EF4-FFF2-40B4-BE49-F238E27FC236}">
                <a16:creationId xmlns:a16="http://schemas.microsoft.com/office/drawing/2014/main" id="{4AD46434-0774-4FF1-850A-F8AD2AC247AE}"/>
              </a:ext>
            </a:extLst>
          </p:cNvPr>
          <p:cNvSpPr>
            <a:spLocks xmlns:a="http://schemas.openxmlformats.org/drawingml/2006/main" noGrp="1"/>
          </p:cNvSpPr>
          <p:nvPr/>
        </p:nvSpPr>
        <p:spPr>
          <a:xfrm xmlns:a="http://schemas.openxmlformats.org/drawingml/2006/main">
            <a:off x="666750" y="44767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B7F23A"/>
                </a:solidFill>
                <a:latin typeface="Inter"/>
                <a:ea typeface="Inter"/>
                <a:cs typeface="Inter"/>
              </a:defRPr>
            </a:pPr>
            <a:r>
              <a:rPr sz="1200" b="1">
                <a:solidFill>
                  <a:srgbClr val="B7F23A"/>
                </a:solidFill>
                <a:latin typeface="Inter"/>
                <a:ea typeface="Inter"/>
                <a:cs typeface="Inter"/>
              </a:rPr>
              <a:t>ITEMS TO AGREE WITH THE LEO TEAM</a:t>
            </a:r>
          </a:p>
        </p:txBody>
      </p:sp>
      <p:sp>
        <p:nvSpPr>
          <p:cNvPr id="14" name="">
            <a:extLst xmlns:a="http://schemas.openxmlformats.org/drawingml/2006/main">
              <a:ext uri="{FF2B5EF4-FFF2-40B4-BE49-F238E27FC236}">
                <a16:creationId xmlns:a16="http://schemas.microsoft.com/office/drawing/2014/main" id="{7B42F7AD-260B-407E-86C5-3D2BB9830BF6}"/>
              </a:ext>
            </a:extLst>
          </p:cNvPr>
          <p:cNvSpPr>
            <a:spLocks xmlns:a="http://schemas.openxmlformats.org/drawingml/2006/main" noGrp="1"/>
          </p:cNvSpPr>
          <p:nvPr/>
        </p:nvSpPr>
        <p:spPr>
          <a:xfrm xmlns:a="http://schemas.openxmlformats.org/drawingml/2006/main">
            <a:off x="666750" y="48958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F7FBF8"/>
                </a:solidFill>
                <a:latin typeface="Inter"/>
                <a:ea typeface="Inter"/>
                <a:cs typeface="Inter"/>
              </a:defRPr>
            </a:pPr>
            <a:r>
              <a:rPr sz="1500" b="0">
                <a:solidFill>
                  <a:srgbClr val="F7FBF8"/>
                </a:solidFill>
                <a:latin typeface="Inter"/>
                <a:ea typeface="Inter"/>
                <a:cs typeface="Inter"/>
              </a:rPr>
              <a:t>Sensor locations and depths   •   sampling interval and clock synchronization   •   calibration and maintenance   •   rainfall-event definition   •   access to moisture, pressure, temperature, ERT and chemistry   •   success and stop criteria</a:t>
            </a:r>
          </a:p>
        </p:txBody>
      </p:sp>
      <p:sp>
        <p:nvSpPr>
          <p:cNvPr id="15" name="">
            <a:extLst xmlns:a="http://schemas.openxmlformats.org/drawingml/2006/main">
              <a:ext uri="{FF2B5EF4-FFF2-40B4-BE49-F238E27FC236}">
                <a16:creationId xmlns:a16="http://schemas.microsoft.com/office/drawing/2014/main" id="{1F0BCE5B-EF28-441E-A1DF-E4924A6BC06E}"/>
              </a:ext>
            </a:extLst>
          </p:cNvPr>
          <p:cNvSpPr>
            <a:spLocks xmlns:a="http://schemas.openxmlformats.org/drawingml/2006/main" noGrp="1"/>
          </p:cNvSpPr>
          <p:nvPr/>
        </p:nvSpPr>
        <p:spPr>
          <a:xfrm xmlns:a="http://schemas.openxmlformats.org/drawingml/2006/main">
            <a:off x="1619250" y="5962650"/>
            <a:ext cx="895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125" b="1">
                <a:solidFill>
                  <a:srgbClr val="BBD0C8"/>
                </a:solidFill>
                <a:latin typeface="Inter"/>
                <a:ea typeface="Inter"/>
                <a:cs typeface="Inter"/>
              </a:defRPr>
            </a:pPr>
            <a:r>
              <a:rPr sz="1125" b="1">
                <a:solidFill>
                  <a:srgbClr val="BBD0C8"/>
                </a:solidFill>
                <a:latin typeface="Inter"/>
                <a:ea typeface="Inter"/>
                <a:cs typeface="Inter"/>
              </a:rPr>
              <a:t>The presentation proposes the analysis framework. Deployment scope, duration and budget remain joint planning decisions.</a:t>
            </a:r>
          </a:p>
        </p:txBody>
      </p:sp>
    </p:spTree>
    <p:extLst>
      <p:ext uri="{BB962C8B-B14F-4D97-AF65-F5344CB8AC3E}">
        <p14:creationId xmlns:p14="http://schemas.microsoft.com/office/powerpoint/2010/main" val="621871747"/>
      </p:ext>
    </p:extLst>
  </p:cSld>
</p:sld>
</file>

<file path=ppt/slides/slide17.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3459DEA-03F6-4EC3-9C60-C249294E5403}"/>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DECISION VALUE</a:t>
            </a:r>
          </a:p>
        </p:txBody>
      </p:sp>
      <p:sp>
        <p:nvSpPr>
          <p:cNvPr id="2" name="">
            <a:extLst xmlns:a="http://schemas.openxmlformats.org/drawingml/2006/main">
              <a:ext uri="{FF2B5EF4-FFF2-40B4-BE49-F238E27FC236}">
                <a16:creationId xmlns:a16="http://schemas.microsoft.com/office/drawing/2014/main" id="{D0F9CC1D-919B-4B1D-955C-A3C38EA0893D}"/>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What Biosphere 2 gains, even if the strongest claim fails</a:t>
            </a:r>
          </a:p>
        </p:txBody>
      </p:sp>
      <p:sp>
        <p:nvSpPr>
          <p:cNvPr id="3" name="">
            <a:extLst xmlns:a="http://schemas.openxmlformats.org/drawingml/2006/main">
              <a:ext uri="{FF2B5EF4-FFF2-40B4-BE49-F238E27FC236}">
                <a16:creationId xmlns:a16="http://schemas.microsoft.com/office/drawing/2014/main" id="{E561CAA8-3046-4195-B402-411C19E4E274}"/>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17</a:t>
            </a:r>
          </a:p>
        </p:txBody>
      </p:sp>
      <p:sp>
        <p:nvSpPr>
          <p:cNvPr id="4" name="">
            <a:extLst xmlns:a="http://schemas.openxmlformats.org/drawingml/2006/main">
              <a:ext uri="{FF2B5EF4-FFF2-40B4-BE49-F238E27FC236}">
                <a16:creationId xmlns:a16="http://schemas.microsoft.com/office/drawing/2014/main" id="{60F80501-F8EE-4A67-B209-B62FFED4B987}"/>
              </a:ext>
            </a:extLst>
          </p:cNvPr>
          <p:cNvSpPr>
            <a:spLocks xmlns:a="http://schemas.openxmlformats.org/drawingml/2006/main" noGrp="1"/>
          </p:cNvSpPr>
          <p:nvPr/>
        </p:nvSpPr>
        <p:spPr>
          <a:xfrm xmlns:a="http://schemas.openxmlformats.org/drawingml/2006/main">
            <a:off x="647700" y="1466850"/>
            <a:ext cx="228600" cy="22860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EC9FB6-C6FA-49F0-860F-A78DDE3B7DEC}"/>
              </a:ext>
            </a:extLst>
          </p:cNvPr>
          <p:cNvSpPr>
            <a:spLocks xmlns:a="http://schemas.openxmlformats.org/drawingml/2006/main" noGrp="1"/>
          </p:cNvSpPr>
          <p:nvPr/>
        </p:nvSpPr>
        <p:spPr>
          <a:xfrm xmlns:a="http://schemas.openxmlformats.org/drawingml/2006/main">
            <a:off x="1066800" y="13525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B7F23A"/>
                </a:solidFill>
                <a:latin typeface="Inter"/>
                <a:ea typeface="Inter"/>
                <a:cs typeface="Inter"/>
              </a:defRPr>
            </a:pPr>
            <a:r>
              <a:rPr sz="1575" b="1">
                <a:solidFill>
                  <a:srgbClr val="B7F23A"/>
                </a:solidFill>
                <a:latin typeface="Inter"/>
                <a:ea typeface="Inter"/>
                <a:cs typeface="Inter"/>
              </a:rPr>
              <a:t>A transparent transport baseline</a:t>
            </a:r>
          </a:p>
        </p:txBody>
      </p:sp>
      <p:sp>
        <p:nvSpPr>
          <p:cNvPr id="6" name="">
            <a:extLst xmlns:a="http://schemas.openxmlformats.org/drawingml/2006/main">
              <a:ext uri="{FF2B5EF4-FFF2-40B4-BE49-F238E27FC236}">
                <a16:creationId xmlns:a16="http://schemas.microsoft.com/office/drawing/2014/main" id="{2B5E4668-50BD-49BC-B504-6A2CBCD5E9E0}"/>
              </a:ext>
            </a:extLst>
          </p:cNvPr>
          <p:cNvSpPr>
            <a:spLocks xmlns:a="http://schemas.openxmlformats.org/drawingml/2006/main" noGrp="1"/>
          </p:cNvSpPr>
          <p:nvPr/>
        </p:nvSpPr>
        <p:spPr>
          <a:xfrm xmlns:a="http://schemas.openxmlformats.org/drawingml/2006/main">
            <a:off x="4810125" y="135255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F7FBF8"/>
                </a:solidFill>
                <a:latin typeface="Inter"/>
                <a:ea typeface="Inter"/>
                <a:cs typeface="Inter"/>
              </a:defRPr>
            </a:pPr>
            <a:r>
              <a:rPr sz="1575" b="0">
                <a:solidFill>
                  <a:srgbClr val="F7FBF8"/>
                </a:solidFill>
                <a:latin typeface="Inter"/>
                <a:ea typeface="Inter"/>
                <a:cs typeface="Inter"/>
              </a:rPr>
              <a:t>Separates expected wetting effects from structured anomalies.</a:t>
            </a:r>
          </a:p>
        </p:txBody>
      </p:sp>
      <p:sp>
        <p:nvSpPr>
          <p:cNvPr id="7" name="">
            <a:extLst xmlns:a="http://schemas.openxmlformats.org/drawingml/2006/main">
              <a:ext uri="{FF2B5EF4-FFF2-40B4-BE49-F238E27FC236}">
                <a16:creationId xmlns:a16="http://schemas.microsoft.com/office/drawing/2014/main" id="{8D73697F-A4D4-414E-A6F1-FD6592BE3566}"/>
              </a:ext>
            </a:extLst>
          </p:cNvPr>
          <p:cNvSpPr>
            <a:spLocks xmlns:a="http://schemas.openxmlformats.org/drawingml/2006/main" noGrp="1"/>
          </p:cNvSpPr>
          <p:nvPr/>
        </p:nvSpPr>
        <p:spPr>
          <a:xfrm xmlns:a="http://schemas.openxmlformats.org/drawingml/2006/main">
            <a:off x="647700" y="2343150"/>
            <a:ext cx="228600" cy="22860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56AC04-1D8E-4E61-8CDF-3BFA3F55E9CB}"/>
              </a:ext>
            </a:extLst>
          </p:cNvPr>
          <p:cNvSpPr>
            <a:spLocks xmlns:a="http://schemas.openxmlformats.org/drawingml/2006/main" noGrp="1"/>
          </p:cNvSpPr>
          <p:nvPr/>
        </p:nvSpPr>
        <p:spPr>
          <a:xfrm xmlns:a="http://schemas.openxmlformats.org/drawingml/2006/main">
            <a:off x="1066800" y="22288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B7F23A"/>
                </a:solidFill>
                <a:latin typeface="Inter"/>
                <a:ea typeface="Inter"/>
                <a:cs typeface="Inter"/>
              </a:defRPr>
            </a:pPr>
            <a:r>
              <a:rPr sz="1575" b="1">
                <a:solidFill>
                  <a:srgbClr val="B7F23A"/>
                </a:solidFill>
                <a:latin typeface="Inter"/>
                <a:ea typeface="Inter"/>
                <a:cs typeface="Inter"/>
              </a:rPr>
              <a:t>A reusable event catalog</a:t>
            </a:r>
          </a:p>
        </p:txBody>
      </p:sp>
      <p:sp>
        <p:nvSpPr>
          <p:cNvPr id="9" name="">
            <a:extLst xmlns:a="http://schemas.openxmlformats.org/drawingml/2006/main">
              <a:ext uri="{FF2B5EF4-FFF2-40B4-BE49-F238E27FC236}">
                <a16:creationId xmlns:a16="http://schemas.microsoft.com/office/drawing/2014/main" id="{320DBB0C-6BCB-49E4-9823-DBD12D64F3DD}"/>
              </a:ext>
            </a:extLst>
          </p:cNvPr>
          <p:cNvSpPr>
            <a:spLocks xmlns:a="http://schemas.openxmlformats.org/drawingml/2006/main" noGrp="1"/>
          </p:cNvSpPr>
          <p:nvPr/>
        </p:nvSpPr>
        <p:spPr>
          <a:xfrm xmlns:a="http://schemas.openxmlformats.org/drawingml/2006/main">
            <a:off x="4810125" y="222885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F7FBF8"/>
                </a:solidFill>
                <a:latin typeface="Inter"/>
                <a:ea typeface="Inter"/>
                <a:cs typeface="Inter"/>
              </a:defRPr>
            </a:pPr>
            <a:r>
              <a:rPr sz="1575" b="0">
                <a:solidFill>
                  <a:srgbClr val="F7FBF8"/>
                </a:solidFill>
                <a:latin typeface="Inter"/>
                <a:ea typeface="Inter"/>
                <a:cs typeface="Inter"/>
              </a:rPr>
              <a:t>Links rainfall, drainage, dry return and data-quality metadata.</a:t>
            </a:r>
          </a:p>
        </p:txBody>
      </p:sp>
      <p:sp>
        <p:nvSpPr>
          <p:cNvPr id="10" name="">
            <a:extLst xmlns:a="http://schemas.openxmlformats.org/drawingml/2006/main">
              <a:ext uri="{FF2B5EF4-FFF2-40B4-BE49-F238E27FC236}">
                <a16:creationId xmlns:a16="http://schemas.microsoft.com/office/drawing/2014/main" id="{9602A1B1-DE3D-4C51-A7CC-0C6D67054EEE}"/>
              </a:ext>
            </a:extLst>
          </p:cNvPr>
          <p:cNvSpPr>
            <a:spLocks xmlns:a="http://schemas.openxmlformats.org/drawingml/2006/main" noGrp="1"/>
          </p:cNvSpPr>
          <p:nvPr/>
        </p:nvSpPr>
        <p:spPr>
          <a:xfrm xmlns:a="http://schemas.openxmlformats.org/drawingml/2006/main">
            <a:off x="647700" y="3219450"/>
            <a:ext cx="228600" cy="22860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B2C783-2788-4C4F-8501-01686FD8062F}"/>
              </a:ext>
            </a:extLst>
          </p:cNvPr>
          <p:cNvSpPr>
            <a:spLocks xmlns:a="http://schemas.openxmlformats.org/drawingml/2006/main" noGrp="1"/>
          </p:cNvSpPr>
          <p:nvPr/>
        </p:nvSpPr>
        <p:spPr>
          <a:xfrm xmlns:a="http://schemas.openxmlformats.org/drawingml/2006/main">
            <a:off x="1066800" y="31051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B7F23A"/>
                </a:solidFill>
                <a:latin typeface="Inter"/>
                <a:ea typeface="Inter"/>
                <a:cs typeface="Inter"/>
              </a:defRPr>
            </a:pPr>
            <a:r>
              <a:rPr sz="1575" b="1">
                <a:solidFill>
                  <a:srgbClr val="B7F23A"/>
                </a:solidFill>
                <a:latin typeface="Inter"/>
                <a:ea typeface="Inter"/>
                <a:cs typeface="Inter"/>
              </a:rPr>
              <a:t>A multiscale network view</a:t>
            </a:r>
          </a:p>
        </p:txBody>
      </p:sp>
      <p:sp>
        <p:nvSpPr>
          <p:cNvPr id="12" name="">
            <a:extLst xmlns:a="http://schemas.openxmlformats.org/drawingml/2006/main">
              <a:ext uri="{FF2B5EF4-FFF2-40B4-BE49-F238E27FC236}">
                <a16:creationId xmlns:a16="http://schemas.microsoft.com/office/drawing/2014/main" id="{FAB9E801-92A3-4928-9180-652E46DD0782}"/>
              </a:ext>
            </a:extLst>
          </p:cNvPr>
          <p:cNvSpPr>
            <a:spLocks xmlns:a="http://schemas.openxmlformats.org/drawingml/2006/main" noGrp="1"/>
          </p:cNvSpPr>
          <p:nvPr/>
        </p:nvSpPr>
        <p:spPr>
          <a:xfrm xmlns:a="http://schemas.openxmlformats.org/drawingml/2006/main">
            <a:off x="4810125" y="310515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F7FBF8"/>
                </a:solidFill>
                <a:latin typeface="Inter"/>
                <a:ea typeface="Inter"/>
                <a:cs typeface="Inter"/>
              </a:defRPr>
            </a:pPr>
            <a:r>
              <a:rPr sz="1575" b="0">
                <a:solidFill>
                  <a:srgbClr val="F7FBF8"/>
                </a:solidFill>
                <a:latin typeface="Inter"/>
                <a:ea typeface="Inter"/>
                <a:cs typeface="Inter"/>
              </a:rPr>
              <a:t>Shows when and where depth-resolved signals move together.</a:t>
            </a:r>
          </a:p>
        </p:txBody>
      </p:sp>
      <p:sp>
        <p:nvSpPr>
          <p:cNvPr id="13" name="">
            <a:extLst xmlns:a="http://schemas.openxmlformats.org/drawingml/2006/main">
              <a:ext uri="{FF2B5EF4-FFF2-40B4-BE49-F238E27FC236}">
                <a16:creationId xmlns:a16="http://schemas.microsoft.com/office/drawing/2014/main" id="{62741F51-D7FB-4E8C-8B90-67684A80E330}"/>
              </a:ext>
            </a:extLst>
          </p:cNvPr>
          <p:cNvSpPr>
            <a:spLocks xmlns:a="http://schemas.openxmlformats.org/drawingml/2006/main" noGrp="1"/>
          </p:cNvSpPr>
          <p:nvPr/>
        </p:nvSpPr>
        <p:spPr>
          <a:xfrm xmlns:a="http://schemas.openxmlformats.org/drawingml/2006/main">
            <a:off x="647700" y="4095750"/>
            <a:ext cx="228600" cy="228600"/>
          </a:xfrm>
          <a:prstGeom xmlns:a="http://schemas.openxmlformats.org/drawingml/2006/main" prst="ellipse">
            <a:avLst/>
          </a:prstGeom>
          <a:solidFill xmlns:a="http://schemas.openxmlformats.org/drawingml/2006/main">
            <a:srgbClr val="F6AE3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B4BDB12-A1BA-4741-A81F-5FD75B2CA8EF}"/>
              </a:ext>
            </a:extLst>
          </p:cNvPr>
          <p:cNvSpPr>
            <a:spLocks xmlns:a="http://schemas.openxmlformats.org/drawingml/2006/main" noGrp="1"/>
          </p:cNvSpPr>
          <p:nvPr/>
        </p:nvSpPr>
        <p:spPr>
          <a:xfrm xmlns:a="http://schemas.openxmlformats.org/drawingml/2006/main">
            <a:off x="1066800" y="39814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F6AE3E"/>
                </a:solidFill>
                <a:latin typeface="Inter"/>
                <a:ea typeface="Inter"/>
                <a:cs typeface="Inter"/>
              </a:defRPr>
            </a:pPr>
            <a:r>
              <a:rPr sz="1575" b="1">
                <a:solidFill>
                  <a:srgbClr val="F6AE3E"/>
                </a:solidFill>
                <a:latin typeface="Inter"/>
                <a:ea typeface="Inter"/>
                <a:cs typeface="Inter"/>
              </a:rPr>
              <a:t>A calibrated evidence boundary</a:t>
            </a:r>
          </a:p>
        </p:txBody>
      </p:sp>
      <p:sp>
        <p:nvSpPr>
          <p:cNvPr id="15" name="">
            <a:extLst xmlns:a="http://schemas.openxmlformats.org/drawingml/2006/main">
              <a:ext uri="{FF2B5EF4-FFF2-40B4-BE49-F238E27FC236}">
                <a16:creationId xmlns:a16="http://schemas.microsoft.com/office/drawing/2014/main" id="{6EB89090-8915-490F-873B-08121B40F5BB}"/>
              </a:ext>
            </a:extLst>
          </p:cNvPr>
          <p:cNvSpPr>
            <a:spLocks xmlns:a="http://schemas.openxmlformats.org/drawingml/2006/main" noGrp="1"/>
          </p:cNvSpPr>
          <p:nvPr/>
        </p:nvSpPr>
        <p:spPr>
          <a:xfrm xmlns:a="http://schemas.openxmlformats.org/drawingml/2006/main">
            <a:off x="4810125" y="398145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F7FBF8"/>
                </a:solidFill>
                <a:latin typeface="Inter"/>
                <a:ea typeface="Inter"/>
                <a:cs typeface="Inter"/>
              </a:defRPr>
            </a:pPr>
            <a:r>
              <a:rPr sz="1575" b="0">
                <a:solidFill>
                  <a:srgbClr val="F7FBF8"/>
                </a:solidFill>
                <a:latin typeface="Inter"/>
                <a:ea typeface="Inter"/>
                <a:cs typeface="Inter"/>
              </a:rPr>
              <a:t>Prevents mathematical structure from being overstated as mechanism.</a:t>
            </a:r>
          </a:p>
        </p:txBody>
      </p:sp>
      <p:sp>
        <p:nvSpPr>
          <p:cNvPr id="16" name="">
            <a:extLst xmlns:a="http://schemas.openxmlformats.org/drawingml/2006/main">
              <a:ext uri="{FF2B5EF4-FFF2-40B4-BE49-F238E27FC236}">
                <a16:creationId xmlns:a16="http://schemas.microsoft.com/office/drawing/2014/main" id="{9951E74E-9715-46A9-AB73-2B27710C6147}"/>
              </a:ext>
            </a:extLst>
          </p:cNvPr>
          <p:cNvSpPr>
            <a:spLocks xmlns:a="http://schemas.openxmlformats.org/drawingml/2006/main" noGrp="1"/>
          </p:cNvSpPr>
          <p:nvPr/>
        </p:nvSpPr>
        <p:spPr>
          <a:xfrm xmlns:a="http://schemas.openxmlformats.org/drawingml/2006/main">
            <a:off x="647700" y="4972050"/>
            <a:ext cx="228600" cy="228600"/>
          </a:xfrm>
          <a:prstGeom xmlns:a="http://schemas.openxmlformats.org/drawingml/2006/main" prst="ellipse">
            <a:avLst/>
          </a:prstGeom>
          <a:solidFill xmlns:a="http://schemas.openxmlformats.org/drawingml/2006/main">
            <a:srgbClr val="B7F23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144D74C-443D-4A8A-B9F9-995D8979D9EE}"/>
              </a:ext>
            </a:extLst>
          </p:cNvPr>
          <p:cNvSpPr>
            <a:spLocks xmlns:a="http://schemas.openxmlformats.org/drawingml/2006/main" noGrp="1"/>
          </p:cNvSpPr>
          <p:nvPr/>
        </p:nvSpPr>
        <p:spPr>
          <a:xfrm xmlns:a="http://schemas.openxmlformats.org/drawingml/2006/main">
            <a:off x="1066800" y="48577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B7F23A"/>
                </a:solidFill>
                <a:latin typeface="Inter"/>
                <a:ea typeface="Inter"/>
                <a:cs typeface="Inter"/>
              </a:defRPr>
            </a:pPr>
            <a:r>
              <a:rPr sz="1575" b="1">
                <a:solidFill>
                  <a:srgbClr val="B7F23A"/>
                </a:solidFill>
                <a:latin typeface="Inter"/>
                <a:ea typeface="Inter"/>
                <a:cs typeface="Inter"/>
              </a:rPr>
              <a:t>A replication-ready protocol</a:t>
            </a:r>
          </a:p>
        </p:txBody>
      </p:sp>
      <p:sp>
        <p:nvSpPr>
          <p:cNvPr id="18" name="">
            <a:extLst xmlns:a="http://schemas.openxmlformats.org/drawingml/2006/main">
              <a:ext uri="{FF2B5EF4-FFF2-40B4-BE49-F238E27FC236}">
                <a16:creationId xmlns:a16="http://schemas.microsoft.com/office/drawing/2014/main" id="{CCEB5B53-2E2F-4C68-BCBE-B476518162B3}"/>
              </a:ext>
            </a:extLst>
          </p:cNvPr>
          <p:cNvSpPr>
            <a:spLocks xmlns:a="http://schemas.openxmlformats.org/drawingml/2006/main" noGrp="1"/>
          </p:cNvSpPr>
          <p:nvPr/>
        </p:nvSpPr>
        <p:spPr>
          <a:xfrm xmlns:a="http://schemas.openxmlformats.org/drawingml/2006/main">
            <a:off x="4810125" y="485775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F7FBF8"/>
                </a:solidFill>
                <a:latin typeface="Inter"/>
                <a:ea typeface="Inter"/>
                <a:cs typeface="Inter"/>
              </a:defRPr>
            </a:pPr>
            <a:r>
              <a:rPr sz="1575" b="0">
                <a:solidFill>
                  <a:srgbClr val="F7FBF8"/>
                </a:solidFill>
                <a:latin typeface="Inter"/>
                <a:ea typeface="Inter"/>
                <a:cs typeface="Inter"/>
              </a:rPr>
              <a:t>Supports comparison across locations, periods and LEO landscapes.</a:t>
            </a:r>
          </a:p>
        </p:txBody>
      </p:sp>
      <p:sp>
        <p:nvSpPr>
          <p:cNvPr id="19" name="">
            <a:extLst xmlns:a="http://schemas.openxmlformats.org/drawingml/2006/main">
              <a:ext uri="{FF2B5EF4-FFF2-40B4-BE49-F238E27FC236}">
                <a16:creationId xmlns:a16="http://schemas.microsoft.com/office/drawing/2014/main" id="{E3B72E15-31C3-43E0-953B-70B304547C0D}"/>
              </a:ext>
            </a:extLst>
          </p:cNvPr>
          <p:cNvSpPr>
            <a:spLocks xmlns:a="http://schemas.openxmlformats.org/drawingml/2006/main" noGrp="1"/>
          </p:cNvSpPr>
          <p:nvPr/>
        </p:nvSpPr>
        <p:spPr>
          <a:xfrm xmlns:a="http://schemas.openxmlformats.org/drawingml/2006/main">
            <a:off x="523875" y="5791200"/>
            <a:ext cx="11144250" cy="419100"/>
          </a:xfrm>
          <a:prstGeom xmlns:a="http://schemas.openxmlformats.org/drawingml/2006/main" prst="roundRect">
            <a:avLst>
              <a:gd name="adj" fmla="val 22727"/>
            </a:avLst>
          </a:prstGeom>
          <a:solidFill xmlns:a="http://schemas.openxmlformats.org/drawingml/2006/main">
            <a:srgbClr val="0E49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9673AAF-0B88-4C01-9918-EB8A6C637296}"/>
              </a:ext>
            </a:extLst>
          </p:cNvPr>
          <p:cNvSpPr>
            <a:spLocks xmlns:a="http://schemas.openxmlformats.org/drawingml/2006/main" noGrp="1"/>
          </p:cNvSpPr>
          <p:nvPr/>
        </p:nvSpPr>
        <p:spPr>
          <a:xfrm xmlns:a="http://schemas.openxmlformats.org/drawingml/2006/main">
            <a:off x="857250" y="58769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lgn="ctr">
              <a:defRPr sz="1275" b="1">
                <a:solidFill>
                  <a:srgbClr val="BBD0C8"/>
                </a:solidFill>
                <a:latin typeface="Inter"/>
                <a:ea typeface="Inter"/>
                <a:cs typeface="Inter"/>
              </a:defRPr>
            </a:pPr>
            <a:r>
              <a:rPr sz="1275" b="1">
                <a:solidFill>
                  <a:srgbClr val="BBD0C8"/>
                </a:solidFill>
                <a:latin typeface="Inter"/>
                <a:ea typeface="Inter"/>
                <a:cs typeface="Inter"/>
              </a:rPr>
              <a:t>A null result remains useful when it quantifies transport and defines where additional measurements are needed.</a:t>
            </a:r>
          </a:p>
        </p:txBody>
      </p:sp>
    </p:spTree>
    <p:extLst>
      <p:ext uri="{BB962C8B-B14F-4D97-AF65-F5344CB8AC3E}">
        <p14:creationId xmlns:p14="http://schemas.microsoft.com/office/powerpoint/2010/main" val="489710201"/>
      </p:ext>
    </p:extLst>
  </p:cSld>
</p:sld>
</file>

<file path=ppt/slides/slide18.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381873-84E3-4534-AF18-EB3AEEDF2D80}"/>
              </a:ext>
            </a:extLst>
          </p:cNvPr>
          <p:cNvSpPr>
            <a:spLocks xmlns:a="http://schemas.openxmlformats.org/drawingml/2006/main" noGrp="1"/>
          </p:cNvSpPr>
          <p:nvPr/>
        </p:nvSpPr>
        <p:spPr>
          <a:xfrm xmlns:a="http://schemas.openxmlformats.org/drawingml/2006/main">
            <a:off x="4762500" y="8763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F7FBF8"/>
                </a:solidFill>
                <a:latin typeface="Inter"/>
                <a:ea typeface="Inter"/>
                <a:cs typeface="Inter"/>
              </a:defRPr>
            </a:pPr>
            <a:r>
              <a:rPr sz="1125" b="1">
                <a:solidFill>
                  <a:srgbClr val="F7FBF8"/>
                </a:solidFill>
                <a:latin typeface="Inter"/>
                <a:ea typeface="Inter"/>
                <a:cs typeface="Inter"/>
              </a:rPr>
              <a:t>PROJECT OUTCOME</a:t>
            </a:r>
          </a:p>
        </p:txBody>
      </p:sp>
      <p:sp>
        <p:nvSpPr>
          <p:cNvPr id="2" name="">
            <a:extLst xmlns:a="http://schemas.openxmlformats.org/drawingml/2006/main">
              <a:ext uri="{FF2B5EF4-FFF2-40B4-BE49-F238E27FC236}">
                <a16:creationId xmlns:a16="http://schemas.microsoft.com/office/drawing/2014/main" id="{2535357A-5709-4A31-8A1C-36D2FC099660}"/>
              </a:ext>
            </a:extLst>
          </p:cNvPr>
          <p:cNvSpPr>
            <a:spLocks xmlns:a="http://schemas.openxmlformats.org/drawingml/2006/main" noGrp="1"/>
          </p:cNvSpPr>
          <p:nvPr/>
        </p:nvSpPr>
        <p:spPr>
          <a:xfrm xmlns:a="http://schemas.openxmlformats.org/drawingml/2006/main">
            <a:off x="2238375" y="1695450"/>
            <a:ext cx="7715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74"/>
          </a:bodyPr>
          <a:lstStyle xmlns:a="http://schemas.openxmlformats.org/drawingml/2006/main"/>
          <a:p xmlns:a="http://schemas.openxmlformats.org/drawingml/2006/main">
            <a:pPr algn="ctr">
              <a:defRPr sz="3900" b="0">
                <a:solidFill>
                  <a:srgbClr val="B7F23A"/>
                </a:solidFill>
                <a:latin typeface="Inter"/>
                <a:ea typeface="Inter"/>
                <a:cs typeface="Inter"/>
              </a:defRPr>
            </a:pPr>
            <a:r>
              <a:rPr sz="3900" b="0">
                <a:solidFill>
                  <a:srgbClr val="B7F23A"/>
                </a:solidFill>
                <a:latin typeface="Inter"/>
                <a:ea typeface="Inter"/>
                <a:cs typeface="Inter"/>
              </a:rPr>
              <a:t>A testable indicator of</a:t>
            </a:r>
          </a:p>
          <a:p xmlns:a="http://schemas.openxmlformats.org/drawingml/2006/main">
            <a:pPr algn="ctr">
              <a:defRPr sz="3900" b="0">
                <a:solidFill>
                  <a:srgbClr val="B7F23A"/>
                </a:solidFill>
                <a:latin typeface="Inter"/>
                <a:ea typeface="Inter"/>
                <a:cs typeface="Inter"/>
              </a:defRPr>
            </a:pPr>
            <a:r>
              <a:rPr sz="3900" b="0">
                <a:solidFill>
                  <a:srgbClr val="B7F23A"/>
                </a:solidFill>
                <a:latin typeface="Inter"/>
                <a:ea typeface="Inter"/>
                <a:cs typeface="Inter"/>
              </a:rPr>
              <a:t>landscape evolution</a:t>
            </a:r>
          </a:p>
        </p:txBody>
      </p:sp>
      <p:sp>
        <p:nvSpPr>
          <p:cNvPr id="3" name="">
            <a:extLst xmlns:a="http://schemas.openxmlformats.org/drawingml/2006/main">
              <a:ext uri="{FF2B5EF4-FFF2-40B4-BE49-F238E27FC236}">
                <a16:creationId xmlns:a16="http://schemas.microsoft.com/office/drawing/2014/main" id="{9C686AB4-FEA0-4436-B4CF-1FA068942294}"/>
              </a:ext>
            </a:extLst>
          </p:cNvPr>
          <p:cNvSpPr>
            <a:spLocks xmlns:a="http://schemas.openxmlformats.org/drawingml/2006/main" noGrp="1"/>
          </p:cNvSpPr>
          <p:nvPr/>
        </p:nvSpPr>
        <p:spPr>
          <a:xfrm xmlns:a="http://schemas.openxmlformats.org/drawingml/2006/main">
            <a:off x="2524125" y="3333750"/>
            <a:ext cx="714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75" b="1">
                <a:solidFill>
                  <a:srgbClr val="F7FBF8"/>
                </a:solidFill>
                <a:latin typeface="Inter"/>
                <a:ea typeface="Inter"/>
                <a:cs typeface="Inter"/>
              </a:defRPr>
            </a:pPr>
            <a:r>
              <a:rPr sz="1875" b="1">
                <a:solidFill>
                  <a:srgbClr val="F7FBF8"/>
                </a:solidFill>
                <a:latin typeface="Inter"/>
                <a:ea typeface="Inter"/>
                <a:cs typeface="Inter"/>
              </a:rPr>
              <a:t>CO₂ delay becomes evidence only when transport physics, uncertainty and independent measurements agree.</a:t>
            </a:r>
          </a:p>
        </p:txBody>
      </p:sp>
      <p:sp>
        <p:nvSpPr>
          <p:cNvPr id="4" name="">
            <a:extLst xmlns:a="http://schemas.openxmlformats.org/drawingml/2006/main">
              <a:ext uri="{FF2B5EF4-FFF2-40B4-BE49-F238E27FC236}">
                <a16:creationId xmlns:a16="http://schemas.microsoft.com/office/drawing/2014/main" id="{23C6E309-0F9E-4D65-AD7C-C285FC6C566D}"/>
              </a:ext>
            </a:extLst>
          </p:cNvPr>
          <p:cNvSpPr>
            <a:spLocks xmlns:a="http://schemas.openxmlformats.org/drawingml/2006/main" noGrp="1"/>
          </p:cNvSpPr>
          <p:nvPr/>
        </p:nvSpPr>
        <p:spPr>
          <a:xfrm xmlns:a="http://schemas.openxmlformats.org/drawingml/2006/main" flipH="0" flipV="0">
            <a:off x="3857625" y="4495800"/>
            <a:ext cx="4476750" cy="0"/>
          </a:xfrm>
          <a:prstGeom xmlns:a="http://schemas.openxmlformats.org/drawingml/2006/main" prst="line">
            <a:avLst/>
          </a:prstGeom>
          <a:noFill xmlns:a="http://schemas.openxmlformats.org/drawingml/2006/main"/>
          <a:ln xmlns:a="http://schemas.openxmlformats.org/drawingml/2006/main" w="19050">
            <a:solidFill>
              <a:srgbClr val="397061"/>
            </a:solidFill>
            <a:prstDash val="solid"/>
          </a:ln>
        </p:spPr>
      </p:sp>
      <p:sp>
        <p:nvSpPr>
          <p:cNvPr id="5" name="">
            <a:extLst xmlns:a="http://schemas.openxmlformats.org/drawingml/2006/main">
              <a:ext uri="{FF2B5EF4-FFF2-40B4-BE49-F238E27FC236}">
                <a16:creationId xmlns:a16="http://schemas.microsoft.com/office/drawing/2014/main" id="{4DAF3977-6024-4792-B1CE-29A315140DA6}"/>
              </a:ext>
            </a:extLst>
          </p:cNvPr>
          <p:cNvSpPr>
            <a:spLocks xmlns:a="http://schemas.openxmlformats.org/drawingml/2006/main" noGrp="1"/>
          </p:cNvSpPr>
          <p:nvPr/>
        </p:nvSpPr>
        <p:spPr>
          <a:xfrm xmlns:a="http://schemas.openxmlformats.org/drawingml/2006/main">
            <a:off x="4762500" y="48101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6AE3E"/>
                </a:solidFill>
                <a:latin typeface="Inter"/>
                <a:ea typeface="Inter"/>
                <a:cs typeface="Inter"/>
              </a:defRPr>
            </a:pPr>
            <a:r>
              <a:rPr sz="1200" b="1">
                <a:solidFill>
                  <a:srgbClr val="F6AE3E"/>
                </a:solidFill>
                <a:latin typeface="Inter"/>
                <a:ea typeface="Inter"/>
                <a:cs typeface="Inter"/>
              </a:rPr>
              <a:t>Proposed next decision</a:t>
            </a:r>
          </a:p>
        </p:txBody>
      </p:sp>
      <p:sp>
        <p:nvSpPr>
          <p:cNvPr id="6" name="">
            <a:extLst xmlns:a="http://schemas.openxmlformats.org/drawingml/2006/main">
              <a:ext uri="{FF2B5EF4-FFF2-40B4-BE49-F238E27FC236}">
                <a16:creationId xmlns:a16="http://schemas.microsoft.com/office/drawing/2014/main" id="{1D7F6DC6-DBB6-4BAC-9EA2-6D0D807AEE18}"/>
              </a:ext>
            </a:extLst>
          </p:cNvPr>
          <p:cNvSpPr>
            <a:spLocks xmlns:a="http://schemas.openxmlformats.org/drawingml/2006/main" noGrp="1"/>
          </p:cNvSpPr>
          <p:nvPr/>
        </p:nvSpPr>
        <p:spPr>
          <a:xfrm xmlns:a="http://schemas.openxmlformats.org/drawingml/2006/main">
            <a:off x="2476500" y="5191125"/>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0">
                <a:solidFill>
                  <a:srgbClr val="F7FBF8"/>
                </a:solidFill>
                <a:latin typeface="Inter"/>
                <a:ea typeface="Inter"/>
                <a:cs typeface="Inter"/>
              </a:defRPr>
            </a:pPr>
            <a:r>
              <a:rPr sz="1650" b="0">
                <a:solidFill>
                  <a:srgbClr val="F7FBF8"/>
                </a:solidFill>
                <a:latin typeface="Inter"/>
                <a:ea typeface="Inter"/>
                <a:cs typeface="Inter"/>
              </a:rPr>
              <a:t>Review data availability and define a limited feasibility pilot with the LEO science and operations teams.</a:t>
            </a:r>
          </a:p>
        </p:txBody>
      </p:sp>
    </p:spTree>
    <p:extLst>
      <p:ext uri="{BB962C8B-B14F-4D97-AF65-F5344CB8AC3E}">
        <p14:creationId xmlns:p14="http://schemas.microsoft.com/office/powerpoint/2010/main" val="887335193"/>
      </p:ext>
    </p:extLst>
  </p:cSld>
</p:sld>
</file>

<file path=ppt/slides/slide19.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D7B2EE-C461-418B-B6D8-FA70CA899E35}"/>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APPENDIX</a:t>
            </a:r>
          </a:p>
        </p:txBody>
      </p:sp>
      <p:sp>
        <p:nvSpPr>
          <p:cNvPr id="2" name="">
            <a:extLst xmlns:a="http://schemas.openxmlformats.org/drawingml/2006/main">
              <a:ext uri="{FF2B5EF4-FFF2-40B4-BE49-F238E27FC236}">
                <a16:creationId xmlns:a16="http://schemas.microsoft.com/office/drawing/2014/main" id="{1E709752-575B-4384-8D93-5705AAFA53B2}"/>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Glossary of symbols and terms</a:t>
            </a:r>
          </a:p>
        </p:txBody>
      </p:sp>
      <p:sp>
        <p:nvSpPr>
          <p:cNvPr id="3" name="">
            <a:extLst xmlns:a="http://schemas.openxmlformats.org/drawingml/2006/main">
              <a:ext uri="{FF2B5EF4-FFF2-40B4-BE49-F238E27FC236}">
                <a16:creationId xmlns:a16="http://schemas.microsoft.com/office/drawing/2014/main" id="{3036B7ED-4E27-4B8E-AE01-C36F8655AA86}"/>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19</a:t>
            </a:r>
          </a:p>
        </p:txBody>
      </p:sp>
      <p:sp>
        <p:nvSpPr>
          <p:cNvPr id="4" name="">
            <a:extLst xmlns:a="http://schemas.openxmlformats.org/drawingml/2006/main">
              <a:ext uri="{FF2B5EF4-FFF2-40B4-BE49-F238E27FC236}">
                <a16:creationId xmlns:a16="http://schemas.microsoft.com/office/drawing/2014/main" id="{AD08315F-2636-41F1-A25C-80C4E354B3E3}"/>
              </a:ext>
            </a:extLst>
          </p:cNvPr>
          <p:cNvSpPr>
            <a:spLocks xmlns:a="http://schemas.openxmlformats.org/drawingml/2006/main" noGrp="1"/>
          </p:cNvSpPr>
          <p:nvPr/>
        </p:nvSpPr>
        <p:spPr>
          <a:xfrm xmlns:a="http://schemas.openxmlformats.org/drawingml/2006/main">
            <a:off x="552450" y="1352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C(z,t)</a:t>
            </a:r>
          </a:p>
        </p:txBody>
      </p:sp>
      <p:sp>
        <p:nvSpPr>
          <p:cNvPr id="5" name="">
            <a:extLst xmlns:a="http://schemas.openxmlformats.org/drawingml/2006/main">
              <a:ext uri="{FF2B5EF4-FFF2-40B4-BE49-F238E27FC236}">
                <a16:creationId xmlns:a16="http://schemas.microsoft.com/office/drawing/2014/main" id="{1878D257-7865-4F34-B20E-BC7A96A0AE86}"/>
              </a:ext>
            </a:extLst>
          </p:cNvPr>
          <p:cNvSpPr>
            <a:spLocks xmlns:a="http://schemas.openxmlformats.org/drawingml/2006/main" noGrp="1"/>
          </p:cNvSpPr>
          <p:nvPr/>
        </p:nvSpPr>
        <p:spPr>
          <a:xfrm xmlns:a="http://schemas.openxmlformats.org/drawingml/2006/main">
            <a:off x="2124075" y="1333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CO₂ concentration at depth z and time t</a:t>
            </a:r>
          </a:p>
        </p:txBody>
      </p:sp>
      <p:sp>
        <p:nvSpPr>
          <p:cNvPr id="6" name="">
            <a:extLst xmlns:a="http://schemas.openxmlformats.org/drawingml/2006/main">
              <a:ext uri="{FF2B5EF4-FFF2-40B4-BE49-F238E27FC236}">
                <a16:creationId xmlns:a16="http://schemas.microsoft.com/office/drawing/2014/main" id="{433E3C26-017D-4276-B707-62481A8FE21F}"/>
              </a:ext>
            </a:extLst>
          </p:cNvPr>
          <p:cNvSpPr>
            <a:spLocks xmlns:a="http://schemas.openxmlformats.org/drawingml/2006/main" noGrp="1"/>
          </p:cNvSpPr>
          <p:nvPr/>
        </p:nvSpPr>
        <p:spPr>
          <a:xfrm xmlns:a="http://schemas.openxmlformats.org/drawingml/2006/main">
            <a:off x="552450" y="2114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θᵥ</a:t>
            </a:r>
          </a:p>
        </p:txBody>
      </p:sp>
      <p:sp>
        <p:nvSpPr>
          <p:cNvPr id="7" name="">
            <a:extLst xmlns:a="http://schemas.openxmlformats.org/drawingml/2006/main">
              <a:ext uri="{FF2B5EF4-FFF2-40B4-BE49-F238E27FC236}">
                <a16:creationId xmlns:a16="http://schemas.microsoft.com/office/drawing/2014/main" id="{E6753435-1026-48B2-9D4A-52091819D893}"/>
              </a:ext>
            </a:extLst>
          </p:cNvPr>
          <p:cNvSpPr>
            <a:spLocks xmlns:a="http://schemas.openxmlformats.org/drawingml/2006/main" noGrp="1"/>
          </p:cNvSpPr>
          <p:nvPr/>
        </p:nvSpPr>
        <p:spPr>
          <a:xfrm xmlns:a="http://schemas.openxmlformats.org/drawingml/2006/main">
            <a:off x="2124075" y="2095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Volumetric water content</a:t>
            </a:r>
          </a:p>
        </p:txBody>
      </p:sp>
      <p:sp>
        <p:nvSpPr>
          <p:cNvPr id="8" name="">
            <a:extLst xmlns:a="http://schemas.openxmlformats.org/drawingml/2006/main">
              <a:ext uri="{FF2B5EF4-FFF2-40B4-BE49-F238E27FC236}">
                <a16:creationId xmlns:a16="http://schemas.microsoft.com/office/drawing/2014/main" id="{E6C3ABC6-9B55-4C8A-BBBD-415DF8F9A080}"/>
              </a:ext>
            </a:extLst>
          </p:cNvPr>
          <p:cNvSpPr>
            <a:spLocks xmlns:a="http://schemas.openxmlformats.org/drawingml/2006/main" noGrp="1"/>
          </p:cNvSpPr>
          <p:nvPr/>
        </p:nvSpPr>
        <p:spPr>
          <a:xfrm xmlns:a="http://schemas.openxmlformats.org/drawingml/2006/main">
            <a:off x="552450" y="2876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φ / φₐ</a:t>
            </a:r>
          </a:p>
        </p:txBody>
      </p:sp>
      <p:sp>
        <p:nvSpPr>
          <p:cNvPr id="9" name="">
            <a:extLst xmlns:a="http://schemas.openxmlformats.org/drawingml/2006/main">
              <a:ext uri="{FF2B5EF4-FFF2-40B4-BE49-F238E27FC236}">
                <a16:creationId xmlns:a16="http://schemas.microsoft.com/office/drawing/2014/main" id="{3970A47F-4C88-4786-887C-3BFDDB758DFF}"/>
              </a:ext>
            </a:extLst>
          </p:cNvPr>
          <p:cNvSpPr>
            <a:spLocks xmlns:a="http://schemas.openxmlformats.org/drawingml/2006/main" noGrp="1"/>
          </p:cNvSpPr>
          <p:nvPr/>
        </p:nvSpPr>
        <p:spPr>
          <a:xfrm xmlns:a="http://schemas.openxmlformats.org/drawingml/2006/main">
            <a:off x="2124075" y="2857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Total porosity / air-filled porosity</a:t>
            </a:r>
          </a:p>
        </p:txBody>
      </p:sp>
      <p:sp>
        <p:nvSpPr>
          <p:cNvPr id="10" name="">
            <a:extLst xmlns:a="http://schemas.openxmlformats.org/drawingml/2006/main">
              <a:ext uri="{FF2B5EF4-FFF2-40B4-BE49-F238E27FC236}">
                <a16:creationId xmlns:a16="http://schemas.microsoft.com/office/drawing/2014/main" id="{038FCA3B-BDA7-4DBA-B947-288AD1DD3360}"/>
              </a:ext>
            </a:extLst>
          </p:cNvPr>
          <p:cNvSpPr>
            <a:spLocks xmlns:a="http://schemas.openxmlformats.org/drawingml/2006/main" noGrp="1"/>
          </p:cNvSpPr>
          <p:nvPr/>
        </p:nvSpPr>
        <p:spPr>
          <a:xfrm xmlns:a="http://schemas.openxmlformats.org/drawingml/2006/main">
            <a:off x="552450" y="3638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Dₑff</a:t>
            </a:r>
          </a:p>
        </p:txBody>
      </p:sp>
      <p:sp>
        <p:nvSpPr>
          <p:cNvPr id="11" name="">
            <a:extLst xmlns:a="http://schemas.openxmlformats.org/drawingml/2006/main">
              <a:ext uri="{FF2B5EF4-FFF2-40B4-BE49-F238E27FC236}">
                <a16:creationId xmlns:a16="http://schemas.microsoft.com/office/drawing/2014/main" id="{103E574B-B2D8-4B63-B6A3-F35346C27E98}"/>
              </a:ext>
            </a:extLst>
          </p:cNvPr>
          <p:cNvSpPr>
            <a:spLocks xmlns:a="http://schemas.openxmlformats.org/drawingml/2006/main" noGrp="1"/>
          </p:cNvSpPr>
          <p:nvPr/>
        </p:nvSpPr>
        <p:spPr>
          <a:xfrm xmlns:a="http://schemas.openxmlformats.org/drawingml/2006/main">
            <a:off x="2124075" y="3619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Fitted effective gas-transport coefficient</a:t>
            </a:r>
          </a:p>
        </p:txBody>
      </p:sp>
      <p:sp>
        <p:nvSpPr>
          <p:cNvPr id="12" name="">
            <a:extLst xmlns:a="http://schemas.openxmlformats.org/drawingml/2006/main">
              <a:ext uri="{FF2B5EF4-FFF2-40B4-BE49-F238E27FC236}">
                <a16:creationId xmlns:a16="http://schemas.microsoft.com/office/drawing/2014/main" id="{E883EDBE-85F5-4E32-8447-510E20C9DAD1}"/>
              </a:ext>
            </a:extLst>
          </p:cNvPr>
          <p:cNvSpPr>
            <a:spLocks xmlns:a="http://schemas.openxmlformats.org/drawingml/2006/main" noGrp="1"/>
          </p:cNvSpPr>
          <p:nvPr/>
        </p:nvSpPr>
        <p:spPr>
          <a:xfrm xmlns:a="http://schemas.openxmlformats.org/drawingml/2006/main">
            <a:off x="552450" y="4400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kᵣ</a:t>
            </a:r>
          </a:p>
        </p:txBody>
      </p:sp>
      <p:sp>
        <p:nvSpPr>
          <p:cNvPr id="13" name="">
            <a:extLst xmlns:a="http://schemas.openxmlformats.org/drawingml/2006/main">
              <a:ext uri="{FF2B5EF4-FFF2-40B4-BE49-F238E27FC236}">
                <a16:creationId xmlns:a16="http://schemas.microsoft.com/office/drawing/2014/main" id="{C744274F-209E-47DE-80B1-40CF88E4C486}"/>
              </a:ext>
            </a:extLst>
          </p:cNvPr>
          <p:cNvSpPr>
            <a:spLocks xmlns:a="http://schemas.openxmlformats.org/drawingml/2006/main" noGrp="1"/>
          </p:cNvSpPr>
          <p:nvPr/>
        </p:nvSpPr>
        <p:spPr>
          <a:xfrm xmlns:a="http://schemas.openxmlformats.org/drawingml/2006/main">
            <a:off x="2124075" y="4381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Effective first-order net removal rate</a:t>
            </a:r>
          </a:p>
        </p:txBody>
      </p:sp>
      <p:sp>
        <p:nvSpPr>
          <p:cNvPr id="14" name="">
            <a:extLst xmlns:a="http://schemas.openxmlformats.org/drawingml/2006/main">
              <a:ext uri="{FF2B5EF4-FFF2-40B4-BE49-F238E27FC236}">
                <a16:creationId xmlns:a16="http://schemas.microsoft.com/office/drawing/2014/main" id="{D05BD06D-9222-4DFB-B61B-B942788908AA}"/>
              </a:ext>
            </a:extLst>
          </p:cNvPr>
          <p:cNvSpPr>
            <a:spLocks xmlns:a="http://schemas.openxmlformats.org/drawingml/2006/main" noGrp="1"/>
          </p:cNvSpPr>
          <p:nvPr/>
        </p:nvSpPr>
        <p:spPr>
          <a:xfrm xmlns:a="http://schemas.openxmlformats.org/drawingml/2006/main">
            <a:off x="552450" y="5162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B7F23A"/>
                </a:solidFill>
                <a:latin typeface="Inter"/>
                <a:ea typeface="Inter"/>
                <a:cs typeface="Inter"/>
              </a:defRPr>
            </a:pPr>
            <a:r>
              <a:rPr sz="1500" b="1">
                <a:solidFill>
                  <a:srgbClr val="B7F23A"/>
                </a:solidFill>
                <a:latin typeface="Inter"/>
                <a:ea typeface="Inter"/>
                <a:cs typeface="Inter"/>
              </a:rPr>
              <a:t>S(z,t)</a:t>
            </a:r>
          </a:p>
        </p:txBody>
      </p:sp>
      <p:sp>
        <p:nvSpPr>
          <p:cNvPr id="15" name="">
            <a:extLst xmlns:a="http://schemas.openxmlformats.org/drawingml/2006/main">
              <a:ext uri="{FF2B5EF4-FFF2-40B4-BE49-F238E27FC236}">
                <a16:creationId xmlns:a16="http://schemas.microsoft.com/office/drawing/2014/main" id="{4B98004E-E2C4-4218-A28A-9E0A6B26D12F}"/>
              </a:ext>
            </a:extLst>
          </p:cNvPr>
          <p:cNvSpPr>
            <a:spLocks xmlns:a="http://schemas.openxmlformats.org/drawingml/2006/main" noGrp="1"/>
          </p:cNvSpPr>
          <p:nvPr/>
        </p:nvSpPr>
        <p:spPr>
          <a:xfrm xmlns:a="http://schemas.openxmlformats.org/drawingml/2006/main">
            <a:off x="2124075" y="5143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Unresolved local CO₂ source term</a:t>
            </a:r>
          </a:p>
        </p:txBody>
      </p:sp>
      <p:sp>
        <p:nvSpPr>
          <p:cNvPr id="16" name="">
            <a:extLst xmlns:a="http://schemas.openxmlformats.org/drawingml/2006/main">
              <a:ext uri="{FF2B5EF4-FFF2-40B4-BE49-F238E27FC236}">
                <a16:creationId xmlns:a16="http://schemas.microsoft.com/office/drawing/2014/main" id="{85263880-3A0B-4B28-8305-1628B88C7396}"/>
              </a:ext>
            </a:extLst>
          </p:cNvPr>
          <p:cNvSpPr>
            <a:spLocks xmlns:a="http://schemas.openxmlformats.org/drawingml/2006/main" noGrp="1"/>
          </p:cNvSpPr>
          <p:nvPr/>
        </p:nvSpPr>
        <p:spPr>
          <a:xfrm xmlns:a="http://schemas.openxmlformats.org/drawingml/2006/main">
            <a:off x="6362700" y="1352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6AE3E"/>
                </a:solidFill>
                <a:latin typeface="Inter"/>
                <a:ea typeface="Inter"/>
                <a:cs typeface="Inter"/>
              </a:defRPr>
            </a:pPr>
            <a:r>
              <a:rPr sz="1500" b="1">
                <a:solidFill>
                  <a:srgbClr val="F6AE3E"/>
                </a:solidFill>
                <a:latin typeface="Inter"/>
                <a:ea typeface="Inter"/>
                <a:cs typeface="Inter"/>
              </a:rPr>
              <a:t>ω</a:t>
            </a:r>
          </a:p>
        </p:txBody>
      </p:sp>
      <p:sp>
        <p:nvSpPr>
          <p:cNvPr id="17" name="">
            <a:extLst xmlns:a="http://schemas.openxmlformats.org/drawingml/2006/main">
              <a:ext uri="{FF2B5EF4-FFF2-40B4-BE49-F238E27FC236}">
                <a16:creationId xmlns:a16="http://schemas.microsoft.com/office/drawing/2014/main" id="{8ACAA49B-D39B-420B-83BF-1836981D099D}"/>
              </a:ext>
            </a:extLst>
          </p:cNvPr>
          <p:cNvSpPr>
            <a:spLocks xmlns:a="http://schemas.openxmlformats.org/drawingml/2006/main" noGrp="1"/>
          </p:cNvSpPr>
          <p:nvPr/>
        </p:nvSpPr>
        <p:spPr>
          <a:xfrm xmlns:a="http://schemas.openxmlformats.org/drawingml/2006/main">
            <a:off x="7934325" y="1333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Angular frequency, 2π divided by period</a:t>
            </a:r>
          </a:p>
        </p:txBody>
      </p:sp>
      <p:sp>
        <p:nvSpPr>
          <p:cNvPr id="18" name="">
            <a:extLst xmlns:a="http://schemas.openxmlformats.org/drawingml/2006/main">
              <a:ext uri="{FF2B5EF4-FFF2-40B4-BE49-F238E27FC236}">
                <a16:creationId xmlns:a16="http://schemas.microsoft.com/office/drawing/2014/main" id="{83834C3D-FFEA-4CB4-9EB6-DCBD3842EA76}"/>
              </a:ext>
            </a:extLst>
          </p:cNvPr>
          <p:cNvSpPr>
            <a:spLocks xmlns:a="http://schemas.openxmlformats.org/drawingml/2006/main" noGrp="1"/>
          </p:cNvSpPr>
          <p:nvPr/>
        </p:nvSpPr>
        <p:spPr>
          <a:xfrm xmlns:a="http://schemas.openxmlformats.org/drawingml/2006/main">
            <a:off x="6362700" y="2114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6AE3E"/>
                </a:solidFill>
                <a:latin typeface="Inter"/>
                <a:ea typeface="Inter"/>
                <a:cs typeface="Inter"/>
              </a:defRPr>
            </a:pPr>
            <a:r>
              <a:rPr sz="1500" b="1">
                <a:solidFill>
                  <a:srgbClr val="F6AE3E"/>
                </a:solidFill>
                <a:latin typeface="Inter"/>
                <a:ea typeface="Inter"/>
                <a:cs typeface="Inter"/>
              </a:rPr>
              <a:t>Δφ / τ</a:t>
            </a:r>
          </a:p>
        </p:txBody>
      </p:sp>
      <p:sp>
        <p:nvSpPr>
          <p:cNvPr id="19" name="">
            <a:extLst xmlns:a="http://schemas.openxmlformats.org/drawingml/2006/main">
              <a:ext uri="{FF2B5EF4-FFF2-40B4-BE49-F238E27FC236}">
                <a16:creationId xmlns:a16="http://schemas.microsoft.com/office/drawing/2014/main" id="{D1FBD4B2-0A56-48D0-AF2A-8778E82DA9AD}"/>
              </a:ext>
            </a:extLst>
          </p:cNvPr>
          <p:cNvSpPr>
            <a:spLocks xmlns:a="http://schemas.openxmlformats.org/drawingml/2006/main" noGrp="1"/>
          </p:cNvSpPr>
          <p:nvPr/>
        </p:nvSpPr>
        <p:spPr>
          <a:xfrm xmlns:a="http://schemas.openxmlformats.org/drawingml/2006/main">
            <a:off x="7934325" y="2095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Unwrapped phase difference / equivalent delay</a:t>
            </a:r>
          </a:p>
        </p:txBody>
      </p:sp>
      <p:sp>
        <p:nvSpPr>
          <p:cNvPr id="20" name="">
            <a:extLst xmlns:a="http://schemas.openxmlformats.org/drawingml/2006/main">
              <a:ext uri="{FF2B5EF4-FFF2-40B4-BE49-F238E27FC236}">
                <a16:creationId xmlns:a16="http://schemas.microsoft.com/office/drawing/2014/main" id="{475E535B-9BD6-4B35-8540-8332FFB9EB0A}"/>
              </a:ext>
            </a:extLst>
          </p:cNvPr>
          <p:cNvSpPr>
            <a:spLocks xmlns:a="http://schemas.openxmlformats.org/drawingml/2006/main" noGrp="1"/>
          </p:cNvSpPr>
          <p:nvPr/>
        </p:nvSpPr>
        <p:spPr>
          <a:xfrm xmlns:a="http://schemas.openxmlformats.org/drawingml/2006/main">
            <a:off x="6362700" y="2876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6AE3E"/>
                </a:solidFill>
                <a:latin typeface="Inter"/>
                <a:ea typeface="Inter"/>
                <a:cs typeface="Inter"/>
              </a:defRPr>
            </a:pPr>
            <a:r>
              <a:rPr sz="1500" b="1">
                <a:solidFill>
                  <a:srgbClr val="F6AE3E"/>
                </a:solidFill>
                <a:latin typeface="Inter"/>
                <a:ea typeface="Inter"/>
                <a:cs typeface="Inter"/>
              </a:rPr>
              <a:t>γ²</a:t>
            </a:r>
          </a:p>
        </p:txBody>
      </p:sp>
      <p:sp>
        <p:nvSpPr>
          <p:cNvPr id="21" name="">
            <a:extLst xmlns:a="http://schemas.openxmlformats.org/drawingml/2006/main">
              <a:ext uri="{FF2B5EF4-FFF2-40B4-BE49-F238E27FC236}">
                <a16:creationId xmlns:a16="http://schemas.microsoft.com/office/drawing/2014/main" id="{F6E11978-12C9-4BF2-9FE8-00F4859FE5E6}"/>
              </a:ext>
            </a:extLst>
          </p:cNvPr>
          <p:cNvSpPr>
            <a:spLocks xmlns:a="http://schemas.openxmlformats.org/drawingml/2006/main" noGrp="1"/>
          </p:cNvSpPr>
          <p:nvPr/>
        </p:nvSpPr>
        <p:spPr>
          <a:xfrm xmlns:a="http://schemas.openxmlformats.org/drawingml/2006/main">
            <a:off x="7934325" y="2857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Magnitude-squared coherence, from 0 to 1</a:t>
            </a:r>
          </a:p>
        </p:txBody>
      </p:sp>
      <p:sp>
        <p:nvSpPr>
          <p:cNvPr id="22" name="">
            <a:extLst xmlns:a="http://schemas.openxmlformats.org/drawingml/2006/main">
              <a:ext uri="{FF2B5EF4-FFF2-40B4-BE49-F238E27FC236}">
                <a16:creationId xmlns:a16="http://schemas.microsoft.com/office/drawing/2014/main" id="{0F826E60-CBF7-4DF0-8F41-7E68002ACF14}"/>
              </a:ext>
            </a:extLst>
          </p:cNvPr>
          <p:cNvSpPr>
            <a:spLocks xmlns:a="http://schemas.openxmlformats.org/drawingml/2006/main" noGrp="1"/>
          </p:cNvSpPr>
          <p:nvPr/>
        </p:nvSpPr>
        <p:spPr>
          <a:xfrm xmlns:a="http://schemas.openxmlformats.org/drawingml/2006/main">
            <a:off x="6362700" y="3638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6AE3E"/>
                </a:solidFill>
                <a:latin typeface="Inter"/>
                <a:ea typeface="Inter"/>
                <a:cs typeface="Inter"/>
              </a:defRPr>
            </a:pPr>
            <a:r>
              <a:rPr sz="1500" b="1">
                <a:solidFill>
                  <a:srgbClr val="F6AE3E"/>
                </a:solidFill>
                <a:latin typeface="Inter"/>
                <a:ea typeface="Inter"/>
                <a:cs typeface="Inter"/>
              </a:rPr>
              <a:t>q-width</a:t>
            </a:r>
          </a:p>
        </p:txBody>
      </p:sp>
      <p:sp>
        <p:nvSpPr>
          <p:cNvPr id="23" name="">
            <a:extLst xmlns:a="http://schemas.openxmlformats.org/drawingml/2006/main">
              <a:ext uri="{FF2B5EF4-FFF2-40B4-BE49-F238E27FC236}">
                <a16:creationId xmlns:a16="http://schemas.microsoft.com/office/drawing/2014/main" id="{65B5139A-B4ED-4661-9179-CF7D401E970C}"/>
              </a:ext>
            </a:extLst>
          </p:cNvPr>
          <p:cNvSpPr>
            <a:spLocks xmlns:a="http://schemas.openxmlformats.org/drawingml/2006/main" noGrp="1"/>
          </p:cNvSpPr>
          <p:nvPr/>
        </p:nvSpPr>
        <p:spPr>
          <a:xfrm xmlns:a="http://schemas.openxmlformats.org/drawingml/2006/main">
            <a:off x="7934325" y="3619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75"/>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Residual spread outside the best q-dimensional subspace</a:t>
            </a:r>
          </a:p>
        </p:txBody>
      </p:sp>
      <p:sp>
        <p:nvSpPr>
          <p:cNvPr id="24" name="">
            <a:extLst xmlns:a="http://schemas.openxmlformats.org/drawingml/2006/main">
              <a:ext uri="{FF2B5EF4-FFF2-40B4-BE49-F238E27FC236}">
                <a16:creationId xmlns:a16="http://schemas.microsoft.com/office/drawing/2014/main" id="{EAB297B0-8A5D-4AE3-8162-691BA642418C}"/>
              </a:ext>
            </a:extLst>
          </p:cNvPr>
          <p:cNvSpPr>
            <a:spLocks xmlns:a="http://schemas.openxmlformats.org/drawingml/2006/main" noGrp="1"/>
          </p:cNvSpPr>
          <p:nvPr/>
        </p:nvSpPr>
        <p:spPr>
          <a:xfrm xmlns:a="http://schemas.openxmlformats.org/drawingml/2006/main">
            <a:off x="6362700" y="4400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6AE3E"/>
                </a:solidFill>
                <a:latin typeface="Inter"/>
                <a:ea typeface="Inter"/>
                <a:cs typeface="Inter"/>
              </a:defRPr>
            </a:pPr>
            <a:r>
              <a:rPr sz="1500" b="1">
                <a:solidFill>
                  <a:srgbClr val="F6AE3E"/>
                </a:solidFill>
                <a:latin typeface="Inter"/>
                <a:ea typeface="Inter"/>
                <a:cs typeface="Inter"/>
              </a:rPr>
              <a:t>H₀ / H₁</a:t>
            </a:r>
          </a:p>
        </p:txBody>
      </p:sp>
      <p:sp>
        <p:nvSpPr>
          <p:cNvPr id="25" name="">
            <a:extLst xmlns:a="http://schemas.openxmlformats.org/drawingml/2006/main">
              <a:ext uri="{FF2B5EF4-FFF2-40B4-BE49-F238E27FC236}">
                <a16:creationId xmlns:a16="http://schemas.microsoft.com/office/drawing/2014/main" id="{55C7444D-CCAA-4E10-B85B-15A65CF0D8BF}"/>
              </a:ext>
            </a:extLst>
          </p:cNvPr>
          <p:cNvSpPr>
            <a:spLocks xmlns:a="http://schemas.openxmlformats.org/drawingml/2006/main" noGrp="1"/>
          </p:cNvSpPr>
          <p:nvPr/>
        </p:nvSpPr>
        <p:spPr>
          <a:xfrm xmlns:a="http://schemas.openxmlformats.org/drawingml/2006/main">
            <a:off x="7934325" y="4381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Connected components / loop-like features</a:t>
            </a:r>
          </a:p>
        </p:txBody>
      </p:sp>
      <p:sp>
        <p:nvSpPr>
          <p:cNvPr id="26" name="">
            <a:extLst xmlns:a="http://schemas.openxmlformats.org/drawingml/2006/main">
              <a:ext uri="{FF2B5EF4-FFF2-40B4-BE49-F238E27FC236}">
                <a16:creationId xmlns:a16="http://schemas.microsoft.com/office/drawing/2014/main" id="{FF21A8AF-B9F7-4A3D-AEA6-E9FC506D160D}"/>
              </a:ext>
            </a:extLst>
          </p:cNvPr>
          <p:cNvSpPr>
            <a:spLocks xmlns:a="http://schemas.openxmlformats.org/drawingml/2006/main" noGrp="1"/>
          </p:cNvSpPr>
          <p:nvPr/>
        </p:nvSpPr>
        <p:spPr>
          <a:xfrm xmlns:a="http://schemas.openxmlformats.org/drawingml/2006/main">
            <a:off x="6362700" y="51625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6AE3E"/>
                </a:solidFill>
                <a:latin typeface="Inter"/>
                <a:ea typeface="Inter"/>
                <a:cs typeface="Inter"/>
              </a:defRPr>
            </a:pPr>
            <a:r>
              <a:rPr sz="1500" b="1">
                <a:solidFill>
                  <a:srgbClr val="F6AE3E"/>
                </a:solidFill>
                <a:latin typeface="Inter"/>
                <a:ea typeface="Inter"/>
                <a:cs typeface="Inter"/>
              </a:rPr>
              <a:t>ERT</a:t>
            </a:r>
          </a:p>
        </p:txBody>
      </p:sp>
      <p:sp>
        <p:nvSpPr>
          <p:cNvPr id="27" name="">
            <a:extLst xmlns:a="http://schemas.openxmlformats.org/drawingml/2006/main">
              <a:ext uri="{FF2B5EF4-FFF2-40B4-BE49-F238E27FC236}">
                <a16:creationId xmlns:a16="http://schemas.microsoft.com/office/drawing/2014/main" id="{FC72DAF2-2309-4B8F-A559-89E5AB20AB5E}"/>
              </a:ext>
            </a:extLst>
          </p:cNvPr>
          <p:cNvSpPr>
            <a:spLocks xmlns:a="http://schemas.openxmlformats.org/drawingml/2006/main" noGrp="1"/>
          </p:cNvSpPr>
          <p:nvPr/>
        </p:nvSpPr>
        <p:spPr>
          <a:xfrm xmlns:a="http://schemas.openxmlformats.org/drawingml/2006/main">
            <a:off x="7934325" y="51435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F7FBF8"/>
                </a:solidFill>
                <a:latin typeface="Inter"/>
                <a:ea typeface="Inter"/>
                <a:cs typeface="Inter"/>
              </a:defRPr>
            </a:pPr>
            <a:r>
              <a:rPr sz="1350" b="0">
                <a:solidFill>
                  <a:srgbClr val="F7FBF8"/>
                </a:solidFill>
                <a:latin typeface="Inter"/>
                <a:ea typeface="Inter"/>
                <a:cs typeface="Inter"/>
              </a:rPr>
              <a:t>Electrical resistivity tomography</a:t>
            </a:r>
          </a:p>
        </p:txBody>
      </p:sp>
      <p:sp>
        <p:nvSpPr>
          <p:cNvPr id="28" name="">
            <a:extLst xmlns:a="http://schemas.openxmlformats.org/drawingml/2006/main">
              <a:ext uri="{FF2B5EF4-FFF2-40B4-BE49-F238E27FC236}">
                <a16:creationId xmlns:a16="http://schemas.microsoft.com/office/drawing/2014/main" id="{6E8BD2D5-F7B2-4B3F-972E-E1DEAE979489}"/>
              </a:ext>
            </a:extLst>
          </p:cNvPr>
          <p:cNvSpPr>
            <a:spLocks xmlns:a="http://schemas.openxmlformats.org/drawingml/2006/main" noGrp="1"/>
          </p:cNvSpPr>
          <p:nvPr/>
        </p:nvSpPr>
        <p:spPr>
          <a:xfrm xmlns:a="http://schemas.openxmlformats.org/drawingml/2006/main">
            <a:off x="1428750" y="6019800"/>
            <a:ext cx="933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BBD0C8"/>
                </a:solidFill>
                <a:latin typeface="Inter"/>
                <a:ea typeface="Inter"/>
                <a:cs typeface="Inter"/>
              </a:defRPr>
            </a:pPr>
            <a:r>
              <a:rPr sz="1200" b="1">
                <a:solidFill>
                  <a:srgbClr val="BBD0C8"/>
                </a:solidFill>
                <a:latin typeface="Inter"/>
                <a:ea typeface="Inter"/>
                <a:cs typeface="Inter"/>
              </a:rPr>
              <a:t>All fitted quantities require units, uncertainty and a statement of the event or moisture state used for estimation.</a:t>
            </a:r>
          </a:p>
        </p:txBody>
      </p:sp>
    </p:spTree>
    <p:extLst>
      <p:ext uri="{BB962C8B-B14F-4D97-AF65-F5344CB8AC3E}">
        <p14:creationId xmlns:p14="http://schemas.microsoft.com/office/powerpoint/2010/main" val="1316030158"/>
      </p:ext>
    </p:extLst>
  </p:cSld>
</p:sld>
</file>

<file path=ppt/slides/slide20.xml><?xml version="1.0" encoding="utf-8"?>
<p:sld xmlns:p="http://schemas.openxmlformats.org/presentationml/2006/main">
  <p:cSld>
    <p:bg>
      <p:bgPr>
        <a:solidFill xmlns:a="http://schemas.openxmlformats.org/drawingml/2006/main">
          <a:srgbClr val="002F2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3181D2-BF3A-4D29-9C59-2AEB760AF2CE}"/>
              </a:ext>
            </a:extLst>
          </p:cNvPr>
          <p:cNvSpPr>
            <a:spLocks xmlns:a="http://schemas.openxmlformats.org/drawingml/2006/main" noGrp="1"/>
          </p:cNvSpPr>
          <p:nvPr/>
        </p:nvSpPr>
        <p:spPr>
          <a:xfrm xmlns:a="http://schemas.openxmlformats.org/drawingml/2006/main">
            <a:off x="495300" y="2476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B7F23A"/>
                </a:solidFill>
                <a:latin typeface="Inter"/>
                <a:ea typeface="Inter"/>
                <a:cs typeface="Inter"/>
              </a:defRPr>
            </a:pPr>
            <a:r>
              <a:rPr sz="975" b="1">
                <a:solidFill>
                  <a:srgbClr val="B7F23A"/>
                </a:solidFill>
                <a:latin typeface="Inter"/>
                <a:ea typeface="Inter"/>
                <a:cs typeface="Inter"/>
              </a:rPr>
              <a:t>APPENDIX</a:t>
            </a:r>
          </a:p>
        </p:txBody>
      </p:sp>
      <p:sp>
        <p:nvSpPr>
          <p:cNvPr id="2" name="">
            <a:extLst xmlns:a="http://schemas.openxmlformats.org/drawingml/2006/main">
              <a:ext uri="{FF2B5EF4-FFF2-40B4-BE49-F238E27FC236}">
                <a16:creationId xmlns:a16="http://schemas.microsoft.com/office/drawing/2014/main" id="{D5C66BC7-D82E-49B7-9C9B-3CF28153BA85}"/>
              </a:ext>
            </a:extLst>
          </p:cNvPr>
          <p:cNvSpPr>
            <a:spLocks xmlns:a="http://schemas.openxmlformats.org/drawingml/2006/main" noGrp="1"/>
          </p:cNvSpPr>
          <p:nvPr/>
        </p:nvSpPr>
        <p:spPr>
          <a:xfrm xmlns:a="http://schemas.openxmlformats.org/drawingml/2006/main">
            <a:off x="495300" y="476250"/>
            <a:ext cx="11201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925" b="0">
                <a:solidFill>
                  <a:srgbClr val="F7FBF8"/>
                </a:solidFill>
                <a:latin typeface="Inter"/>
                <a:ea typeface="Inter"/>
                <a:cs typeface="Inter"/>
              </a:defRPr>
            </a:pPr>
            <a:r>
              <a:rPr sz="2925" b="0">
                <a:solidFill>
                  <a:srgbClr val="F7FBF8"/>
                </a:solidFill>
                <a:latin typeface="Inter"/>
                <a:ea typeface="Inter"/>
                <a:cs typeface="Inter"/>
              </a:rPr>
              <a:t>Selected sources and image credits</a:t>
            </a:r>
          </a:p>
        </p:txBody>
      </p:sp>
      <p:sp>
        <p:nvSpPr>
          <p:cNvPr id="3" name="">
            <a:extLst xmlns:a="http://schemas.openxmlformats.org/drawingml/2006/main">
              <a:ext uri="{FF2B5EF4-FFF2-40B4-BE49-F238E27FC236}">
                <a16:creationId xmlns:a16="http://schemas.microsoft.com/office/drawing/2014/main" id="{FB084715-AFE1-42F5-8960-AB637F9624F7}"/>
              </a:ext>
            </a:extLst>
          </p:cNvPr>
          <p:cNvSpPr>
            <a:spLocks xmlns:a="http://schemas.openxmlformats.org/drawingml/2006/main" noGrp="1"/>
          </p:cNvSpPr>
          <p:nvPr/>
        </p:nvSpPr>
        <p:spPr>
          <a:xfrm xmlns:a="http://schemas.openxmlformats.org/drawingml/2006/main">
            <a:off x="11525250" y="64198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r">
              <a:defRPr sz="975" b="0">
                <a:solidFill>
                  <a:srgbClr val="BBD0C8"/>
                </a:solidFill>
                <a:latin typeface="Inter"/>
                <a:ea typeface="Inter"/>
                <a:cs typeface="Inter"/>
              </a:defRPr>
            </a:pPr>
            <a:r>
              <a:rPr sz="975" b="0">
                <a:solidFill>
                  <a:srgbClr val="BBD0C8"/>
                </a:solidFill>
                <a:latin typeface="Inter"/>
                <a:ea typeface="Inter"/>
                <a:cs typeface="Inter"/>
              </a:rPr>
              <a:t>20</a:t>
            </a:r>
          </a:p>
        </p:txBody>
      </p:sp>
      <p:sp>
        <p:nvSpPr>
          <p:cNvPr id="4" name="">
            <a:extLst xmlns:a="http://schemas.openxmlformats.org/drawingml/2006/main">
              <a:ext uri="{FF2B5EF4-FFF2-40B4-BE49-F238E27FC236}">
                <a16:creationId xmlns:a16="http://schemas.microsoft.com/office/drawing/2014/main" id="{E8A89D4E-D4EF-4DAB-83E7-ED50BA7F4607}"/>
              </a:ext>
            </a:extLst>
          </p:cNvPr>
          <p:cNvSpPr>
            <a:spLocks xmlns:a="http://schemas.openxmlformats.org/drawingml/2006/main" noGrp="1"/>
          </p:cNvSpPr>
          <p:nvPr/>
        </p:nvSpPr>
        <p:spPr>
          <a:xfrm xmlns:a="http://schemas.openxmlformats.org/drawingml/2006/main">
            <a:off x="619125" y="1352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LEO AND BASALT</a:t>
            </a:r>
          </a:p>
        </p:txBody>
      </p:sp>
      <p:sp>
        <p:nvSpPr>
          <p:cNvPr id="5" name="">
            <a:extLst xmlns:a="http://schemas.openxmlformats.org/drawingml/2006/main">
              <a:ext uri="{FF2B5EF4-FFF2-40B4-BE49-F238E27FC236}">
                <a16:creationId xmlns:a16="http://schemas.microsoft.com/office/drawing/2014/main" id="{4B1F67A0-0D68-4764-AF49-D5461ECBBD1A}"/>
              </a:ext>
            </a:extLst>
          </p:cNvPr>
          <p:cNvSpPr>
            <a:spLocks xmlns:a="http://schemas.openxmlformats.org/drawingml/2006/main" noGrp="1"/>
          </p:cNvSpPr>
          <p:nvPr/>
        </p:nvSpPr>
        <p:spPr>
          <a:xfrm xmlns:a="http://schemas.openxmlformats.org/drawingml/2006/main">
            <a:off x="619125" y="1762125"/>
            <a:ext cx="51435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Biosphere 2. Landscape Evolution Observatory.</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biosphere2.org/research/research-initiatives/landscape-evolution-observatory-leo</a:t>
            </a:r>
          </a:p>
          <a:p xmlns:a="http://schemas.openxmlformats.org/drawingml/2006/main">
            <a:r>
              <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Pangle et al. (2015). Geomorphology 244, 190–203.</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doi.org/10.1016/j.geomorph.2015.01.020</a:t>
            </a:r>
          </a:p>
          <a:p xmlns:a="http://schemas.openxmlformats.org/drawingml/2006/main">
            <a:r>
              <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Pohlmann et al. (2016). Geochem. Geophys. Geosyst. 17, 543–563.</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doi.org/10.1002/2016GC006270</a:t>
            </a:r>
          </a:p>
          <a:p xmlns:a="http://schemas.openxmlformats.org/drawingml/2006/main">
            <a:r>
              <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Scott et al. (2020). Scientific Data 7, 392.</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doi.org/10.1038/s41597-020-00645-5</a:t>
            </a:r>
          </a:p>
          <a:p xmlns:a="http://schemas.openxmlformats.org/drawingml/2006/main">
            <a:r>
              <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Sengupta et al. (2018). IntechOpen chapter 58345.</a:t>
            </a:r>
          </a:p>
        </p:txBody>
      </p:sp>
      <p:sp>
        <p:nvSpPr>
          <p:cNvPr id="6" name="">
            <a:extLst xmlns:a="http://schemas.openxmlformats.org/drawingml/2006/main">
              <a:ext uri="{FF2B5EF4-FFF2-40B4-BE49-F238E27FC236}">
                <a16:creationId xmlns:a16="http://schemas.microsoft.com/office/drawing/2014/main" id="{4AC7F2E7-D169-4DF3-AAB3-6A56BE23882D}"/>
              </a:ext>
            </a:extLst>
          </p:cNvPr>
          <p:cNvSpPr>
            <a:spLocks xmlns:a="http://schemas.openxmlformats.org/drawingml/2006/main" noGrp="1"/>
          </p:cNvSpPr>
          <p:nvPr/>
        </p:nvSpPr>
        <p:spPr>
          <a:xfrm xmlns:a="http://schemas.openxmlformats.org/drawingml/2006/main">
            <a:off x="6429375" y="1352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B7F23A"/>
                </a:solidFill>
                <a:latin typeface="Inter"/>
                <a:ea typeface="Inter"/>
                <a:cs typeface="Inter"/>
              </a:defRPr>
            </a:pPr>
            <a:r>
              <a:rPr sz="1275" b="1">
                <a:solidFill>
                  <a:srgbClr val="B7F23A"/>
                </a:solidFill>
                <a:latin typeface="Inter"/>
                <a:ea typeface="Inter"/>
                <a:cs typeface="Inter"/>
              </a:rPr>
              <a:t>METHODS AND CREDITS</a:t>
            </a:r>
          </a:p>
        </p:txBody>
      </p:sp>
      <p:sp>
        <p:nvSpPr>
          <p:cNvPr id="7" name="">
            <a:extLst xmlns:a="http://schemas.openxmlformats.org/drawingml/2006/main">
              <a:ext uri="{FF2B5EF4-FFF2-40B4-BE49-F238E27FC236}">
                <a16:creationId xmlns:a16="http://schemas.microsoft.com/office/drawing/2014/main" id="{ED91B4E4-2C1F-4493-91BF-919A7EF0F0A3}"/>
              </a:ext>
            </a:extLst>
          </p:cNvPr>
          <p:cNvSpPr>
            <a:spLocks xmlns:a="http://schemas.openxmlformats.org/drawingml/2006/main" noGrp="1"/>
          </p:cNvSpPr>
          <p:nvPr/>
        </p:nvSpPr>
        <p:spPr>
          <a:xfrm xmlns:a="http://schemas.openxmlformats.org/drawingml/2006/main">
            <a:off x="6429375" y="1762125"/>
            <a:ext cx="51435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Deymier &amp; Runge (2017). Phase and Topology. Springer.</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doi.org/10.1007/978-3-319-62380-1_2</a:t>
            </a:r>
          </a:p>
          <a:p xmlns:a="http://schemas.openxmlformats.org/drawingml/2006/main">
            <a:r>
              <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Buchstaber (1997). Multidimensional time-series analysis.</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homepage.mi-ras.ru/~buchstab/download/oppm.1997.v4.i4.p629.pdf</a:t>
            </a:r>
          </a:p>
          <a:p xmlns:a="http://schemas.openxmlformats.org/drawingml/2006/main">
            <a:r>
              <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Buchstaber (2025). Sbornik: Mathematics 216, 314–332.</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doi.org/10.4213/sm10240e</a:t>
            </a:r>
          </a:p>
          <a:p xmlns:a="http://schemas.openxmlformats.org/drawingml/2006/main">
            <a:r>
              <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LEO photograph: Daniel Oberhaus, CC BY-SA 4.0.</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Wikimedia Commons, Landscape Evolution Observatory at Biosphere 2.</a:t>
            </a:r>
          </a:p>
          <a:p xmlns:a="http://schemas.openxmlformats.org/drawingml/2006/main">
            <a:r>
              <a:t/>
            </a:r>
          </a:p>
          <a:p xmlns:a="http://schemas.openxmlformats.org/drawingml/2006/main">
            <a:pPr algn="l">
              <a:defRPr sz="1275" b="0">
                <a:solidFill>
                  <a:srgbClr val="F7FBF8"/>
                </a:solidFill>
                <a:latin typeface="Inter"/>
                <a:ea typeface="Inter"/>
                <a:cs typeface="Inter"/>
              </a:defRPr>
            </a:pPr>
            <a:r>
              <a:rPr sz="1275" b="0">
                <a:solidFill>
                  <a:srgbClr val="F7FBF8"/>
                </a:solidFill>
                <a:latin typeface="Inter"/>
                <a:ea typeface="Inter"/>
                <a:cs typeface="Inter"/>
              </a:rPr>
              <a:t>Sensor-layout figure: Sengupta et al. (2018), IntechOpen.</a:t>
            </a:r>
          </a:p>
        </p:txBody>
      </p:sp>
      <p:sp>
        <p:nvSpPr>
          <p:cNvPr id="8" name="">
            <a:extLst xmlns:a="http://schemas.openxmlformats.org/drawingml/2006/main">
              <a:ext uri="{FF2B5EF4-FFF2-40B4-BE49-F238E27FC236}">
                <a16:creationId xmlns:a16="http://schemas.microsoft.com/office/drawing/2014/main" id="{FFCF38D6-DF6C-4A44-B736-F82E94ACB7EF}"/>
              </a:ext>
            </a:extLst>
          </p:cNvPr>
          <p:cNvSpPr>
            <a:spLocks xmlns:a="http://schemas.openxmlformats.org/drawingml/2006/main" noGrp="1"/>
          </p:cNvSpPr>
          <p:nvPr/>
        </p:nvSpPr>
        <p:spPr>
          <a:xfrm xmlns:a="http://schemas.openxmlformats.org/drawingml/2006/main">
            <a:off x="1524000" y="5981700"/>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0">
                <a:solidFill>
                  <a:srgbClr val="BBD0C8"/>
                </a:solidFill>
                <a:latin typeface="Inter"/>
                <a:ea typeface="Inter"/>
                <a:cs typeface="Inter"/>
              </a:defRPr>
            </a:pPr>
            <a:r>
              <a:rPr sz="1125" b="0">
                <a:solidFill>
                  <a:srgbClr val="BBD0C8"/>
                </a:solidFill>
                <a:latin typeface="Inter"/>
                <a:ea typeface="Inter"/>
                <a:cs typeface="Inter"/>
              </a:rPr>
              <a:t>Scientific claims and numerical examples were checked against the supplied phase_topology_CO2_LEO manuscript and its editorial verification report.</a:t>
            </a:r>
          </a:p>
        </p:txBody>
      </p:sp>
    </p:spTree>
    <p:extLst>
      <p:ext uri="{BB962C8B-B14F-4D97-AF65-F5344CB8AC3E}">
        <p14:creationId xmlns:p14="http://schemas.microsoft.com/office/powerpoint/2010/main" val="2498145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2026-09-14T16:28:42.1420000Z</dcterms:created>
  <dcterms:modified xsi:type="dcterms:W3CDTF">2026-09-14T16:28:42.1420000Z</dcterms:modified>
</coreProperties>
</file>